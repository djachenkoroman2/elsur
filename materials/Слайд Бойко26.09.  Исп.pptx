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3"/>
  </p:notesMasterIdLst>
  <p:sldIdLst>
    <p:sldId id="736" r:id="rId2"/>
    <p:sldId id="780" r:id="rId3"/>
    <p:sldId id="776" r:id="rId4"/>
    <p:sldId id="770" r:id="rId5"/>
    <p:sldId id="769" r:id="rId6"/>
    <p:sldId id="774" r:id="rId7"/>
    <p:sldId id="757" r:id="rId8"/>
    <p:sldId id="773" r:id="rId9"/>
    <p:sldId id="763" r:id="rId10"/>
    <p:sldId id="779" r:id="rId11"/>
    <p:sldId id="777" r:id="rId12"/>
  </p:sldIdLst>
  <p:sldSz cx="12192000" cy="6858000"/>
  <p:notesSz cx="6735763" cy="9866313"/>
  <p:embeddedFontLs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Calibri Light" panose="020F0302020204030204" pitchFamily="34" charset="0"/>
      <p:regular r:id="rId18"/>
      <p:italic r:id="rId19"/>
    </p:embeddedFont>
    <p:embeddedFont>
      <p:font typeface="Cambria Math" panose="02040503050406030204" pitchFamily="18" charset="0"/>
      <p:regular r:id="rId20"/>
    </p:embeddedFont>
    <p:embeddedFont>
      <p:font typeface="Seattle Sans [RUS by me]" panose="020B0604020202020204" charset="0"/>
      <p:regular r:id="rId21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edved" initials="M" lastIdx="3" clrIdx="0">
    <p:extLst>
      <p:ext uri="{19B8F6BF-5375-455C-9EA6-DF929625EA0E}">
        <p15:presenceInfo xmlns:p15="http://schemas.microsoft.com/office/powerpoint/2012/main" userId="Medved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00FF00"/>
    <a:srgbClr val="F7EDEF"/>
    <a:srgbClr val="E5FDFF"/>
    <a:srgbClr val="1C66C6"/>
    <a:srgbClr val="0B3B94"/>
    <a:srgbClr val="70AD47"/>
    <a:srgbClr val="005CB9"/>
    <a:srgbClr val="F9EBEC"/>
    <a:srgbClr val="FF5B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5758FB7-9AC5-4552-8A53-C91805E547FA}" styleName="Стиль из темы 1 - акцент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8799B23B-EC83-4686-B30A-512413B5E67A}" styleName="Светлый стиль 3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BC89EF96-8CEA-46FF-86C4-4CE0E7609802}" styleName="Светлый стиль 3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1EBBBCC-DAD2-459C-BE2E-F6DE35CF9A28}" styleName="Темный стиль 2 — акцент 3/акцент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4C1A8A3-306A-4EB7-A6B1-4F7E0EB9C5D6}" styleName="Средний стиль 3 — акцент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8EC20E35-A176-4012-BC5E-935CFFF8708E}" styleName="Средний стиль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Средний стиль 3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Средний стиль 3 — акцент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18" autoAdjust="0"/>
    <p:restoredTop sz="91029" autoAdjust="0"/>
  </p:normalViewPr>
  <p:slideViewPr>
    <p:cSldViewPr snapToGrid="0">
      <p:cViewPr>
        <p:scale>
          <a:sx n="150" d="100"/>
          <a:sy n="150" d="100"/>
        </p:scale>
        <p:origin x="312" y="372"/>
      </p:cViewPr>
      <p:guideLst>
        <p:guide orient="horz" pos="2160"/>
        <p:guide pos="3840"/>
      </p:guideLst>
    </p:cSldViewPr>
  </p:slideViewPr>
  <p:notesTextViewPr>
    <p:cViewPr>
      <p:scale>
        <a:sx n="20" d="100"/>
        <a:sy n="2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18830" cy="493316"/>
          </a:xfrm>
          <a:prstGeom prst="rect">
            <a:avLst/>
          </a:prstGeom>
        </p:spPr>
        <p:txBody>
          <a:bodyPr vert="horz" lIns="90761" tIns="45381" rIns="90761" bIns="45381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15374" y="0"/>
            <a:ext cx="2918830" cy="493316"/>
          </a:xfrm>
          <a:prstGeom prst="rect">
            <a:avLst/>
          </a:prstGeom>
        </p:spPr>
        <p:txBody>
          <a:bodyPr vert="horz" lIns="90761" tIns="45381" rIns="90761" bIns="45381" rtlCol="0"/>
          <a:lstStyle>
            <a:lvl1pPr algn="r">
              <a:defRPr sz="1200"/>
            </a:lvl1pPr>
          </a:lstStyle>
          <a:p>
            <a:fld id="{F6A907BC-945F-4CF1-ACCF-58256878845F}" type="datetimeFigureOut">
              <a:rPr lang="ru-RU" smtClean="0"/>
              <a:t>28.09.2026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79375" y="739775"/>
            <a:ext cx="6577013" cy="37004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761" tIns="45381" rIns="90761" bIns="45381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73577" y="4686499"/>
            <a:ext cx="5388610" cy="4439841"/>
          </a:xfrm>
          <a:prstGeom prst="rect">
            <a:avLst/>
          </a:prstGeom>
        </p:spPr>
        <p:txBody>
          <a:bodyPr vert="horz" lIns="90761" tIns="45381" rIns="90761" bIns="45381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1" y="9371284"/>
            <a:ext cx="2918830" cy="493316"/>
          </a:xfrm>
          <a:prstGeom prst="rect">
            <a:avLst/>
          </a:prstGeom>
        </p:spPr>
        <p:txBody>
          <a:bodyPr vert="horz" lIns="90761" tIns="45381" rIns="90761" bIns="45381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15374" y="9371284"/>
            <a:ext cx="2918830" cy="493316"/>
          </a:xfrm>
          <a:prstGeom prst="rect">
            <a:avLst/>
          </a:prstGeom>
        </p:spPr>
        <p:txBody>
          <a:bodyPr vert="horz" lIns="90761" tIns="45381" rIns="90761" bIns="45381" rtlCol="0" anchor="b"/>
          <a:lstStyle>
            <a:lvl1pPr algn="r">
              <a:defRPr sz="1200"/>
            </a:lvl1pPr>
          </a:lstStyle>
          <a:p>
            <a:fld id="{BD5342CA-2C4C-4E9C-8967-0AC3C9CDB4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04737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099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altLang="ru-RU" dirty="0"/>
          </a:p>
        </p:txBody>
      </p:sp>
      <p:sp>
        <p:nvSpPr>
          <p:cNvPr id="4100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37336" indent="-283591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34362" indent="-226873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588108" indent="-226873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41852" indent="-226873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495597" indent="-22687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49341" indent="-22687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03086" indent="-22687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56832" indent="-22687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B2DD122B-B760-4084-AE1A-91758F0E1A76}" type="slidenum">
              <a:rPr lang="ru-RU" altLang="ru-RU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ru-RU" altLang="ru-RU" dirty="0"/>
          </a:p>
        </p:txBody>
      </p:sp>
    </p:spTree>
    <p:extLst>
      <p:ext uri="{BB962C8B-B14F-4D97-AF65-F5344CB8AC3E}">
        <p14:creationId xmlns:p14="http://schemas.microsoft.com/office/powerpoint/2010/main" val="18142647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D949E1-AA0B-FE75-FBEF-98F55250F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521DD0E5-7F3B-70B6-80E5-C7D3F3E83E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233A9A74-A5B3-DB27-49C4-C9C775A9E8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83267F3-AB5B-860D-C412-D6E8FEBD8B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07619">
              <a:defRPr/>
            </a:pPr>
            <a:fld id="{BD5342CA-2C4C-4E9C-8967-0AC3C9CDB435}" type="slidenum">
              <a:rPr lang="ru-RU">
                <a:solidFill>
                  <a:prstClr val="black"/>
                </a:solidFill>
                <a:latin typeface="Calibri"/>
              </a:rPr>
              <a:pPr defTabSz="907619">
                <a:defRPr/>
              </a:pPr>
              <a:t>2</a:t>
            </a:fld>
            <a:endParaRPr lang="ru-RU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753069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5342CA-2C4C-4E9C-8967-0AC3C9CDB435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48789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5342CA-2C4C-4E9C-8967-0AC3C9CDB435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75364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5342CA-2C4C-4E9C-8967-0AC3C9CDB435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6233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D949E1-AA0B-FE75-FBEF-98F55250F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521DD0E5-7F3B-70B6-80E5-C7D3F3E83E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233A9A74-A5B3-DB27-49C4-C9C775A9E8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83267F3-AB5B-860D-C412-D6E8FEBD8B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07619">
              <a:defRPr/>
            </a:pPr>
            <a:fld id="{BD5342CA-2C4C-4E9C-8967-0AC3C9CDB435}" type="slidenum">
              <a:rPr lang="ru-RU">
                <a:solidFill>
                  <a:prstClr val="black"/>
                </a:solidFill>
                <a:latin typeface="Calibri"/>
              </a:rPr>
              <a:pPr defTabSz="907619">
                <a:defRPr/>
              </a:pPr>
              <a:t>6</a:t>
            </a:fld>
            <a:endParaRPr lang="ru-RU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413178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5342CA-2C4C-4E9C-8967-0AC3C9CDB435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82735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D949E1-AA0B-FE75-FBEF-98F55250F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521DD0E5-7F3B-70B6-80E5-C7D3F3E83E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233A9A74-A5B3-DB27-49C4-C9C775A9E8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83267F3-AB5B-860D-C412-D6E8FEBD8B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07619">
              <a:defRPr/>
            </a:pPr>
            <a:fld id="{BD5342CA-2C4C-4E9C-8967-0AC3C9CDB435}" type="slidenum">
              <a:rPr lang="ru-RU">
                <a:solidFill>
                  <a:prstClr val="black"/>
                </a:solidFill>
                <a:latin typeface="Calibri"/>
              </a:rPr>
              <a:pPr defTabSz="907619">
                <a:defRPr/>
              </a:pPr>
              <a:t>8</a:t>
            </a:fld>
            <a:endParaRPr lang="ru-RU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472936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D949E1-AA0B-FE75-FBEF-98F55250F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521DD0E5-7F3B-70B6-80E5-C7D3F3E83E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233A9A74-A5B3-DB27-49C4-C9C775A9E8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83267F3-AB5B-860D-C412-D6E8FEBD8B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07619">
              <a:defRPr/>
            </a:pPr>
            <a:fld id="{BD5342CA-2C4C-4E9C-8967-0AC3C9CDB435}" type="slidenum">
              <a:rPr lang="ru-RU">
                <a:solidFill>
                  <a:prstClr val="black"/>
                </a:solidFill>
                <a:latin typeface="Calibri"/>
              </a:rPr>
              <a:pPr defTabSz="907619">
                <a:defRPr/>
              </a:pPr>
              <a:t>9</a:t>
            </a:fld>
            <a:endParaRPr lang="ru-RU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515775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D949E1-AA0B-FE75-FBEF-98F55250F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521DD0E5-7F3B-70B6-80E5-C7D3F3E83E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233A9A74-A5B3-DB27-49C4-C9C775A9E8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83267F3-AB5B-860D-C412-D6E8FEBD8B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07619">
              <a:defRPr/>
            </a:pPr>
            <a:fld id="{BD5342CA-2C4C-4E9C-8967-0AC3C9CDB435}" type="slidenum">
              <a:rPr lang="ru-RU">
                <a:solidFill>
                  <a:prstClr val="black"/>
                </a:solidFill>
                <a:latin typeface="Calibri"/>
              </a:rPr>
              <a:pPr defTabSz="907619">
                <a:defRPr/>
              </a:pPr>
              <a:t>10</a:t>
            </a:fld>
            <a:endParaRPr lang="ru-RU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397455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099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altLang="ru-RU" dirty="0"/>
          </a:p>
        </p:txBody>
      </p:sp>
      <p:sp>
        <p:nvSpPr>
          <p:cNvPr id="4100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37336" indent="-283591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34362" indent="-226873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588108" indent="-226873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41852" indent="-226873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495597" indent="-22687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49341" indent="-22687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03086" indent="-22687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56832" indent="-22687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B2DD122B-B760-4084-AE1A-91758F0E1A76}" type="slidenum">
              <a:rPr lang="ru-RU" altLang="ru-RU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11</a:t>
            </a:fld>
            <a:endParaRPr lang="ru-RU" altLang="ru-RU" dirty="0"/>
          </a:p>
        </p:txBody>
      </p:sp>
    </p:spTree>
    <p:extLst>
      <p:ext uri="{BB962C8B-B14F-4D97-AF65-F5344CB8AC3E}">
        <p14:creationId xmlns:p14="http://schemas.microsoft.com/office/powerpoint/2010/main" val="1855229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C9589-64E6-42F4-975D-0B6EADE9913F}" type="datetime1">
              <a:rPr lang="ru-RU" smtClean="0"/>
              <a:t>28.09.2026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78E8B-DA76-40D6-833E-4E26880E83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53241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164C1-1091-437A-872D-B5C766C3EF5C}" type="datetime1">
              <a:rPr lang="ru-RU" smtClean="0"/>
              <a:t>28.09.2026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78E8B-DA76-40D6-833E-4E26880E83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82876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C5873-DA12-4865-8288-8BE35AD2F698}" type="datetime1">
              <a:rPr lang="ru-RU" smtClean="0"/>
              <a:t>28.09.2026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78E8B-DA76-40D6-833E-4E26880E83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78026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76EC4-514C-48C7-BDCE-031B59D5BC61}" type="datetime1">
              <a:rPr lang="ru-RU" smtClean="0"/>
              <a:t>28.09.2026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78E8B-DA76-40D6-833E-4E26880E83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17242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84F7E-5BAB-4435-B0CD-DFF787D9A381}" type="datetime1">
              <a:rPr lang="ru-RU" smtClean="0"/>
              <a:t>28.09.2026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78E8B-DA76-40D6-833E-4E26880E83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96773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7518D-2DDF-4430-BBEE-3B6DCFF5EC35}" type="datetime1">
              <a:rPr lang="ru-RU" smtClean="0"/>
              <a:t>28.09.2026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78E8B-DA76-40D6-833E-4E26880E83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29708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BA4C-8296-4C04-83E8-ECF3F96ADCC6}" type="datetime1">
              <a:rPr lang="ru-RU" smtClean="0"/>
              <a:t>28.09.2026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78E8B-DA76-40D6-833E-4E26880E83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51377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BB3B0-74E9-4395-9D08-5667A7C31463}" type="datetime1">
              <a:rPr lang="ru-RU" smtClean="0"/>
              <a:t>28.09.2026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78E8B-DA76-40D6-833E-4E26880E83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60164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2EC88-B77A-4A44-B22E-56C9BB5ACC87}" type="datetime1">
              <a:rPr lang="ru-RU" smtClean="0"/>
              <a:t>28.09.2026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78E8B-DA76-40D6-833E-4E26880E83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11625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15330-DB53-431C-A442-A0710A8C5DE9}" type="datetime1">
              <a:rPr lang="ru-RU" smtClean="0"/>
              <a:t>28.09.2026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78E8B-DA76-40D6-833E-4E26880E83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68065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7E261-A478-4D6D-837B-E6168C2ED9B8}" type="datetime1">
              <a:rPr lang="ru-RU" smtClean="0"/>
              <a:t>28.09.2026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78E8B-DA76-40D6-833E-4E26880E83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24744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902CAD-F2A8-404B-8005-A08EBA699129}" type="datetime1">
              <a:rPr lang="ru-RU" smtClean="0"/>
              <a:t>28.09.2026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278E8B-DA76-40D6-833E-4E26880E83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69330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tiff"/><Relationship Id="rId13" Type="http://schemas.openxmlformats.org/officeDocument/2006/relationships/image" Target="../media/image15.jpg"/><Relationship Id="rId18" Type="http://schemas.openxmlformats.org/officeDocument/2006/relationships/image" Target="../media/image20.jpg"/><Relationship Id="rId3" Type="http://schemas.openxmlformats.org/officeDocument/2006/relationships/image" Target="../media/image7.jpeg"/><Relationship Id="rId7" Type="http://schemas.openxmlformats.org/officeDocument/2006/relationships/image" Target="../media/image9.png"/><Relationship Id="rId12" Type="http://schemas.openxmlformats.org/officeDocument/2006/relationships/image" Target="../media/image14.jpg"/><Relationship Id="rId17" Type="http://schemas.openxmlformats.org/officeDocument/2006/relationships/image" Target="../media/image19.jp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jpeg"/><Relationship Id="rId5" Type="http://schemas.microsoft.com/office/2007/relationships/hdphoto" Target="../media/hdphoto1.wdp"/><Relationship Id="rId15" Type="http://schemas.openxmlformats.org/officeDocument/2006/relationships/image" Target="../media/image17.jpg"/><Relationship Id="rId10" Type="http://schemas.openxmlformats.org/officeDocument/2006/relationships/image" Target="../media/image12.jpeg"/><Relationship Id="rId19" Type="http://schemas.openxmlformats.org/officeDocument/2006/relationships/image" Target="../media/image21.jpg"/><Relationship Id="rId4" Type="http://schemas.openxmlformats.org/officeDocument/2006/relationships/image" Target="../media/image2.png"/><Relationship Id="rId9" Type="http://schemas.openxmlformats.org/officeDocument/2006/relationships/image" Target="../media/image11.jpg"/><Relationship Id="rId14" Type="http://schemas.openxmlformats.org/officeDocument/2006/relationships/image" Target="../media/image16.jp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tiff"/><Relationship Id="rId13" Type="http://schemas.openxmlformats.org/officeDocument/2006/relationships/image" Target="../media/image26.png"/><Relationship Id="rId3" Type="http://schemas.openxmlformats.org/officeDocument/2006/relationships/image" Target="../media/image7.jpeg"/><Relationship Id="rId7" Type="http://schemas.openxmlformats.org/officeDocument/2006/relationships/image" Target="../media/image9.png"/><Relationship Id="rId12" Type="http://schemas.openxmlformats.org/officeDocument/2006/relationships/image" Target="../media/image25.png"/><Relationship Id="rId17" Type="http://schemas.openxmlformats.org/officeDocument/2006/relationships/image" Target="../media/image30.jp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24.png"/><Relationship Id="rId5" Type="http://schemas.microsoft.com/office/2007/relationships/hdphoto" Target="../media/hdphoto1.wdp"/><Relationship Id="rId15" Type="http://schemas.openxmlformats.org/officeDocument/2006/relationships/image" Target="../media/image28.png"/><Relationship Id="rId10" Type="http://schemas.openxmlformats.org/officeDocument/2006/relationships/image" Target="../media/image23.png"/><Relationship Id="rId4" Type="http://schemas.openxmlformats.org/officeDocument/2006/relationships/image" Target="../media/image2.png"/><Relationship Id="rId9" Type="http://schemas.openxmlformats.org/officeDocument/2006/relationships/image" Target="../media/image22.png"/><Relationship Id="rId14" Type="http://schemas.openxmlformats.org/officeDocument/2006/relationships/image" Target="../media/image2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tiff"/><Relationship Id="rId3" Type="http://schemas.openxmlformats.org/officeDocument/2006/relationships/image" Target="../media/image7.jpe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microsoft.com/office/2007/relationships/hdphoto" Target="../media/hdphoto1.wdp"/><Relationship Id="rId4" Type="http://schemas.openxmlformats.org/officeDocument/2006/relationships/image" Target="../media/image2.png"/><Relationship Id="rId9" Type="http://schemas.openxmlformats.org/officeDocument/2006/relationships/image" Target="../media/image31.e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tiff"/><Relationship Id="rId3" Type="http://schemas.openxmlformats.org/officeDocument/2006/relationships/image" Target="../media/image7.jpe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microsoft.com/office/2007/relationships/hdphoto" Target="../media/hdphoto1.wdp"/><Relationship Id="rId4" Type="http://schemas.openxmlformats.org/officeDocument/2006/relationships/image" Target="../media/image2.png"/><Relationship Id="rId9" Type="http://schemas.openxmlformats.org/officeDocument/2006/relationships/image" Target="../media/image31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tiff"/><Relationship Id="rId3" Type="http://schemas.openxmlformats.org/officeDocument/2006/relationships/image" Target="../media/image7.jpe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microsoft.com/office/2007/relationships/hdphoto" Target="../media/hdphoto1.wdp"/><Relationship Id="rId4" Type="http://schemas.openxmlformats.org/officeDocument/2006/relationships/image" Target="../media/image2.png"/><Relationship Id="rId9" Type="http://schemas.openxmlformats.org/officeDocument/2006/relationships/image" Target="../media/image3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tiff"/><Relationship Id="rId3" Type="http://schemas.openxmlformats.org/officeDocument/2006/relationships/image" Target="../media/image7.jpe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tiff"/><Relationship Id="rId3" Type="http://schemas.openxmlformats.org/officeDocument/2006/relationships/image" Target="../media/image7.jpeg"/><Relationship Id="rId7" Type="http://schemas.openxmlformats.org/officeDocument/2006/relationships/image" Target="../media/image9.png"/><Relationship Id="rId12" Type="http://schemas.openxmlformats.org/officeDocument/2006/relationships/image" Target="../media/image26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250.png"/><Relationship Id="rId5" Type="http://schemas.microsoft.com/office/2007/relationships/hdphoto" Target="../media/hdphoto1.wdp"/><Relationship Id="rId10" Type="http://schemas.openxmlformats.org/officeDocument/2006/relationships/image" Target="../media/image230.png"/><Relationship Id="rId4" Type="http://schemas.openxmlformats.org/officeDocument/2006/relationships/image" Target="../media/image2.png"/><Relationship Id="rId9" Type="http://schemas.openxmlformats.org/officeDocument/2006/relationships/image" Target="../media/image22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tiff"/><Relationship Id="rId3" Type="http://schemas.openxmlformats.org/officeDocument/2006/relationships/image" Target="../media/image7.jpe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tiff"/><Relationship Id="rId3" Type="http://schemas.openxmlformats.org/officeDocument/2006/relationships/image" Target="../media/image7.jpe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microsoft.com/office/2007/relationships/hdphoto" Target="../media/hdphoto1.wdp"/><Relationship Id="rId4" Type="http://schemas.openxmlformats.org/officeDocument/2006/relationships/image" Target="../media/image2.png"/><Relationship Id="rId9" Type="http://schemas.openxmlformats.org/officeDocument/2006/relationships/image" Target="../media/image3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Box 6"/>
          <p:cNvSpPr txBox="1">
            <a:spLocks noChangeArrowheads="1"/>
          </p:cNvSpPr>
          <p:nvPr/>
        </p:nvSpPr>
        <p:spPr bwMode="auto">
          <a:xfrm>
            <a:off x="4981575" y="6149975"/>
            <a:ext cx="394335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МОСКВА 2018 г.</a:t>
            </a:r>
          </a:p>
        </p:txBody>
      </p:sp>
      <p:grpSp>
        <p:nvGrpSpPr>
          <p:cNvPr id="3075" name="Группа 8"/>
          <p:cNvGrpSpPr>
            <a:grpSpLocks/>
          </p:cNvGrpSpPr>
          <p:nvPr/>
        </p:nvGrpSpPr>
        <p:grpSpPr bwMode="auto">
          <a:xfrm>
            <a:off x="168275" y="977319"/>
            <a:ext cx="9074150" cy="4928181"/>
            <a:chOff x="-376261" y="1250008"/>
            <a:chExt cx="7842079" cy="4375761"/>
          </a:xfrm>
        </p:grpSpPr>
        <p:pic>
          <p:nvPicPr>
            <p:cNvPr id="3085" name="Рисунок 22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376261" y="1250008"/>
              <a:ext cx="7842079" cy="43757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" name="TextBox 25">
              <a:extLst>
                <a:ext uri="{FF2B5EF4-FFF2-40B4-BE49-F238E27FC236}">
                  <a16:creationId xmlns:a16="http://schemas.microsoft.com/office/drawing/2014/main" id="{D2FC090E-2045-2491-587A-AB18F26433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348371" y="2518580"/>
              <a:ext cx="7297772" cy="9018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None/>
              </a:pPr>
              <a:r>
                <a:rPr lang="ru-RU" altLang="ru-RU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Тема исследования: «</a:t>
              </a:r>
              <a:r>
                <a:rPr lang="ru-RU" altLang="ru-RU" sz="2000" b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Модели и методики оценки живучести системы Управления навигации и океанографии Министерства Обороны Российской Федерации основе применения цифрового двойника</a:t>
              </a:r>
              <a:r>
                <a:rPr lang="ru-RU" altLang="ru-RU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»</a:t>
              </a:r>
            </a:p>
          </p:txBody>
        </p:sp>
      </p:grpSp>
      <p:pic>
        <p:nvPicPr>
          <p:cNvPr id="3076" name="Рисунок 3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30" b="80536"/>
          <a:stretch>
            <a:fillRect/>
          </a:stretch>
        </p:blipFill>
        <p:spPr bwMode="auto">
          <a:xfrm>
            <a:off x="0" y="-19050"/>
            <a:ext cx="12192000" cy="930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7" name="Рисунок 3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6803"/>
          <a:stretch>
            <a:fillRect/>
          </a:stretch>
        </p:blipFill>
        <p:spPr bwMode="auto">
          <a:xfrm>
            <a:off x="0" y="5953125"/>
            <a:ext cx="12192000" cy="90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Рисунок 18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28595" y="-19050"/>
            <a:ext cx="1649591" cy="1169711"/>
          </a:xfrm>
          <a:prstGeom prst="rect">
            <a:avLst/>
          </a:prstGeom>
          <a:effectLst>
            <a:glow rad="50800">
              <a:schemeClr val="bg1">
                <a:alpha val="27000"/>
              </a:schemeClr>
            </a:glow>
          </a:effectLst>
        </p:spPr>
      </p:pic>
      <p:pic>
        <p:nvPicPr>
          <p:cNvPr id="3080" name="Picture 2" descr="M:\Эмбдема КВВУ из вектора.tif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9395" y="1197167"/>
            <a:ext cx="3397250" cy="3940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Прямоугольник 17"/>
          <p:cNvSpPr/>
          <p:nvPr/>
        </p:nvSpPr>
        <p:spPr>
          <a:xfrm>
            <a:off x="342563" y="4153254"/>
            <a:ext cx="910623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4292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6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Докладчик:</a:t>
            </a:r>
            <a:r>
              <a:rPr lang="en-US" sz="16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адъюнкт </a:t>
            </a: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подполковник Бойко С.В.</a:t>
            </a:r>
            <a:endParaRPr lang="ru-RU" sz="16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54292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6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Научный руководитель: профессор 23-й кафедры</a:t>
            </a:r>
            <a:r>
              <a:rPr lang="ru-RU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д.т.н., Дьяченко Роман Александрович</a:t>
            </a:r>
            <a:r>
              <a:rPr lang="ru-RU" sz="16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1600" b="1" spc="69" dirty="0">
              <a:ln w="11430"/>
              <a:solidFill>
                <a:prstClr val="black"/>
              </a:solidFill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705350" y="6264275"/>
            <a:ext cx="2979738" cy="4603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2400" dirty="0">
                <a:solidFill>
                  <a:schemeClr val="accent1">
                    <a:lumMod val="20000"/>
                    <a:lumOff val="80000"/>
                  </a:schemeClr>
                </a:solidFill>
                <a:latin typeface="Seattle Sans [RUS by me]" panose="020B0604020202020204" charset="0"/>
              </a:rPr>
              <a:t>КРАСНОДАР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9961" y="0"/>
            <a:ext cx="7024687" cy="7080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2000" dirty="0">
                <a:solidFill>
                  <a:schemeClr val="accent1">
                    <a:lumMod val="20000"/>
                    <a:lumOff val="80000"/>
                  </a:schemeClr>
                </a:solidFill>
                <a:latin typeface="Seattle Sans [RUS by me]" panose="020B0604020202020204" charset="0"/>
              </a:rPr>
              <a:t>ВОЕННАЯ АКАДЕМИЯ ЗАЩИТЫ ИНФОРМАЦИИ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2000" dirty="0">
                <a:solidFill>
                  <a:schemeClr val="accent1">
                    <a:lumMod val="20000"/>
                    <a:lumOff val="80000"/>
                  </a:schemeClr>
                </a:solidFill>
                <a:latin typeface="Seattle Sans [RUS by me]" panose="020B0604020202020204" charset="0"/>
              </a:rPr>
              <a:t>ИМЕНИ ГЕНЕРАЛА АРМИИ С.М.ШТЕМЕНКО</a:t>
            </a:r>
          </a:p>
        </p:txBody>
      </p:sp>
      <p:sp>
        <p:nvSpPr>
          <p:cNvPr id="15" name="Прямоугольник 14"/>
          <p:cNvSpPr/>
          <p:nvPr/>
        </p:nvSpPr>
        <p:spPr>
          <a:xfrm>
            <a:off x="1589412" y="5047235"/>
            <a:ext cx="6754488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Диссертационное исследование соответствует пункту 10 паспорта специальности (6.2.4. Системный анализ, моделирование боевых действий </a:t>
            </a:r>
            <a:br>
              <a:rPr lang="ru-RU" sz="1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 систем военного назначения, компьютерные технологии в военном деле)</a:t>
            </a:r>
            <a:endParaRPr lang="en-US" sz="1400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2E5C88B-F9A7-4DC6-B7D5-DA2426A9E6C6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2220" y="0"/>
            <a:ext cx="911225" cy="911225"/>
          </a:xfrm>
          <a:prstGeom prst="rect">
            <a:avLst/>
          </a:prstGeom>
        </p:spPr>
      </p:pic>
      <p:sp>
        <p:nvSpPr>
          <p:cNvPr id="16" name="TextBox 25">
            <a:extLst>
              <a:ext uri="{FF2B5EF4-FFF2-40B4-BE49-F238E27FC236}">
                <a16:creationId xmlns:a16="http://schemas.microsoft.com/office/drawing/2014/main" id="{F255BCBA-87E4-43E3-ACE4-959E3709A0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564" y="1074228"/>
            <a:ext cx="8270037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None/>
            </a:pPr>
            <a:r>
              <a:rPr lang="ru-RU" alt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Тема доклада: </a:t>
            </a:r>
            <a:r>
              <a:rPr lang="ru-RU" alt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«АНАЛИЗ УГРОЗ И МЕТОДИК ОЦЕНКИ ЖИВУЧЕСТИ </a:t>
            </a:r>
            <a:r>
              <a:rPr lang="ru-RU" altLang="ru-RU" sz="1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СИСТЕМЫ ОБЕСПЕЧЕНИЯ УПРАВЛЕНИЯ НАВИГАЦИИ И ОКЕАНОГРАФИИ МИНИСТЕРСТВА ОБОРОНЫ РОССИЙСКОЙ ФЕДЕРАЦИИ</a:t>
            </a:r>
            <a:r>
              <a:rPr lang="ru-RU" alt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</a:p>
        </p:txBody>
      </p:sp>
    </p:spTree>
    <p:extLst>
      <p:ext uri="{BB962C8B-B14F-4D97-AF65-F5344CB8AC3E}">
        <p14:creationId xmlns:p14="http://schemas.microsoft.com/office/powerpoint/2010/main" val="38422970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DF6C7A-C19D-C1F9-D852-4CBF178A3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4A6C41C5-6848-4D82-80B9-2B8ADCA7E02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117"/>
          <a:stretch/>
        </p:blipFill>
        <p:spPr>
          <a:xfrm>
            <a:off x="16443" y="359626"/>
            <a:ext cx="12175557" cy="6438481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28D886DD-5B7B-921A-023C-2FA90336901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2415"/>
                    </a14:imgEffect>
                    <a14:imgEffect>
                      <a14:saturation sat="4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030" b="80536"/>
          <a:stretch/>
        </p:blipFill>
        <p:spPr>
          <a:xfrm>
            <a:off x="0" y="-18660"/>
            <a:ext cx="12192000" cy="929320"/>
          </a:xfrm>
          <a:prstGeom prst="rect">
            <a:avLst/>
          </a:prstGeom>
          <a:noFill/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5C82EDC-D2BD-0840-A97B-15BA845C7EA3}"/>
              </a:ext>
            </a:extLst>
          </p:cNvPr>
          <p:cNvSpPr txBox="1"/>
          <p:nvPr/>
        </p:nvSpPr>
        <p:spPr>
          <a:xfrm>
            <a:off x="10370372" y="165503"/>
            <a:ext cx="10808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6AEBAD-6C8F-4C62-A860-CF8412FC108D}" type="slidenum">
              <a:rPr kumimoji="0" lang="ru-RU" sz="2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attle Sans [RUS by me]" panose="00000400000000000000" pitchFamily="2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attle Sans [RUS by me]" panose="00000400000000000000" pitchFamily="2" charset="0"/>
                <a:ea typeface="+mn-ea"/>
                <a:cs typeface="+mn-cs"/>
              </a:rPr>
              <a:t>/11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5DDED968-447D-41A7-9142-A5DF252B48A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251679" y="71701"/>
            <a:ext cx="980562" cy="632410"/>
          </a:xfrm>
          <a:prstGeom prst="rect">
            <a:avLst/>
          </a:prstGeom>
          <a:effectLst>
            <a:glow rad="152400">
              <a:schemeClr val="accent1">
                <a:alpha val="21000"/>
              </a:schemeClr>
            </a:glow>
          </a:effectLst>
        </p:spPr>
      </p:pic>
      <p:pic>
        <p:nvPicPr>
          <p:cNvPr id="48" name="Рисунок 47">
            <a:extLst>
              <a:ext uri="{FF2B5EF4-FFF2-40B4-BE49-F238E27FC236}">
                <a16:creationId xmlns:a16="http://schemas.microsoft.com/office/drawing/2014/main" id="{E738B820-1A74-96EA-4BB5-740BA7EDEC88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6925" y="-59177"/>
            <a:ext cx="916371" cy="916371"/>
          </a:xfrm>
          <a:prstGeom prst="rect">
            <a:avLst/>
          </a:prstGeom>
          <a:effectLst>
            <a:glow rad="38100">
              <a:schemeClr val="accent1">
                <a:alpha val="40000"/>
              </a:schemeClr>
            </a:glow>
          </a:effectLst>
        </p:spPr>
      </p:pic>
      <p:pic>
        <p:nvPicPr>
          <p:cNvPr id="49" name="Picture 2" descr="M:\Эмбдема КВВУ из вектора.tif">
            <a:extLst>
              <a:ext uri="{FF2B5EF4-FFF2-40B4-BE49-F238E27FC236}">
                <a16:creationId xmlns:a16="http://schemas.microsoft.com/office/drawing/2014/main" id="{B64B0DA3-5BF3-3806-CDD5-8545131940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00550" y="-39658"/>
            <a:ext cx="775931" cy="9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utoShape 2" descr="https://2.bp.blogspot.com/-r5byV_OS0W0/XLwdZMJSjSI/AAAAAAABHgs/RzaI5rtrTg0JULGfOz1PusXeOIUMM8kkwCEwYBhgL/s1600/3601877618.jpg">
            <a:extLst>
              <a:ext uri="{FF2B5EF4-FFF2-40B4-BE49-F238E27FC236}">
                <a16:creationId xmlns:a16="http://schemas.microsoft.com/office/drawing/2014/main" id="{DA195FD3-AB9A-7EFB-A9FD-2BE9E4215BA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AutoShape 4" descr="https://2.bp.blogspot.com/-r5byV_OS0W0/XLwdZMJSjSI/AAAAAAABHgs/RzaI5rtrTg0JULGfOz1PusXeOIUMM8kkwCEwYBhgL/s1600/3601877618.jpg">
            <a:extLst>
              <a:ext uri="{FF2B5EF4-FFF2-40B4-BE49-F238E27FC236}">
                <a16:creationId xmlns:a16="http://schemas.microsoft.com/office/drawing/2014/main" id="{FF8DFC95-B0D5-2354-54C0-EA065F13DFB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9159FFD-4150-4326-9284-B9E2CFF3117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3312" y="928953"/>
            <a:ext cx="5738761" cy="3552093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FE7CE6DD-D8E5-4CDF-86C8-0553D79AA2D9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9845" y="5147062"/>
            <a:ext cx="1640574" cy="1039519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CD2C1DCD-52D3-465B-B641-3498B8D38172}"/>
              </a:ext>
            </a:extLst>
          </p:cNvPr>
          <p:cNvSpPr txBox="1"/>
          <p:nvPr/>
        </p:nvSpPr>
        <p:spPr>
          <a:xfrm>
            <a:off x="8886236" y="6258936"/>
            <a:ext cx="3208367" cy="461665"/>
          </a:xfrm>
          <a:prstGeom prst="rect">
            <a:avLst/>
          </a:prstGeom>
          <a:noFill/>
          <a:ln w="28575"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 indent="265113" algn="ctr"/>
            <a:r>
              <a:rPr lang="ru-RU" sz="8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Крылатая ракета  (воздух-земля): Стратегическая и тактическая крылатая ракета</a:t>
            </a:r>
            <a:r>
              <a:rPr lang="en-US" sz="8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Storm Shadow</a:t>
            </a:r>
            <a:r>
              <a:rPr lang="ru-RU" sz="8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обладает дальностью от 250-300 км. до 2000 км </a:t>
            </a:r>
          </a:p>
        </p:txBody>
      </p: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4395F258-6D7D-4A3C-907A-82CF8B278FC6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5187" y="5133700"/>
            <a:ext cx="1575134" cy="1039519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781F1FF8-B12A-40DA-A540-38251FC1D79B}"/>
              </a:ext>
            </a:extLst>
          </p:cNvPr>
          <p:cNvSpPr txBox="1"/>
          <p:nvPr/>
        </p:nvSpPr>
        <p:spPr>
          <a:xfrm>
            <a:off x="8783122" y="2277701"/>
            <a:ext cx="3311482" cy="646331"/>
          </a:xfrm>
          <a:prstGeom prst="rect">
            <a:avLst/>
          </a:prstGeom>
          <a:noFill/>
          <a:ln w="28575"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 indent="177800" algn="just"/>
            <a:r>
              <a:rPr lang="ru-RU" sz="600" b="0" u="none" strike="noStrike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«Фламинго» (FP-5) - это украинская дальнобойная крылатая ракета разработки компании </a:t>
            </a:r>
            <a:r>
              <a:rPr lang="ru-RU" sz="600" b="0" u="none" strike="noStrike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Fire</a:t>
            </a:r>
            <a:r>
              <a:rPr lang="ru-RU" sz="600" b="0" u="none" strike="noStrike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600" b="0" u="none" strike="noStrike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Point</a:t>
            </a:r>
            <a:r>
              <a:rPr lang="ru-RU" sz="600" b="0" u="none" strike="noStrike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анонсированная в августе 2025 года.</a:t>
            </a:r>
          </a:p>
          <a:p>
            <a:pPr lvl="0" indent="17780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характеристики:</a:t>
            </a:r>
            <a:endParaRPr lang="ru-RU" altLang="ru-RU" sz="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indent="17780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Дальность полета:</a:t>
            </a:r>
            <a:r>
              <a:rPr lang="ru-RU" altLang="ru-RU" sz="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по заявлению производителя - до 3000 км; по данным из открытых источников и практического применения - от 900 до 3000 км. </a:t>
            </a:r>
          </a:p>
          <a:p>
            <a:pPr lvl="0" indent="17780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Боевая часть:</a:t>
            </a:r>
            <a:r>
              <a:rPr lang="ru-RU" altLang="ru-RU" sz="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масса около 1150 кг. </a:t>
            </a:r>
          </a:p>
        </p:txBody>
      </p:sp>
      <p:sp>
        <p:nvSpPr>
          <p:cNvPr id="34" name="Овал 33">
            <a:extLst>
              <a:ext uri="{FF2B5EF4-FFF2-40B4-BE49-F238E27FC236}">
                <a16:creationId xmlns:a16="http://schemas.microsoft.com/office/drawing/2014/main" id="{274DE292-1D22-491B-B818-05B053F9D08F}"/>
              </a:ext>
            </a:extLst>
          </p:cNvPr>
          <p:cNvSpPr/>
          <p:nvPr/>
        </p:nvSpPr>
        <p:spPr>
          <a:xfrm>
            <a:off x="4791074" y="977776"/>
            <a:ext cx="3209925" cy="2327399"/>
          </a:xfrm>
          <a:prstGeom prst="ellipse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>
              <a:ln>
                <a:solidFill>
                  <a:srgbClr val="FF0000"/>
                </a:solidFill>
              </a:ln>
            </a:endParaRPr>
          </a:p>
        </p:txBody>
      </p:sp>
      <p:sp>
        <p:nvSpPr>
          <p:cNvPr id="35" name="Овал 34">
            <a:extLst>
              <a:ext uri="{FF2B5EF4-FFF2-40B4-BE49-F238E27FC236}">
                <a16:creationId xmlns:a16="http://schemas.microsoft.com/office/drawing/2014/main" id="{5A7EEC9D-4EF0-4E94-AFAB-0FA7D9ACEB05}"/>
              </a:ext>
            </a:extLst>
          </p:cNvPr>
          <p:cNvSpPr/>
          <p:nvPr/>
        </p:nvSpPr>
        <p:spPr>
          <a:xfrm>
            <a:off x="4496041" y="967431"/>
            <a:ext cx="3076334" cy="2585395"/>
          </a:xfrm>
          <a:prstGeom prst="ellipse">
            <a:avLst/>
          </a:prstGeom>
          <a:noFill/>
          <a:ln w="28575">
            <a:solidFill>
              <a:srgbClr val="FF0000"/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n w="38100">
                <a:solidFill>
                  <a:srgbClr val="FF0000"/>
                </a:solidFill>
              </a:ln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6D2D1FD-0851-45AC-812D-1426738BB298}"/>
              </a:ext>
            </a:extLst>
          </p:cNvPr>
          <p:cNvSpPr txBox="1"/>
          <p:nvPr/>
        </p:nvSpPr>
        <p:spPr>
          <a:xfrm>
            <a:off x="5411739" y="1007587"/>
            <a:ext cx="879061" cy="200055"/>
          </a:xfrm>
          <a:prstGeom prst="rect">
            <a:avLst/>
          </a:prstGeom>
          <a:solidFill>
            <a:srgbClr val="FF5B5B"/>
          </a:solidFill>
        </p:spPr>
        <p:txBody>
          <a:bodyPr wrap="square" rtlCol="0">
            <a:spAutoFit/>
          </a:bodyPr>
          <a:lstStyle/>
          <a:p>
            <a:r>
              <a:rPr lang="ru-RU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Санкт-Петербург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30AE9DB-A666-4420-BD36-08439D31A4C1}"/>
              </a:ext>
            </a:extLst>
          </p:cNvPr>
          <p:cNvSpPr txBox="1"/>
          <p:nvPr/>
        </p:nvSpPr>
        <p:spPr>
          <a:xfrm>
            <a:off x="6495678" y="2077646"/>
            <a:ext cx="568799" cy="200055"/>
          </a:xfrm>
          <a:prstGeom prst="rect">
            <a:avLst/>
          </a:prstGeom>
          <a:solidFill>
            <a:srgbClr val="FF5B5B"/>
          </a:solidFill>
        </p:spPr>
        <p:txBody>
          <a:bodyPr wrap="square" rtlCol="0">
            <a:spAutoFit/>
          </a:bodyPr>
          <a:lstStyle/>
          <a:p>
            <a:r>
              <a:rPr lang="ru-RU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Москва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220332F-083D-465C-8CC9-01E635C4F13E}"/>
              </a:ext>
            </a:extLst>
          </p:cNvPr>
          <p:cNvSpPr txBox="1"/>
          <p:nvPr/>
        </p:nvSpPr>
        <p:spPr>
          <a:xfrm>
            <a:off x="5548023" y="3258233"/>
            <a:ext cx="411894" cy="20005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ru-RU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Киев</a:t>
            </a:r>
          </a:p>
        </p:txBody>
      </p:sp>
      <p:sp>
        <p:nvSpPr>
          <p:cNvPr id="38" name="Rectangle 6">
            <a:extLst>
              <a:ext uri="{FF2B5EF4-FFF2-40B4-BE49-F238E27FC236}">
                <a16:creationId xmlns:a16="http://schemas.microsoft.com/office/drawing/2014/main" id="{7A73F489-AE26-4704-9193-1A64E03A9F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38499"/>
            <a:ext cx="65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2" name="Рисунок 41">
            <a:extLst>
              <a:ext uri="{FF2B5EF4-FFF2-40B4-BE49-F238E27FC236}">
                <a16:creationId xmlns:a16="http://schemas.microsoft.com/office/drawing/2014/main" id="{0B27ABF4-5A49-4E78-86F3-331EFE01718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48198" y="943744"/>
            <a:ext cx="1671902" cy="1372099"/>
          </a:xfrm>
          <a:prstGeom prst="rect">
            <a:avLst/>
          </a:prstGeom>
        </p:spPr>
      </p:pic>
      <p:pic>
        <p:nvPicPr>
          <p:cNvPr id="44" name="Рисунок 43">
            <a:extLst>
              <a:ext uri="{FF2B5EF4-FFF2-40B4-BE49-F238E27FC236}">
                <a16:creationId xmlns:a16="http://schemas.microsoft.com/office/drawing/2014/main" id="{0E2572FA-0710-40E7-979B-C0438431D56F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2073" y="939077"/>
            <a:ext cx="1553502" cy="1372100"/>
          </a:xfrm>
          <a:prstGeom prst="rect">
            <a:avLst/>
          </a:prstGeom>
        </p:spPr>
      </p:pic>
      <p:pic>
        <p:nvPicPr>
          <p:cNvPr id="46" name="Рисунок 45">
            <a:extLst>
              <a:ext uri="{FF2B5EF4-FFF2-40B4-BE49-F238E27FC236}">
                <a16:creationId xmlns:a16="http://schemas.microsoft.com/office/drawing/2014/main" id="{7EEA4E4E-EE4F-4037-A5F7-A8F6F737F2BD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7624" y="2973516"/>
            <a:ext cx="1710918" cy="1292385"/>
          </a:xfrm>
          <a:prstGeom prst="rect">
            <a:avLst/>
          </a:prstGeom>
        </p:spPr>
      </p:pic>
      <p:pic>
        <p:nvPicPr>
          <p:cNvPr id="53" name="Рисунок 52">
            <a:extLst>
              <a:ext uri="{FF2B5EF4-FFF2-40B4-BE49-F238E27FC236}">
                <a16:creationId xmlns:a16="http://schemas.microsoft.com/office/drawing/2014/main" id="{5C428652-4423-4BC8-98AB-8FC7A8311D7B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5726" y="2973516"/>
            <a:ext cx="1586390" cy="1284201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EECB473B-929E-464B-B046-4C2276FC967B}"/>
              </a:ext>
            </a:extLst>
          </p:cNvPr>
          <p:cNvSpPr txBox="1"/>
          <p:nvPr/>
        </p:nvSpPr>
        <p:spPr>
          <a:xfrm>
            <a:off x="8862873" y="4306795"/>
            <a:ext cx="3311483" cy="538609"/>
          </a:xfrm>
          <a:prstGeom prst="rect">
            <a:avLst/>
          </a:prstGeom>
          <a:noFill/>
          <a:ln w="28575"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 indent="265113" algn="just"/>
            <a:r>
              <a:rPr lang="ru-RU" sz="800" i="1" u="none" strike="noStrike" dirty="0">
                <a:solidFill>
                  <a:schemeClr val="bg1"/>
                </a:solidFill>
                <a:effectLst/>
                <a:latin typeface="Google Sans"/>
              </a:rPr>
              <a:t>«</a:t>
            </a:r>
            <a:r>
              <a:rPr lang="ru-RU" sz="700" i="1" u="none" strike="noStrike" dirty="0">
                <a:solidFill>
                  <a:schemeClr val="bg1"/>
                </a:solidFill>
                <a:effectLst/>
                <a:latin typeface="Google Sans"/>
              </a:rPr>
              <a:t>Нептун» (Р-360):</a:t>
            </a:r>
            <a:r>
              <a:rPr lang="ru-RU" sz="700" i="1" dirty="0">
                <a:solidFill>
                  <a:schemeClr val="bg1"/>
                </a:solidFill>
              </a:rPr>
              <a:t> изначально противокорабельная крылатая ракета с дальностью до 280–300 км. Позднее была разработана модификация («Длинный Нептун») для ударов по наземным целям, дальность которой, по заявлениям руководства Украины, увеличена до </a:t>
            </a:r>
            <a:r>
              <a:rPr lang="ru-RU" sz="700" i="1" u="none" strike="noStrike" dirty="0">
                <a:solidFill>
                  <a:schemeClr val="bg1"/>
                </a:solidFill>
                <a:effectLst/>
                <a:latin typeface="Google Sans"/>
              </a:rPr>
              <a:t>1000 км.</a:t>
            </a:r>
            <a:endParaRPr lang="ru-RU" sz="700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8" name="Рисунок 57">
            <a:extLst>
              <a:ext uri="{FF2B5EF4-FFF2-40B4-BE49-F238E27FC236}">
                <a16:creationId xmlns:a16="http://schemas.microsoft.com/office/drawing/2014/main" id="{55E3B7B5-F40C-490A-9ABE-7A772FB739B7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6141" y="1093443"/>
            <a:ext cx="809326" cy="580895"/>
          </a:xfrm>
          <a:prstGeom prst="rect">
            <a:avLst/>
          </a:prstGeom>
          <a:ln w="28575">
            <a:solidFill>
              <a:srgbClr val="FF3300"/>
            </a:solidFill>
          </a:ln>
        </p:spPr>
      </p:pic>
      <p:sp>
        <p:nvSpPr>
          <p:cNvPr id="59" name="Прямоугольник 58">
            <a:extLst>
              <a:ext uri="{FF2B5EF4-FFF2-40B4-BE49-F238E27FC236}">
                <a16:creationId xmlns:a16="http://schemas.microsoft.com/office/drawing/2014/main" id="{0962646D-6170-4C77-ADCF-E2A43CF35761}"/>
              </a:ext>
            </a:extLst>
          </p:cNvPr>
          <p:cNvSpPr/>
          <p:nvPr/>
        </p:nvSpPr>
        <p:spPr>
          <a:xfrm>
            <a:off x="6864298" y="1432043"/>
            <a:ext cx="831495" cy="15653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5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Управление навигации и океанографии МО РФ</a:t>
            </a:r>
          </a:p>
          <a:p>
            <a:pPr algn="ctr"/>
            <a:r>
              <a:rPr lang="ru-RU" sz="5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г. </a:t>
            </a:r>
            <a:r>
              <a:rPr lang="ru-RU" sz="5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Санкт-Петербург</a:t>
            </a:r>
            <a:r>
              <a:rPr lang="ru-RU" sz="5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</a:p>
        </p:txBody>
      </p:sp>
      <p:cxnSp>
        <p:nvCxnSpPr>
          <p:cNvPr id="61" name="Прямая со стрелкой 60">
            <a:extLst>
              <a:ext uri="{FF2B5EF4-FFF2-40B4-BE49-F238E27FC236}">
                <a16:creationId xmlns:a16="http://schemas.microsoft.com/office/drawing/2014/main" id="{E250459E-EA30-4E96-89A0-6E29EEAD5EA4}"/>
              </a:ext>
            </a:extLst>
          </p:cNvPr>
          <p:cNvCxnSpPr>
            <a:cxnSpLocks/>
            <a:stCxn id="58" idx="1"/>
            <a:endCxn id="37" idx="2"/>
          </p:cNvCxnSpPr>
          <p:nvPr/>
        </p:nvCxnSpPr>
        <p:spPr>
          <a:xfrm flipH="1" flipV="1">
            <a:off x="5851270" y="1207642"/>
            <a:ext cx="1084871" cy="176249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4" name="Рисунок 63">
            <a:extLst>
              <a:ext uri="{FF2B5EF4-FFF2-40B4-BE49-F238E27FC236}">
                <a16:creationId xmlns:a16="http://schemas.microsoft.com/office/drawing/2014/main" id="{67F80EE9-76AD-482B-95CF-203CE8DA1A38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34" y="947916"/>
            <a:ext cx="2868062" cy="1482548"/>
          </a:xfrm>
          <a:prstGeom prst="rect">
            <a:avLst/>
          </a:prstGeom>
        </p:spPr>
      </p:pic>
      <p:sp>
        <p:nvSpPr>
          <p:cNvPr id="65" name="TextBox 64">
            <a:extLst>
              <a:ext uri="{FF2B5EF4-FFF2-40B4-BE49-F238E27FC236}">
                <a16:creationId xmlns:a16="http://schemas.microsoft.com/office/drawing/2014/main" id="{6E1B62CC-7871-4274-AF1E-AD5966BCD9C2}"/>
              </a:ext>
            </a:extLst>
          </p:cNvPr>
          <p:cNvSpPr txBox="1"/>
          <p:nvPr/>
        </p:nvSpPr>
        <p:spPr>
          <a:xfrm>
            <a:off x="47871" y="2487249"/>
            <a:ext cx="2854863" cy="461665"/>
          </a:xfrm>
          <a:prstGeom prst="rect">
            <a:avLst/>
          </a:prstGeom>
          <a:noFill/>
          <a:ln w="28575"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 marR="0" lvl="0" indent="1778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Назначение:</a:t>
            </a:r>
            <a:r>
              <a:rPr kumimoji="0" lang="ru-RU" altLang="ru-RU" sz="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Поражение стратегических объектов, НПЗ и военной инфраструктуры в глубоком тылу.</a:t>
            </a:r>
          </a:p>
          <a:p>
            <a:pPr marR="0" lvl="0" indent="1778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Дальность полета:</a:t>
            </a:r>
            <a:r>
              <a:rPr kumimoji="0" lang="ru-RU" altLang="ru-RU" sz="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до 1000–1500 км (отдельные модификации и пуски фиксировались на дистанциях свыше 1700 км).</a:t>
            </a:r>
          </a:p>
        </p:txBody>
      </p:sp>
      <p:pic>
        <p:nvPicPr>
          <p:cNvPr id="68" name="Рисунок 67">
            <a:extLst>
              <a:ext uri="{FF2B5EF4-FFF2-40B4-BE49-F238E27FC236}">
                <a16:creationId xmlns:a16="http://schemas.microsoft.com/office/drawing/2014/main" id="{D065EDBB-E6A8-4121-912C-D05682FF49D5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83" y="2955849"/>
            <a:ext cx="2887221" cy="1418903"/>
          </a:xfrm>
          <a:prstGeom prst="rect">
            <a:avLst/>
          </a:prstGeom>
        </p:spPr>
      </p:pic>
      <p:pic>
        <p:nvPicPr>
          <p:cNvPr id="72" name="Рисунок 71">
            <a:extLst>
              <a:ext uri="{FF2B5EF4-FFF2-40B4-BE49-F238E27FC236}">
                <a16:creationId xmlns:a16="http://schemas.microsoft.com/office/drawing/2014/main" id="{D2E074E2-5C0F-4FD9-92D2-66DBDF295519}"/>
              </a:ext>
            </a:extLst>
          </p:cNvPr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83" y="4816777"/>
            <a:ext cx="2893747" cy="1488107"/>
          </a:xfrm>
          <a:prstGeom prst="rect">
            <a:avLst/>
          </a:prstGeom>
        </p:spPr>
      </p:pic>
      <p:sp>
        <p:nvSpPr>
          <p:cNvPr id="73" name="TextBox 72">
            <a:extLst>
              <a:ext uri="{FF2B5EF4-FFF2-40B4-BE49-F238E27FC236}">
                <a16:creationId xmlns:a16="http://schemas.microsoft.com/office/drawing/2014/main" id="{9A942E34-9F1D-4313-A301-F8B33D5162CD}"/>
              </a:ext>
            </a:extLst>
          </p:cNvPr>
          <p:cNvSpPr txBox="1"/>
          <p:nvPr/>
        </p:nvSpPr>
        <p:spPr>
          <a:xfrm>
            <a:off x="80431" y="4440828"/>
            <a:ext cx="2871545" cy="369332"/>
          </a:xfrm>
          <a:prstGeom prst="rect">
            <a:avLst/>
          </a:prstGeom>
          <a:noFill/>
          <a:ln w="28575"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 marR="0" lvl="0" indent="176213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Дальнобойный барражирующий боеприпас аэродинамической схемы «утка» (переднее горизонтальное оперение). </a:t>
            </a:r>
          </a:p>
          <a:p>
            <a:pPr marR="0" lvl="0" indent="176213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Дальность полета:</a:t>
            </a:r>
            <a:r>
              <a:rPr kumimoji="0" lang="ru-RU" altLang="ru-RU" sz="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до 1000 км.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3A0E482-632A-40BD-9077-0E789AC2BCB2}"/>
              </a:ext>
            </a:extLst>
          </p:cNvPr>
          <p:cNvSpPr txBox="1"/>
          <p:nvPr/>
        </p:nvSpPr>
        <p:spPr>
          <a:xfrm>
            <a:off x="28573" y="6354005"/>
            <a:ext cx="2923403" cy="382156"/>
          </a:xfrm>
          <a:prstGeom prst="rect">
            <a:avLst/>
          </a:prstGeom>
          <a:noFill/>
          <a:ln w="28575"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 indent="265113">
              <a:lnSpc>
                <a:spcPct val="107000"/>
              </a:lnSpc>
              <a:spcAft>
                <a:spcPts val="0"/>
              </a:spcAft>
            </a:pPr>
            <a:r>
              <a:rPr lang="ru-RU" sz="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Относительно новый класс легких дальнобойных ударных беспилотников.</a:t>
            </a:r>
            <a:endParaRPr lang="ru-RU" sz="6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265113">
              <a:lnSpc>
                <a:spcPct val="107000"/>
              </a:lnSpc>
              <a:spcAft>
                <a:spcPts val="0"/>
              </a:spcAft>
            </a:pPr>
            <a:r>
              <a:rPr lang="ru-RU" sz="6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Дальность полета:</a:t>
            </a:r>
            <a:r>
              <a:rPr lang="ru-RU" sz="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от 1000 км с перспективой модернизации и увеличения дальности до 3000–4000 км.</a:t>
            </a:r>
            <a:endParaRPr lang="ru-RU" sz="6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7" name="Прямоугольник: скругленные углы 76">
            <a:extLst>
              <a:ext uri="{FF2B5EF4-FFF2-40B4-BE49-F238E27FC236}">
                <a16:creationId xmlns:a16="http://schemas.microsoft.com/office/drawing/2014/main" id="{D6EDBAD5-B4B3-4582-A9CD-A7D114BEAED5}"/>
              </a:ext>
            </a:extLst>
          </p:cNvPr>
          <p:cNvSpPr/>
          <p:nvPr/>
        </p:nvSpPr>
        <p:spPr>
          <a:xfrm>
            <a:off x="3044098" y="4599157"/>
            <a:ext cx="5691245" cy="212372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07000"/>
              </a:lnSpc>
              <a:spcAft>
                <a:spcPts val="0"/>
              </a:spcAft>
            </a:pPr>
            <a:r>
              <a:rPr lang="ru-RU" sz="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Крупнейшие инциденты и хронология за 2026 год:</a:t>
            </a:r>
            <a:endParaRPr lang="ru-RU" sz="7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ru-RU" sz="7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22–31 марта</a:t>
            </a:r>
            <a:r>
              <a:rPr lang="ru-RU" sz="7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- Серия из девяти ночей беспрерывных налетов на Санкт-Петербург и Ленинградскую область. Силы ПВО за этот период уничтожили не менее </a:t>
            </a:r>
            <a:r>
              <a:rPr lang="ru-RU" sz="7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278 дронов</a:t>
            </a:r>
            <a:r>
              <a:rPr lang="ru-RU" sz="7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7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(Источник: Администрация губернатора ЛО / ИА </a:t>
            </a:r>
            <a:r>
              <a:rPr lang="ru-RU" sz="7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Neva.Today</a:t>
            </a:r>
            <a:r>
              <a:rPr lang="ru-RU" sz="7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r>
              <a:rPr lang="ru-RU" sz="7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7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ru-RU" sz="7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 мая</a:t>
            </a:r>
            <a:r>
              <a:rPr lang="ru-RU" sz="7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- Налет более 60 БПЛА. Основной целью был морской торговый порт </a:t>
            </a:r>
            <a:r>
              <a:rPr lang="ru-RU" sz="7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Приморок</a:t>
            </a:r>
            <a:r>
              <a:rPr lang="ru-RU" sz="7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в Ленобласти. </a:t>
            </a:r>
            <a:r>
              <a:rPr lang="ru-RU" sz="7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(Источник: 47news)</a:t>
            </a:r>
            <a:r>
              <a:rPr lang="ru-RU" sz="7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7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ru-RU" sz="7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7 мая</a:t>
            </a:r>
            <a:r>
              <a:rPr lang="ru-RU" sz="7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- Попытка атаки непосредственно на Петербург, сопровождавшаяся ограничениями в работе аэропорта Пулково. </a:t>
            </a:r>
            <a:r>
              <a:rPr lang="ru-RU" sz="7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(Источник: Мойка78)</a:t>
            </a:r>
            <a:r>
              <a:rPr lang="ru-RU" sz="7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7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ru-RU" sz="7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19 мая</a:t>
            </a:r>
            <a:r>
              <a:rPr lang="ru-RU" sz="7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- Атака, из-за которой несколько раз за день закрывалось воздушное пространство над Пулково. Сбито не менее 7 дронов. </a:t>
            </a:r>
            <a:r>
              <a:rPr lang="ru-RU" sz="7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(Источник: </a:t>
            </a:r>
            <a:r>
              <a:rPr lang="ru-RU" sz="7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Metro</a:t>
            </a:r>
            <a:r>
              <a:rPr lang="ru-RU" sz="7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Петербург).</a:t>
            </a:r>
            <a:r>
              <a:rPr lang="ru-RU" sz="7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7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ru-RU" sz="7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 июня</a:t>
            </a:r>
            <a:r>
              <a:rPr lang="ru-RU" sz="7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- В день старта ПМЭФ над регионом перехвачено </a:t>
            </a:r>
            <a:r>
              <a:rPr lang="ru-RU" sz="7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59 БПЛА</a:t>
            </a:r>
            <a:r>
              <a:rPr lang="ru-RU" sz="7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7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(Источник: Ведомости).</a:t>
            </a:r>
            <a:r>
              <a:rPr lang="ru-RU" sz="7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7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ru-RU" sz="7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5–6 июня</a:t>
            </a:r>
            <a:r>
              <a:rPr lang="ru-RU" sz="7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- Семь человек пострадали при атаке на объект Минобороны у Большой Ижоры. </a:t>
            </a:r>
            <a:r>
              <a:rPr lang="ru-RU" sz="7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(Источник: </a:t>
            </a:r>
            <a:r>
              <a:rPr lang="ru-RU" sz="7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Фонтанка.ру</a:t>
            </a:r>
            <a:r>
              <a:rPr lang="ru-RU" sz="7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sz="7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7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ru-RU" sz="7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 июля</a:t>
            </a:r>
            <a:r>
              <a:rPr lang="ru-RU" sz="7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ru-RU" sz="7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Самая масштабная атака непосредственно на Санкт-Петербург.</a:t>
            </a:r>
            <a:r>
              <a:rPr lang="ru-RU" sz="7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Средства ПВО сбили </a:t>
            </a:r>
            <a:r>
              <a:rPr lang="ru-RU" sz="7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72 БПЛА</a:t>
            </a:r>
            <a:r>
              <a:rPr lang="ru-RU" sz="7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которые целенаправленно шли на Петербургский нефтяной терминал (Кировский район) и Кронштадт. Один дрон упал в Петергофе. </a:t>
            </a:r>
            <a:r>
              <a:rPr lang="ru-RU" sz="7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(Источник: Деловой Петербург, Ведомости)</a:t>
            </a:r>
            <a:r>
              <a:rPr lang="ru-RU" sz="7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7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ru-RU" sz="7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18 и 22 июля</a:t>
            </a:r>
            <a:r>
              <a:rPr lang="ru-RU" sz="7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- Небольшие налеты (сбито 8 БПЛА, обломки упали на судно на рейде). </a:t>
            </a:r>
            <a:r>
              <a:rPr lang="ru-RU" sz="7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(Источник: </a:t>
            </a:r>
            <a:r>
              <a:rPr lang="ru-RU" sz="7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Фонтанка.ру</a:t>
            </a:r>
            <a:r>
              <a:rPr lang="ru-RU" sz="7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sz="7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7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ru-RU" sz="7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 августа</a:t>
            </a:r>
            <a:r>
              <a:rPr lang="ru-RU" sz="7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- Массированный налет. Сбито 17 БПЛА, произошло падение обломков на склад </a:t>
            </a:r>
            <a:r>
              <a:rPr lang="ru-RU" sz="7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Wildberries</a:t>
            </a:r>
            <a:r>
              <a:rPr lang="ru-RU" sz="7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и распределительный центр «Ленты» в Красном Бору (Тосненский район). </a:t>
            </a:r>
            <a:r>
              <a:rPr lang="ru-RU" sz="7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(Источник: Коммерсантъ)</a:t>
            </a:r>
            <a:r>
              <a:rPr lang="ru-RU" sz="7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7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ru-RU" sz="7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14 августа</a:t>
            </a:r>
            <a:r>
              <a:rPr lang="ru-RU" sz="7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- Силы ПВО за 4 часа уничтожили </a:t>
            </a:r>
            <a:r>
              <a:rPr lang="ru-RU" sz="7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54 дрона</a:t>
            </a:r>
            <a:r>
              <a:rPr lang="ru-RU" sz="7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зафиксированы повреждения в порту Усть-Луга. </a:t>
            </a:r>
            <a:r>
              <a:rPr lang="ru-RU" sz="7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(Источник: Администрация губернатора ЛО / </a:t>
            </a:r>
            <a:r>
              <a:rPr lang="ru-RU" sz="7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Neva.Today</a:t>
            </a:r>
            <a:r>
              <a:rPr lang="ru-RU" sz="7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r>
              <a:rPr lang="ru-RU" sz="7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7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2E69446-97E6-4155-A6A4-0EF6A34E957D}"/>
              </a:ext>
            </a:extLst>
          </p:cNvPr>
          <p:cNvSpPr txBox="1"/>
          <p:nvPr/>
        </p:nvSpPr>
        <p:spPr>
          <a:xfrm>
            <a:off x="6936141" y="1061384"/>
            <a:ext cx="809326" cy="21544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ru-RU" sz="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Объект КИИ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515DB45A-976E-4063-8B07-94F0DBD61821}"/>
              </a:ext>
            </a:extLst>
          </p:cNvPr>
          <p:cNvSpPr txBox="1"/>
          <p:nvPr/>
        </p:nvSpPr>
        <p:spPr>
          <a:xfrm>
            <a:off x="2924037" y="229035"/>
            <a:ext cx="676153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 1/3</a:t>
            </a:r>
          </a:p>
        </p:txBody>
      </p:sp>
      <p:cxnSp>
        <p:nvCxnSpPr>
          <p:cNvPr id="5" name="Прямая со стрелкой 4">
            <a:extLst>
              <a:ext uri="{FF2B5EF4-FFF2-40B4-BE49-F238E27FC236}">
                <a16:creationId xmlns:a16="http://schemas.microsoft.com/office/drawing/2014/main" id="{8034316F-EAAA-41CF-8534-787BE6DA0C8E}"/>
              </a:ext>
            </a:extLst>
          </p:cNvPr>
          <p:cNvCxnSpPr>
            <a:cxnSpLocks/>
          </p:cNvCxnSpPr>
          <p:nvPr/>
        </p:nvCxnSpPr>
        <p:spPr>
          <a:xfrm flipV="1">
            <a:off x="5033297" y="1207643"/>
            <a:ext cx="687103" cy="1049255"/>
          </a:xfrm>
          <a:prstGeom prst="straightConnector1">
            <a:avLst/>
          </a:prstGeom>
          <a:ln w="28575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 стрелкой 7">
            <a:extLst>
              <a:ext uri="{FF2B5EF4-FFF2-40B4-BE49-F238E27FC236}">
                <a16:creationId xmlns:a16="http://schemas.microsoft.com/office/drawing/2014/main" id="{C8690A96-12CE-4839-A6DE-BBA7252C9651}"/>
              </a:ext>
            </a:extLst>
          </p:cNvPr>
          <p:cNvCxnSpPr/>
          <p:nvPr/>
        </p:nvCxnSpPr>
        <p:spPr>
          <a:xfrm flipH="1" flipV="1">
            <a:off x="5817392" y="1207642"/>
            <a:ext cx="36705" cy="2028477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Прямая со стрелкой 44">
            <a:extLst>
              <a:ext uri="{FF2B5EF4-FFF2-40B4-BE49-F238E27FC236}">
                <a16:creationId xmlns:a16="http://schemas.microsoft.com/office/drawing/2014/main" id="{3EAAACE0-C72D-4872-A0B5-2181B04C7DAF}"/>
              </a:ext>
            </a:extLst>
          </p:cNvPr>
          <p:cNvCxnSpPr>
            <a:cxnSpLocks/>
          </p:cNvCxnSpPr>
          <p:nvPr/>
        </p:nvCxnSpPr>
        <p:spPr>
          <a:xfrm flipV="1">
            <a:off x="5411739" y="1207643"/>
            <a:ext cx="373517" cy="780701"/>
          </a:xfrm>
          <a:prstGeom prst="straightConnector1">
            <a:avLst/>
          </a:prstGeom>
          <a:ln w="28575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Облачко с текстом: овальное 46">
            <a:extLst>
              <a:ext uri="{FF2B5EF4-FFF2-40B4-BE49-F238E27FC236}">
                <a16:creationId xmlns:a16="http://schemas.microsoft.com/office/drawing/2014/main" id="{D4F7C6B5-FC85-4C65-8B27-87E0DA5F7942}"/>
              </a:ext>
            </a:extLst>
          </p:cNvPr>
          <p:cNvSpPr/>
          <p:nvPr/>
        </p:nvSpPr>
        <p:spPr>
          <a:xfrm>
            <a:off x="5631361" y="1896177"/>
            <a:ext cx="684059" cy="245350"/>
          </a:xfrm>
          <a:prstGeom prst="wedgeEllipseCallout">
            <a:avLst/>
          </a:prstGeom>
          <a:solidFill>
            <a:schemeClr val="bg1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1055 км.</a:t>
            </a:r>
          </a:p>
        </p:txBody>
      </p:sp>
    </p:spTree>
    <p:extLst>
      <p:ext uri="{BB962C8B-B14F-4D97-AF65-F5344CB8AC3E}">
        <p14:creationId xmlns:p14="http://schemas.microsoft.com/office/powerpoint/2010/main" val="2367544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Рисунок 44">
            <a:extLst>
              <a:ext uri="{FF2B5EF4-FFF2-40B4-BE49-F238E27FC236}">
                <a16:creationId xmlns:a16="http://schemas.microsoft.com/office/drawing/2014/main" id="{40D6F259-9BFA-4F07-A3E5-9A50B542F5C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117"/>
          <a:stretch/>
        </p:blipFill>
        <p:spPr>
          <a:xfrm>
            <a:off x="-41793" y="508400"/>
            <a:ext cx="12192000" cy="6438481"/>
          </a:xfrm>
          <a:prstGeom prst="rect">
            <a:avLst/>
          </a:prstGeom>
          <a:solidFill>
            <a:srgbClr val="F7EDEF"/>
          </a:solidFill>
        </p:spPr>
      </p:pic>
      <p:pic>
        <p:nvPicPr>
          <p:cNvPr id="19" name="Рисунок 18"/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2415"/>
                    </a14:imgEffect>
                    <a14:imgEffect>
                      <a14:saturation sat="4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030" b="80536"/>
          <a:stretch/>
        </p:blipFill>
        <p:spPr>
          <a:xfrm>
            <a:off x="-23861" y="-2868"/>
            <a:ext cx="12192000" cy="929320"/>
          </a:xfrm>
          <a:prstGeom prst="rect">
            <a:avLst/>
          </a:prstGeom>
          <a:noFill/>
        </p:spPr>
      </p:pic>
      <p:sp>
        <p:nvSpPr>
          <p:cNvPr id="11" name="TextBox 10"/>
          <p:cNvSpPr txBox="1"/>
          <p:nvPr/>
        </p:nvSpPr>
        <p:spPr>
          <a:xfrm>
            <a:off x="10599431" y="209075"/>
            <a:ext cx="782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F76AEBAD-6C8F-4C62-A860-CF8412FC108D}" type="slidenum">
              <a:rPr lang="ru-RU" sz="2400" smtClean="0">
                <a:solidFill>
                  <a:schemeClr val="accent1">
                    <a:lumMod val="20000"/>
                    <a:lumOff val="80000"/>
                  </a:schemeClr>
                </a:solidFill>
                <a:latin typeface="Seattle Sans [RUS by me]" panose="00000400000000000000" pitchFamily="2" charset="0"/>
              </a:rPr>
              <a:t>3</a:t>
            </a:fld>
            <a:r>
              <a:rPr lang="ru-RU" sz="2400" dirty="0">
                <a:solidFill>
                  <a:schemeClr val="accent1">
                    <a:lumMod val="20000"/>
                    <a:lumOff val="80000"/>
                  </a:schemeClr>
                </a:solidFill>
                <a:latin typeface="Seattle Sans [RUS by me]" panose="00000400000000000000" pitchFamily="2" charset="0"/>
              </a:rPr>
              <a:t>/11</a:t>
            </a:r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489592" y="185343"/>
            <a:ext cx="916371" cy="539903"/>
          </a:xfrm>
          <a:prstGeom prst="rect">
            <a:avLst/>
          </a:prstGeom>
          <a:effectLst>
            <a:glow rad="152400">
              <a:schemeClr val="accent1">
                <a:alpha val="21000"/>
              </a:schemeClr>
            </a:glow>
          </a:effectLst>
        </p:spPr>
      </p:pic>
      <p:pic>
        <p:nvPicPr>
          <p:cNvPr id="48" name="Рисунок 47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6925" y="-59177"/>
            <a:ext cx="916371" cy="916371"/>
          </a:xfrm>
          <a:prstGeom prst="rect">
            <a:avLst/>
          </a:prstGeom>
          <a:effectLst>
            <a:glow rad="38100">
              <a:schemeClr val="accent1">
                <a:alpha val="40000"/>
              </a:schemeClr>
            </a:glow>
          </a:effectLst>
        </p:spPr>
      </p:pic>
      <p:pic>
        <p:nvPicPr>
          <p:cNvPr id="49" name="Picture 2" descr="M:\Эмбдема КВВУ из вектора.tif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00550" y="-39658"/>
            <a:ext cx="775931" cy="9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utoShape 2" descr="https://2.bp.blogspot.com/-r5byV_OS0W0/XLwdZMJSjSI/AAAAAAABHgs/RzaI5rtrTg0JULGfOz1PusXeOIUMM8kkwCEwYBhgL/s1600/3601877618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4" name="AutoShape 4" descr="https://2.bp.blogspot.com/-r5byV_OS0W0/XLwdZMJSjSI/AAAAAAABHgs/RzaI5rtrTg0JULGfOz1PusXeOIUMM8kkwCEwYBhgL/s1600/3601877618.jp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978DEF3-DD50-AF0E-44C0-6AC4209CEE12}"/>
              </a:ext>
            </a:extLst>
          </p:cNvPr>
          <p:cNvSpPr txBox="1"/>
          <p:nvPr/>
        </p:nvSpPr>
        <p:spPr>
          <a:xfrm>
            <a:off x="2924037" y="229035"/>
            <a:ext cx="676153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 2/3</a:t>
            </a:r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7EB4FA4C-E2DC-4F7E-B229-C6E9E3443068}"/>
              </a:ext>
            </a:extLst>
          </p:cNvPr>
          <p:cNvSpPr/>
          <p:nvPr/>
        </p:nvSpPr>
        <p:spPr>
          <a:xfrm>
            <a:off x="9924454" y="5031714"/>
            <a:ext cx="2073895" cy="73471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373 Центр автоматизированного сбора и обработки оперативной гидрометеорологической информации Военно-Морского Флота</a:t>
            </a:r>
            <a:endParaRPr lang="ru-RU" sz="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Овал 20">
            <a:extLst>
              <a:ext uri="{FF2B5EF4-FFF2-40B4-BE49-F238E27FC236}">
                <a16:creationId xmlns:a16="http://schemas.microsoft.com/office/drawing/2014/main" id="{896195F7-C06F-4A36-B5A4-6714F0A52F22}"/>
              </a:ext>
            </a:extLst>
          </p:cNvPr>
          <p:cNvSpPr/>
          <p:nvPr/>
        </p:nvSpPr>
        <p:spPr>
          <a:xfrm>
            <a:off x="9164150" y="960584"/>
            <a:ext cx="1858769" cy="812064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600" b="1" i="1" noProof="1">
                <a:solidFill>
                  <a:srgbClr val="1F2733"/>
                </a:solidFill>
                <a:latin typeface="Times New Roman" panose="02020603050405020304" pitchFamily="18" charset="0"/>
                <a:ea typeface="PT Sans"/>
                <a:cs typeface="Times New Roman" panose="02020603050405020304" pitchFamily="18" charset="0"/>
              </a:rPr>
              <a:t>Потребители</a:t>
            </a:r>
          </a:p>
          <a:p>
            <a:pPr algn="ctr"/>
            <a:r>
              <a:rPr lang="ru-RU" sz="600" b="1" noProof="1">
                <a:solidFill>
                  <a:srgbClr val="1F2733"/>
                </a:solidFill>
                <a:latin typeface="Times New Roman" panose="02020603050405020304" pitchFamily="18" charset="0"/>
                <a:ea typeface="PT Sans"/>
                <a:cs typeface="Times New Roman" panose="02020603050405020304" pitchFamily="18" charset="0"/>
              </a:rPr>
              <a:t>БФ, СФ, ТОФ, ЧФ и КФЛ; </a:t>
            </a:r>
            <a:br>
              <a:rPr lang="ru-RU" sz="600" b="1" noProof="1">
                <a:solidFill>
                  <a:srgbClr val="1F2733"/>
                </a:solidFill>
                <a:latin typeface="Times New Roman" panose="02020603050405020304" pitchFamily="18" charset="0"/>
                <a:ea typeface="PT Sans"/>
                <a:cs typeface="Times New Roman" panose="02020603050405020304" pitchFamily="18" charset="0"/>
              </a:rPr>
            </a:br>
            <a:r>
              <a:rPr lang="ru-RU" sz="600" b="1" noProof="1">
                <a:solidFill>
                  <a:srgbClr val="1F2733"/>
                </a:solidFill>
                <a:latin typeface="Times New Roman" panose="02020603050405020304" pitchFamily="18" charset="0"/>
                <a:ea typeface="PT Sans"/>
                <a:cs typeface="Times New Roman" panose="02020603050405020304" pitchFamily="18" charset="0"/>
              </a:rPr>
              <a:t>в составе: гидрографические отряжы, районы ГС, базы ПС и НВО.</a:t>
            </a:r>
            <a:endParaRPr lang="en-US" sz="600" noProof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Овал 21">
            <a:extLst>
              <a:ext uri="{FF2B5EF4-FFF2-40B4-BE49-F238E27FC236}">
                <a16:creationId xmlns:a16="http://schemas.microsoft.com/office/drawing/2014/main" id="{FF6EE54B-040A-4AF6-B249-B813511B05DE}"/>
              </a:ext>
            </a:extLst>
          </p:cNvPr>
          <p:cNvSpPr/>
          <p:nvPr/>
        </p:nvSpPr>
        <p:spPr>
          <a:xfrm>
            <a:off x="6597594" y="935730"/>
            <a:ext cx="2315287" cy="1147836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600" b="1" i="1" noProof="1">
                <a:solidFill>
                  <a:srgbClr val="1F2733"/>
                </a:solidFill>
                <a:latin typeface="Times New Roman" panose="02020603050405020304" pitchFamily="18" charset="0"/>
                <a:ea typeface="PT Sans"/>
                <a:cs typeface="Times New Roman" panose="02020603050405020304" pitchFamily="18" charset="0"/>
              </a:rPr>
              <a:t>Военный контур ЕСИМО</a:t>
            </a:r>
          </a:p>
          <a:p>
            <a:pPr algn="ctr"/>
            <a:r>
              <a:rPr lang="ru-RU" sz="600" noProof="1">
                <a:solidFill>
                  <a:srgbClr val="1F2733"/>
                </a:solidFill>
                <a:latin typeface="Times New Roman" panose="02020603050405020304" pitchFamily="18" charset="0"/>
                <a:ea typeface="PT Sans"/>
                <a:cs typeface="Times New Roman" panose="02020603050405020304" pitchFamily="18" charset="0"/>
              </a:rPr>
              <a:t>З</a:t>
            </a:r>
            <a:r>
              <a:rPr lang="en-US" sz="600" noProof="1">
                <a:solidFill>
                  <a:srgbClr val="1F2733"/>
                </a:solidFill>
                <a:latin typeface="Times New Roman" panose="02020603050405020304" pitchFamily="18" charset="0"/>
                <a:ea typeface="PT Sans"/>
                <a:cs typeface="Times New Roman" panose="02020603050405020304" pitchFamily="18" charset="0"/>
              </a:rPr>
              <a:t>акрытый сегмент Единой государственной системы информации об обстановке в Мировом океане для ВС РФ</a:t>
            </a:r>
            <a:endParaRPr lang="en-US" sz="600" noProof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Bef>
                <a:spcPts val="300"/>
              </a:spcBef>
            </a:pPr>
            <a:r>
              <a:rPr lang="en-US" sz="600" b="1" noProof="1">
                <a:solidFill>
                  <a:srgbClr val="1F2733"/>
                </a:solidFill>
                <a:latin typeface="Times New Roman" panose="02020603050405020304" pitchFamily="18" charset="0"/>
                <a:ea typeface="PT Sans"/>
                <a:cs typeface="Times New Roman" panose="02020603050405020304" pitchFamily="18" charset="0"/>
              </a:rPr>
              <a:t>ОСНОВАНИЕ:</a:t>
            </a:r>
            <a:r>
              <a:rPr lang="en-US" sz="600" noProof="1">
                <a:solidFill>
                  <a:srgbClr val="1F2733"/>
                </a:solidFill>
                <a:latin typeface="Times New Roman" panose="02020603050405020304" pitchFamily="18" charset="0"/>
                <a:ea typeface="PT Sans"/>
                <a:cs typeface="Times New Roman" panose="02020603050405020304" pitchFamily="18" charset="0"/>
              </a:rPr>
              <a:t> постановление Правительства РФ от 29.12.2005 № 836</a:t>
            </a:r>
            <a:endParaRPr lang="en-US" sz="600" noProof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Bef>
                <a:spcPts val="300"/>
              </a:spcBef>
            </a:pPr>
            <a:r>
              <a:rPr lang="en-US" sz="600" b="1" noProof="1">
                <a:solidFill>
                  <a:schemeClr val="tx1"/>
                </a:solidFill>
                <a:latin typeface="Times New Roman" panose="02020603050405020304" pitchFamily="18" charset="0"/>
                <a:ea typeface="PT Sans"/>
                <a:cs typeface="Times New Roman" panose="02020603050405020304" pitchFamily="18" charset="0"/>
              </a:rPr>
              <a:t>ЕСИМО: 17 центров · 20 поставщиков · более 3200 ресурсов</a:t>
            </a:r>
            <a:endParaRPr lang="en-US" sz="600" noProof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8" name="Прямая со стрелкой 27">
            <a:extLst>
              <a:ext uri="{FF2B5EF4-FFF2-40B4-BE49-F238E27FC236}">
                <a16:creationId xmlns:a16="http://schemas.microsoft.com/office/drawing/2014/main" id="{2AB59021-48E0-45C3-BE3D-DCC6755A73ED}"/>
              </a:ext>
            </a:extLst>
          </p:cNvPr>
          <p:cNvCxnSpPr>
            <a:cxnSpLocks/>
            <a:endCxn id="22" idx="4"/>
          </p:cNvCxnSpPr>
          <p:nvPr/>
        </p:nvCxnSpPr>
        <p:spPr>
          <a:xfrm flipV="1">
            <a:off x="7462235" y="2083566"/>
            <a:ext cx="293003" cy="1285950"/>
          </a:xfrm>
          <a:prstGeom prst="straightConnector1">
            <a:avLst/>
          </a:prstGeom>
          <a:ln w="28575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 стрелкой 32">
            <a:extLst>
              <a:ext uri="{FF2B5EF4-FFF2-40B4-BE49-F238E27FC236}">
                <a16:creationId xmlns:a16="http://schemas.microsoft.com/office/drawing/2014/main" id="{2B72200E-B27E-4B89-B511-94DF5FE001E2}"/>
              </a:ext>
            </a:extLst>
          </p:cNvPr>
          <p:cNvCxnSpPr>
            <a:cxnSpLocks/>
            <a:stCxn id="23" idx="0"/>
            <a:endCxn id="21" idx="4"/>
          </p:cNvCxnSpPr>
          <p:nvPr/>
        </p:nvCxnSpPr>
        <p:spPr>
          <a:xfrm flipV="1">
            <a:off x="7462235" y="1772648"/>
            <a:ext cx="2631300" cy="1658587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Овал 35">
            <a:extLst>
              <a:ext uri="{FF2B5EF4-FFF2-40B4-BE49-F238E27FC236}">
                <a16:creationId xmlns:a16="http://schemas.microsoft.com/office/drawing/2014/main" id="{510411C7-B148-4C39-93AD-C1B0A73C7217}"/>
              </a:ext>
            </a:extLst>
          </p:cNvPr>
          <p:cNvSpPr/>
          <p:nvPr/>
        </p:nvSpPr>
        <p:spPr>
          <a:xfrm>
            <a:off x="5421351" y="1799755"/>
            <a:ext cx="1462092" cy="851539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8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Данные морских экспедиций и систем наблюдения (</a:t>
            </a:r>
            <a:r>
              <a:rPr lang="en-US" sz="8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GLOSS</a:t>
            </a:r>
            <a:r>
              <a:rPr lang="ru-RU" sz="8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8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GOOS</a:t>
            </a:r>
            <a:r>
              <a:rPr lang="ru-RU" sz="8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8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Argo </a:t>
            </a:r>
            <a:r>
              <a:rPr lang="ru-RU" sz="8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 др.)</a:t>
            </a:r>
          </a:p>
        </p:txBody>
      </p:sp>
      <p:sp>
        <p:nvSpPr>
          <p:cNvPr id="40" name="Овал 39">
            <a:extLst>
              <a:ext uri="{FF2B5EF4-FFF2-40B4-BE49-F238E27FC236}">
                <a16:creationId xmlns:a16="http://schemas.microsoft.com/office/drawing/2014/main" id="{B070F5BE-D57F-4D97-8A59-990665C0D0F2}"/>
              </a:ext>
            </a:extLst>
          </p:cNvPr>
          <p:cNvSpPr/>
          <p:nvPr/>
        </p:nvSpPr>
        <p:spPr>
          <a:xfrm>
            <a:off x="3724414" y="896685"/>
            <a:ext cx="2025295" cy="1169035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800" u="sng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Зарубежные базы данных</a:t>
            </a:r>
          </a:p>
          <a:p>
            <a:pPr algn="ctr"/>
            <a:r>
              <a:rPr lang="en-US" sz="8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OAML NAVO, GFMPL NOAA, </a:t>
            </a:r>
            <a:r>
              <a:rPr lang="ru-RU" sz="8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</a:t>
            </a:r>
            <a:r>
              <a:rPr lang="en-US" sz="8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NOAA, </a:t>
            </a:r>
            <a:r>
              <a:rPr lang="ru-RU" sz="8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</a:t>
            </a:r>
            <a:r>
              <a:rPr lang="en-US" sz="8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WOD13, GEBCO, IBCAO, </a:t>
            </a:r>
            <a:r>
              <a:rPr lang="en-US" sz="800" dirty="0" err="1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GeoDAS</a:t>
            </a:r>
            <a:r>
              <a:rPr lang="en-US" sz="8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IGRF IAGA </a:t>
            </a:r>
            <a:r>
              <a:rPr lang="ru-RU" sz="8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 др</a:t>
            </a:r>
            <a:r>
              <a:rPr lang="ru-RU" sz="12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1" name="Овал 40">
            <a:extLst>
              <a:ext uri="{FF2B5EF4-FFF2-40B4-BE49-F238E27FC236}">
                <a16:creationId xmlns:a16="http://schemas.microsoft.com/office/drawing/2014/main" id="{2D345778-B72B-4553-A804-662FCE8EF249}"/>
              </a:ext>
            </a:extLst>
          </p:cNvPr>
          <p:cNvSpPr/>
          <p:nvPr/>
        </p:nvSpPr>
        <p:spPr>
          <a:xfrm>
            <a:off x="5151341" y="5487965"/>
            <a:ext cx="1875786" cy="1133418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800" u="sng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Российские базы данных</a:t>
            </a:r>
          </a:p>
          <a:p>
            <a:pPr algn="ctr"/>
            <a:r>
              <a:rPr lang="ru-RU" sz="8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ЕСИМО, ВНИИГМИ МЦД, ААНИИ, ВСЕГЕЙ, ВНИИ </a:t>
            </a:r>
            <a:r>
              <a:rPr lang="ru-RU" sz="800" dirty="0" err="1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Океангеология</a:t>
            </a:r>
            <a:r>
              <a:rPr lang="ru-RU" sz="8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800" dirty="0" err="1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Росгеолфонд</a:t>
            </a:r>
            <a:r>
              <a:rPr lang="ru-RU" sz="8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НИЦ «Планета», </a:t>
            </a:r>
            <a:r>
              <a:rPr lang="ru-RU" sz="800" dirty="0" err="1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Роскартография</a:t>
            </a:r>
            <a:r>
              <a:rPr lang="ru-RU" sz="8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и др.</a:t>
            </a:r>
          </a:p>
        </p:txBody>
      </p:sp>
      <p:sp>
        <p:nvSpPr>
          <p:cNvPr id="43" name="Овал 42">
            <a:extLst>
              <a:ext uri="{FF2B5EF4-FFF2-40B4-BE49-F238E27FC236}">
                <a16:creationId xmlns:a16="http://schemas.microsoft.com/office/drawing/2014/main" id="{29191FE0-1222-4DBF-9381-032D0823B628}"/>
              </a:ext>
            </a:extLst>
          </p:cNvPr>
          <p:cNvSpPr/>
          <p:nvPr/>
        </p:nvSpPr>
        <p:spPr>
          <a:xfrm>
            <a:off x="7305334" y="5670180"/>
            <a:ext cx="1527565" cy="810507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8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Данные по навигационно-гидрографической обстановке</a:t>
            </a:r>
          </a:p>
        </p:txBody>
      </p:sp>
      <p:sp>
        <p:nvSpPr>
          <p:cNvPr id="44" name="Прямоугольник 43">
            <a:extLst>
              <a:ext uri="{FF2B5EF4-FFF2-40B4-BE49-F238E27FC236}">
                <a16:creationId xmlns:a16="http://schemas.microsoft.com/office/drawing/2014/main" id="{0F7EBD12-2DCA-41B7-9FDC-8B82476E141E}"/>
              </a:ext>
            </a:extLst>
          </p:cNvPr>
          <p:cNvSpPr/>
          <p:nvPr/>
        </p:nvSpPr>
        <p:spPr>
          <a:xfrm>
            <a:off x="5287821" y="4395442"/>
            <a:ext cx="1909278" cy="5386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Создание цифровых моделей, баз данных (ЦМ БД)и информационно-справочных систем на основе первичной информации в соответствии с требованиями ВМФ</a:t>
            </a:r>
          </a:p>
        </p:txBody>
      </p:sp>
      <p:sp>
        <p:nvSpPr>
          <p:cNvPr id="46" name="Прямоугольник 45">
            <a:extLst>
              <a:ext uri="{FF2B5EF4-FFF2-40B4-BE49-F238E27FC236}">
                <a16:creationId xmlns:a16="http://schemas.microsoft.com/office/drawing/2014/main" id="{1748BC41-F0B4-42D4-9D64-687EFFCAF182}"/>
              </a:ext>
            </a:extLst>
          </p:cNvPr>
          <p:cNvSpPr/>
          <p:nvPr/>
        </p:nvSpPr>
        <p:spPr>
          <a:xfrm>
            <a:off x="4786966" y="3730840"/>
            <a:ext cx="1593485" cy="3009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Обработанная информация</a:t>
            </a:r>
          </a:p>
        </p:txBody>
      </p:sp>
      <p:sp>
        <p:nvSpPr>
          <p:cNvPr id="56" name="Прямоугольник 55">
            <a:extLst>
              <a:ext uri="{FF2B5EF4-FFF2-40B4-BE49-F238E27FC236}">
                <a16:creationId xmlns:a16="http://schemas.microsoft.com/office/drawing/2014/main" id="{50CA1643-9031-4086-9506-A26830FF856A}"/>
              </a:ext>
            </a:extLst>
          </p:cNvPr>
          <p:cNvSpPr/>
          <p:nvPr/>
        </p:nvSpPr>
        <p:spPr>
          <a:xfrm>
            <a:off x="7672167" y="4550217"/>
            <a:ext cx="1477982" cy="3821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Информация по безопасности и режиму мореплавания</a:t>
            </a:r>
          </a:p>
        </p:txBody>
      </p:sp>
      <p:sp>
        <p:nvSpPr>
          <p:cNvPr id="58" name="Прямоугольник 57">
            <a:extLst>
              <a:ext uri="{FF2B5EF4-FFF2-40B4-BE49-F238E27FC236}">
                <a16:creationId xmlns:a16="http://schemas.microsoft.com/office/drawing/2014/main" id="{658BA882-75F5-40E6-B510-F6AF40A5E94C}"/>
              </a:ext>
            </a:extLst>
          </p:cNvPr>
          <p:cNvSpPr/>
          <p:nvPr/>
        </p:nvSpPr>
        <p:spPr>
          <a:xfrm>
            <a:off x="5541365" y="2731178"/>
            <a:ext cx="1147343" cy="38026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Данные непосредственных измерений</a:t>
            </a:r>
          </a:p>
        </p:txBody>
      </p:sp>
      <p:sp>
        <p:nvSpPr>
          <p:cNvPr id="59" name="Прямоугольник 58">
            <a:extLst>
              <a:ext uri="{FF2B5EF4-FFF2-40B4-BE49-F238E27FC236}">
                <a16:creationId xmlns:a16="http://schemas.microsoft.com/office/drawing/2014/main" id="{80FC6AAB-8F78-4419-BEBA-DFE35B5AE57B}"/>
              </a:ext>
            </a:extLst>
          </p:cNvPr>
          <p:cNvSpPr/>
          <p:nvPr/>
        </p:nvSpPr>
        <p:spPr>
          <a:xfrm>
            <a:off x="7860440" y="2684859"/>
            <a:ext cx="1052441" cy="38026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Данные ЦМ БД по линии связи АС ГМО</a:t>
            </a:r>
          </a:p>
        </p:txBody>
      </p:sp>
      <p:sp>
        <p:nvSpPr>
          <p:cNvPr id="60" name="Прямоугольник 59">
            <a:extLst>
              <a:ext uri="{FF2B5EF4-FFF2-40B4-BE49-F238E27FC236}">
                <a16:creationId xmlns:a16="http://schemas.microsoft.com/office/drawing/2014/main" id="{F626B01C-489F-4683-A631-4FC6A1F72C93}"/>
              </a:ext>
            </a:extLst>
          </p:cNvPr>
          <p:cNvSpPr/>
          <p:nvPr/>
        </p:nvSpPr>
        <p:spPr>
          <a:xfrm>
            <a:off x="6729717" y="2989249"/>
            <a:ext cx="1102784" cy="38026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ЦМ БД по</a:t>
            </a:r>
            <a:r>
              <a:rPr lang="en-US" sz="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ru-RU" sz="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VPN </a:t>
            </a:r>
            <a:r>
              <a:rPr lang="ru-RU" sz="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каналу</a:t>
            </a:r>
          </a:p>
        </p:txBody>
      </p:sp>
      <p:sp>
        <p:nvSpPr>
          <p:cNvPr id="61" name="Прямоугольник 60">
            <a:extLst>
              <a:ext uri="{FF2B5EF4-FFF2-40B4-BE49-F238E27FC236}">
                <a16:creationId xmlns:a16="http://schemas.microsoft.com/office/drawing/2014/main" id="{3E47456C-A8C4-4428-857B-A36D8D9A9A48}"/>
              </a:ext>
            </a:extLst>
          </p:cNvPr>
          <p:cNvSpPr/>
          <p:nvPr/>
        </p:nvSpPr>
        <p:spPr>
          <a:xfrm>
            <a:off x="8047587" y="3532853"/>
            <a:ext cx="1212682" cy="38026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9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Цифровые информационно-справочные пособия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F0B378A-2A6C-493B-863E-465502E63993}"/>
              </a:ext>
            </a:extLst>
          </p:cNvPr>
          <p:cNvSpPr txBox="1"/>
          <p:nvPr/>
        </p:nvSpPr>
        <p:spPr>
          <a:xfrm>
            <a:off x="3208517" y="4410472"/>
            <a:ext cx="1875786" cy="1253035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accent2">
                <a:lumMod val="50000"/>
              </a:schemeClr>
            </a:solidFill>
            <a:prstDash val="dash"/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ctr"/>
            <a:r>
              <a:rPr lang="ru-RU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Источники данных:</a:t>
            </a:r>
          </a:p>
          <a:p>
            <a:pPr>
              <a:lnSpc>
                <a:spcPct val="130000"/>
              </a:lnSpc>
            </a:pPr>
            <a:r>
              <a:rPr lang="ru-RU" sz="600" noProof="1">
                <a:latin typeface="Times New Roman" panose="02020603050405020304" pitchFamily="18" charset="0"/>
                <a:ea typeface="PT Sans"/>
                <a:cs typeface="Times New Roman" panose="02020603050405020304" pitchFamily="18" charset="0"/>
              </a:rPr>
              <a:t>1.Гидрографические и океанографические суда;</a:t>
            </a:r>
          </a:p>
          <a:p>
            <a:pPr>
              <a:lnSpc>
                <a:spcPct val="130000"/>
              </a:lnSpc>
            </a:pPr>
            <a:r>
              <a:rPr lang="ru-RU" sz="6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2.Маячные службы и береговые объекты (маяки, светящие знаки, радионавигационные системы);</a:t>
            </a:r>
          </a:p>
          <a:p>
            <a:pPr>
              <a:lnSpc>
                <a:spcPct val="130000"/>
              </a:lnSpc>
            </a:pPr>
            <a:r>
              <a:rPr lang="ru-RU" sz="6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3. Космические средства;</a:t>
            </a:r>
          </a:p>
          <a:p>
            <a:pPr>
              <a:lnSpc>
                <a:spcPct val="130000"/>
              </a:lnSpc>
            </a:pPr>
            <a:r>
              <a:rPr lang="ru-RU" sz="6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Навигационные донесения (сообщения кораблей и судов об изменении обстановки);</a:t>
            </a:r>
          </a:p>
          <a:p>
            <a:pPr algn="just">
              <a:lnSpc>
                <a:spcPct val="130000"/>
              </a:lnSpc>
            </a:pPr>
            <a:r>
              <a:rPr lang="ru-RU" sz="6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4. ФГУП «Гидрографическое предприятие» Росатом – гидрографическое обеспечекние трассы Северного морского пути</a:t>
            </a:r>
            <a:endParaRPr lang="en-US" sz="600" noProof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2" name="Прямая со стрелкой 131">
            <a:extLst>
              <a:ext uri="{FF2B5EF4-FFF2-40B4-BE49-F238E27FC236}">
                <a16:creationId xmlns:a16="http://schemas.microsoft.com/office/drawing/2014/main" id="{6BD06994-BE5F-4795-8896-1CB993590A79}"/>
              </a:ext>
            </a:extLst>
          </p:cNvPr>
          <p:cNvCxnSpPr>
            <a:cxnSpLocks/>
            <a:stCxn id="43" idx="0"/>
          </p:cNvCxnSpPr>
          <p:nvPr/>
        </p:nvCxnSpPr>
        <p:spPr>
          <a:xfrm flipH="1" flipV="1">
            <a:off x="7660543" y="4233364"/>
            <a:ext cx="408574" cy="1436816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9" name="Прямоугольник 148">
            <a:extLst>
              <a:ext uri="{FF2B5EF4-FFF2-40B4-BE49-F238E27FC236}">
                <a16:creationId xmlns:a16="http://schemas.microsoft.com/office/drawing/2014/main" id="{074AFD31-0E61-495C-A5CF-09804F381C4B}"/>
              </a:ext>
            </a:extLst>
          </p:cNvPr>
          <p:cNvSpPr/>
          <p:nvPr/>
        </p:nvSpPr>
        <p:spPr>
          <a:xfrm>
            <a:off x="20457" y="6678533"/>
            <a:ext cx="3150971" cy="1840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Таб. 3.1. Передачи информации по каналам связи</a:t>
            </a: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4393BD86-390D-4E87-A6DB-827A39140BB5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0338" y="1425075"/>
            <a:ext cx="863855" cy="74936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34700FF-2157-485C-8409-D5853E6A4020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7516" y="847665"/>
            <a:ext cx="1337933" cy="918237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16336226-902E-4185-9010-E03CD172B1B5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6821" y="1742507"/>
            <a:ext cx="685098" cy="294438"/>
          </a:xfrm>
          <a:prstGeom prst="rect">
            <a:avLst/>
          </a:prstGeom>
        </p:spPr>
      </p:pic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5067093E-254F-40D8-9236-4DD98D350EF4}"/>
              </a:ext>
            </a:extLst>
          </p:cNvPr>
          <p:cNvSpPr/>
          <p:nvPr/>
        </p:nvSpPr>
        <p:spPr>
          <a:xfrm>
            <a:off x="10903386" y="938223"/>
            <a:ext cx="1226331" cy="4571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Надводные</a:t>
            </a:r>
            <a:r>
              <a:rPr lang="ru-RU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корабли</a:t>
            </a:r>
          </a:p>
        </p:txBody>
      </p:sp>
      <p:sp>
        <p:nvSpPr>
          <p:cNvPr id="55" name="Прямоугольник 54">
            <a:extLst>
              <a:ext uri="{FF2B5EF4-FFF2-40B4-BE49-F238E27FC236}">
                <a16:creationId xmlns:a16="http://schemas.microsoft.com/office/drawing/2014/main" id="{65F8B76B-9ECB-4538-9089-675C2AD377B6}"/>
              </a:ext>
            </a:extLst>
          </p:cNvPr>
          <p:cNvSpPr/>
          <p:nvPr/>
        </p:nvSpPr>
        <p:spPr>
          <a:xfrm>
            <a:off x="10588214" y="1531153"/>
            <a:ext cx="981828" cy="5567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Подводные лодки</a:t>
            </a:r>
          </a:p>
        </p:txBody>
      </p:sp>
      <p:sp>
        <p:nvSpPr>
          <p:cNvPr id="57" name="Прямоугольник 56">
            <a:extLst>
              <a:ext uri="{FF2B5EF4-FFF2-40B4-BE49-F238E27FC236}">
                <a16:creationId xmlns:a16="http://schemas.microsoft.com/office/drawing/2014/main" id="{98760CAB-1E09-4B36-A4A6-F564A18EE242}"/>
              </a:ext>
            </a:extLst>
          </p:cNvPr>
          <p:cNvSpPr/>
          <p:nvPr/>
        </p:nvSpPr>
        <p:spPr>
          <a:xfrm>
            <a:off x="10921932" y="1923516"/>
            <a:ext cx="997215" cy="45496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Морские робототехнические комплексы военного назначения</a:t>
            </a:r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02A06394-F416-4C5F-AE35-5F3549199DDA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9809" y="940747"/>
            <a:ext cx="418145" cy="418145"/>
          </a:xfrm>
          <a:prstGeom prst="rect">
            <a:avLst/>
          </a:prstGeom>
        </p:spPr>
      </p:pic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F1EEDCFA-7015-4CA6-8538-1D4177C524E9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6809" y="1051771"/>
            <a:ext cx="465395" cy="465395"/>
          </a:xfrm>
          <a:prstGeom prst="rect">
            <a:avLst/>
          </a:prstGeom>
        </p:spPr>
      </p:pic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38F3C843-46A8-4F6B-9C0B-CC5CB4962183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6457" y="1411196"/>
            <a:ext cx="388559" cy="388559"/>
          </a:xfrm>
          <a:prstGeom prst="rect">
            <a:avLst/>
          </a:prstGeom>
        </p:spPr>
      </p:pic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8D8A2AA1-AEA0-4274-81A7-4733D3F6EE26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7804" y="1527828"/>
            <a:ext cx="458539" cy="378041"/>
          </a:xfrm>
          <a:prstGeom prst="rect">
            <a:avLst/>
          </a:prstGeom>
        </p:spPr>
      </p:pic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E435B80E-780F-489C-B9AD-C865EDCE3A02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8064" y="1928239"/>
            <a:ext cx="810759" cy="372507"/>
          </a:xfrm>
          <a:prstGeom prst="rect">
            <a:avLst/>
          </a:prstGeom>
        </p:spPr>
      </p:pic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C6BBA902-0013-45CE-ABA3-28A099123B8D}"/>
              </a:ext>
            </a:extLst>
          </p:cNvPr>
          <p:cNvCxnSpPr>
            <a:cxnSpLocks/>
            <a:stCxn id="54" idx="3"/>
            <a:endCxn id="41" idx="1"/>
          </p:cNvCxnSpPr>
          <p:nvPr/>
        </p:nvCxnSpPr>
        <p:spPr>
          <a:xfrm>
            <a:off x="5084303" y="5036990"/>
            <a:ext cx="341740" cy="616960"/>
          </a:xfrm>
          <a:prstGeom prst="line">
            <a:avLst/>
          </a:prstGeom>
          <a:ln w="28575">
            <a:solidFill>
              <a:schemeClr val="accent2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9C2241BB-AA6E-4DB0-9896-7FDD6B75AD6A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6874" y="3431235"/>
            <a:ext cx="1150722" cy="825932"/>
          </a:xfrm>
          <a:prstGeom prst="rect">
            <a:avLst/>
          </a:prstGeom>
          <a:ln w="28575">
            <a:solidFill>
              <a:srgbClr val="FF3300"/>
            </a:solidFill>
          </a:ln>
        </p:spPr>
      </p:pic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B0FFFEC9-5F13-4805-ABE9-B06FC13D7221}"/>
              </a:ext>
            </a:extLst>
          </p:cNvPr>
          <p:cNvSpPr/>
          <p:nvPr/>
        </p:nvSpPr>
        <p:spPr>
          <a:xfrm>
            <a:off x="6930889" y="3883592"/>
            <a:ext cx="1182242" cy="26229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7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Управление навигации и океанографии МО РФ</a:t>
            </a:r>
          </a:p>
          <a:p>
            <a:pPr algn="ctr"/>
            <a:r>
              <a:rPr lang="ru-RU" sz="8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г. </a:t>
            </a:r>
            <a:r>
              <a:rPr lang="ru-RU" sz="7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Санкт-Петербург</a:t>
            </a:r>
            <a:r>
              <a:rPr lang="ru-RU" sz="7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66" name="Овал 65">
            <a:extLst>
              <a:ext uri="{FF2B5EF4-FFF2-40B4-BE49-F238E27FC236}">
                <a16:creationId xmlns:a16="http://schemas.microsoft.com/office/drawing/2014/main" id="{F66F91B7-06B0-4E51-9B8E-6F168390AE64}"/>
              </a:ext>
            </a:extLst>
          </p:cNvPr>
          <p:cNvSpPr/>
          <p:nvPr/>
        </p:nvSpPr>
        <p:spPr>
          <a:xfrm>
            <a:off x="9496148" y="5802259"/>
            <a:ext cx="2073894" cy="734718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280</a:t>
            </a:r>
            <a:r>
              <a:rPr lang="en-US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й Центр картографической фабрики ВМФ, 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36E2324-7D87-4C07-A15C-9271C9F698B7}"/>
              </a:ext>
            </a:extLst>
          </p:cNvPr>
          <p:cNvSpPr txBox="1"/>
          <p:nvPr/>
        </p:nvSpPr>
        <p:spPr>
          <a:xfrm>
            <a:off x="10111740" y="536127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cxnSp>
        <p:nvCxnSpPr>
          <p:cNvPr id="85" name="Прямая со стрелкой 84">
            <a:extLst>
              <a:ext uri="{FF2B5EF4-FFF2-40B4-BE49-F238E27FC236}">
                <a16:creationId xmlns:a16="http://schemas.microsoft.com/office/drawing/2014/main" id="{099247E6-BC7F-490E-B570-47EE5E841A9A}"/>
              </a:ext>
            </a:extLst>
          </p:cNvPr>
          <p:cNvCxnSpPr>
            <a:stCxn id="23" idx="3"/>
            <a:endCxn id="8" idx="2"/>
          </p:cNvCxnSpPr>
          <p:nvPr/>
        </p:nvCxnSpPr>
        <p:spPr>
          <a:xfrm>
            <a:off x="8037596" y="3844201"/>
            <a:ext cx="1886858" cy="1554873"/>
          </a:xfrm>
          <a:prstGeom prst="straightConnector1">
            <a:avLst/>
          </a:prstGeom>
          <a:ln w="19050">
            <a:solidFill>
              <a:srgbClr val="FF0000"/>
            </a:solidFill>
            <a:prstDash val="solid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Прямая со стрелкой 94">
            <a:extLst>
              <a:ext uri="{FF2B5EF4-FFF2-40B4-BE49-F238E27FC236}">
                <a16:creationId xmlns:a16="http://schemas.microsoft.com/office/drawing/2014/main" id="{565F5F50-9D19-4CD7-8762-9D4090E9B368}"/>
              </a:ext>
            </a:extLst>
          </p:cNvPr>
          <p:cNvCxnSpPr>
            <a:cxnSpLocks/>
            <a:stCxn id="23" idx="3"/>
            <a:endCxn id="66" idx="1"/>
          </p:cNvCxnSpPr>
          <p:nvPr/>
        </p:nvCxnSpPr>
        <p:spPr>
          <a:xfrm>
            <a:off x="8037596" y="3844201"/>
            <a:ext cx="1762267" cy="2065655"/>
          </a:xfrm>
          <a:prstGeom prst="straightConnector1">
            <a:avLst/>
          </a:prstGeom>
          <a:ln w="19050">
            <a:solidFill>
              <a:srgbClr val="FF0000"/>
            </a:solidFill>
            <a:prstDash val="solid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D0F7C561-2A5D-459B-9B13-7564CBDAA6EE}"/>
              </a:ext>
            </a:extLst>
          </p:cNvPr>
          <p:cNvSpPr txBox="1"/>
          <p:nvPr/>
        </p:nvSpPr>
        <p:spPr>
          <a:xfrm>
            <a:off x="7697646" y="4922493"/>
            <a:ext cx="427147" cy="302955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8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F4</a:t>
            </a:r>
            <a:endParaRPr lang="ru-RU" sz="800" b="1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BC2370B-A97A-40DD-A567-0E3CB077A1F5}"/>
              </a:ext>
            </a:extLst>
          </p:cNvPr>
          <p:cNvSpPr txBox="1"/>
          <p:nvPr/>
        </p:nvSpPr>
        <p:spPr>
          <a:xfrm>
            <a:off x="8800842" y="4846323"/>
            <a:ext cx="427147" cy="302955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8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ru-RU" sz="8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554AD6B-B30F-4731-B069-9EF372C96C1D}"/>
              </a:ext>
            </a:extLst>
          </p:cNvPr>
          <p:cNvSpPr txBox="1"/>
          <p:nvPr/>
        </p:nvSpPr>
        <p:spPr>
          <a:xfrm>
            <a:off x="9379844" y="4923766"/>
            <a:ext cx="427147" cy="302955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8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ru-RU" sz="8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6A066D2-2D38-4D10-9161-B7E17662933F}"/>
              </a:ext>
            </a:extLst>
          </p:cNvPr>
          <p:cNvSpPr txBox="1"/>
          <p:nvPr/>
        </p:nvSpPr>
        <p:spPr>
          <a:xfrm>
            <a:off x="9130931" y="2083566"/>
            <a:ext cx="427147" cy="302955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8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ru-RU" sz="8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32A7F1E-5054-4670-9580-063100764524}"/>
              </a:ext>
            </a:extLst>
          </p:cNvPr>
          <p:cNvSpPr txBox="1"/>
          <p:nvPr/>
        </p:nvSpPr>
        <p:spPr>
          <a:xfrm>
            <a:off x="7432553" y="2499816"/>
            <a:ext cx="427147" cy="302955"/>
          </a:xfrm>
          <a:prstGeom prst="ellipse">
            <a:avLst/>
          </a:prstGeom>
          <a:solidFill>
            <a:schemeClr val="bg1"/>
          </a:solidFill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r>
              <a:rPr lang="en-US" sz="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ru-RU" sz="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80D011E-A913-469E-8F7E-E2E50DA54DC2}"/>
              </a:ext>
            </a:extLst>
          </p:cNvPr>
          <p:cNvSpPr txBox="1"/>
          <p:nvPr/>
        </p:nvSpPr>
        <p:spPr>
          <a:xfrm>
            <a:off x="7584885" y="3405025"/>
            <a:ext cx="427147" cy="302955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8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ru-RU" sz="8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graphicFrame>
        <p:nvGraphicFramePr>
          <p:cNvPr id="15" name="Таблица 14">
            <a:extLst>
              <a:ext uri="{FF2B5EF4-FFF2-40B4-BE49-F238E27FC236}">
                <a16:creationId xmlns:a16="http://schemas.microsoft.com/office/drawing/2014/main" id="{6FBF8451-2362-43F6-873C-70C5B5C7A6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7798294"/>
              </p:ext>
            </p:extLst>
          </p:nvPr>
        </p:nvGraphicFramePr>
        <p:xfrm>
          <a:off x="-6511" y="946093"/>
          <a:ext cx="3152539" cy="569703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47811">
                  <a:extLst>
                    <a:ext uri="{9D8B030D-6E8A-4147-A177-3AD203B41FA5}">
                      <a16:colId xmlns:a16="http://schemas.microsoft.com/office/drawing/2014/main" val="546760616"/>
                    </a:ext>
                  </a:extLst>
                </a:gridCol>
                <a:gridCol w="838100">
                  <a:extLst>
                    <a:ext uri="{9D8B030D-6E8A-4147-A177-3AD203B41FA5}">
                      <a16:colId xmlns:a16="http://schemas.microsoft.com/office/drawing/2014/main" val="1587405448"/>
                    </a:ext>
                  </a:extLst>
                </a:gridCol>
                <a:gridCol w="637383">
                  <a:extLst>
                    <a:ext uri="{9D8B030D-6E8A-4147-A177-3AD203B41FA5}">
                      <a16:colId xmlns:a16="http://schemas.microsoft.com/office/drawing/2014/main" val="1780795454"/>
                    </a:ext>
                  </a:extLst>
                </a:gridCol>
                <a:gridCol w="361971">
                  <a:extLst>
                    <a:ext uri="{9D8B030D-6E8A-4147-A177-3AD203B41FA5}">
                      <a16:colId xmlns:a16="http://schemas.microsoft.com/office/drawing/2014/main" val="1190338077"/>
                    </a:ext>
                  </a:extLst>
                </a:gridCol>
                <a:gridCol w="299019">
                  <a:extLst>
                    <a:ext uri="{9D8B030D-6E8A-4147-A177-3AD203B41FA5}">
                      <a16:colId xmlns:a16="http://schemas.microsoft.com/office/drawing/2014/main" val="2799060349"/>
                    </a:ext>
                  </a:extLst>
                </a:gridCol>
                <a:gridCol w="349552">
                  <a:extLst>
                    <a:ext uri="{9D8B030D-6E8A-4147-A177-3AD203B41FA5}">
                      <a16:colId xmlns:a16="http://schemas.microsoft.com/office/drawing/2014/main" val="3962416635"/>
                    </a:ext>
                  </a:extLst>
                </a:gridCol>
                <a:gridCol w="418703">
                  <a:extLst>
                    <a:ext uri="{9D8B030D-6E8A-4147-A177-3AD203B41FA5}">
                      <a16:colId xmlns:a16="http://schemas.microsoft.com/office/drawing/2014/main" val="34687737"/>
                    </a:ext>
                  </a:extLst>
                </a:gridCol>
              </a:tblGrid>
              <a:tr h="35309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Поток</a:t>
                      </a:r>
                      <a:endParaRPr lang="ru-RU" sz="5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Направление (источник → получатель)</a:t>
                      </a:r>
                      <a:endParaRPr lang="ru-RU" sz="5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Передаваемая информация</a:t>
                      </a:r>
                      <a:endParaRPr lang="ru-RU" sz="5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Канал связи</a:t>
                      </a:r>
                      <a:endParaRPr lang="ru-RU" sz="5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Скорость</a:t>
                      </a:r>
                      <a:endParaRPr lang="ru-RU" sz="5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Протоколы и стандарты</a:t>
                      </a:r>
                      <a:endParaRPr lang="ru-RU" sz="5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Категория</a:t>
                      </a:r>
                      <a:endParaRPr lang="ru-RU" sz="5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8381083"/>
                  </a:ext>
                </a:extLst>
              </a:tr>
              <a:tr h="80207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F1</a:t>
                      </a:r>
                      <a:endParaRPr lang="ru-RU" sz="5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Гидрографические и океанографические суда, маячные службы, космические средства (ДЗЗ), ФГУП «Гидрографическое предприятие» Росатом → </a:t>
                      </a:r>
                      <a:r>
                        <a:rPr lang="ru-RU" sz="5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УНиО</a:t>
                      </a:r>
                      <a:r>
                        <a:rPr lang="ru-RU" sz="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МО РФ</a:t>
                      </a:r>
                      <a:endParaRPr lang="ru-RU" sz="5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Первичные данные ГПИ — данные непосредственных измерений (морские экспедиции, GLOSS, GOOS, </a:t>
                      </a:r>
                      <a:r>
                        <a:rPr lang="ru-RU" sz="5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Argo</a:t>
                      </a:r>
                      <a:r>
                        <a:rPr lang="ru-RU" sz="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ru-RU" sz="5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Спутниковый VSAT, обратный канал</a:t>
                      </a:r>
                      <a:endParaRPr lang="ru-RU" sz="5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128–512 кбит/с</a:t>
                      </a:r>
                      <a:endParaRPr lang="ru-RU" sz="5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DVB-RCS · TCP/IP</a:t>
                      </a:r>
                      <a:endParaRPr lang="ru-RU" sz="5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открытая</a:t>
                      </a:r>
                      <a:endParaRPr lang="ru-RU" sz="5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8844829"/>
                  </a:ext>
                </a:extLst>
              </a:tr>
              <a:tr h="49680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F2</a:t>
                      </a:r>
                      <a:endParaRPr lang="ru-RU" sz="5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Зарубежные БД (OAML NAVO, GEBCO, NOAA, WOD13, IBCAO, </a:t>
                      </a:r>
                      <a:r>
                        <a:rPr lang="ru-RU" sz="5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GeoDAS</a:t>
                      </a:r>
                      <a:r>
                        <a:rPr lang="ru-RU" sz="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IGRF, IAGA) → </a:t>
                      </a:r>
                      <a:r>
                        <a:rPr lang="ru-RU" sz="5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УНиО</a:t>
                      </a:r>
                      <a:r>
                        <a:rPr lang="ru-RU" sz="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МО РФ</a:t>
                      </a:r>
                      <a:endParaRPr lang="ru-RU" sz="5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Данные зарубежных баз данных</a:t>
                      </a:r>
                      <a:endParaRPr lang="ru-RU" sz="5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Интернет</a:t>
                      </a:r>
                      <a:endParaRPr lang="ru-RU" sz="5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до 100 Мбит/с</a:t>
                      </a:r>
                      <a:endParaRPr lang="ru-RU" sz="5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HTTPS · SFTP</a:t>
                      </a:r>
                      <a:endParaRPr lang="ru-RU" sz="5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открытая</a:t>
                      </a:r>
                      <a:endParaRPr lang="ru-RU" sz="5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6382686"/>
                  </a:ext>
                </a:extLst>
              </a:tr>
              <a:tr h="71227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F3</a:t>
                      </a:r>
                      <a:endParaRPr lang="ru-RU" sz="5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Российские БД (ЕСИМО, ВНИИГМИ-МЦД, ААНИИ, ВСЕГЕИ, ВНИИ Океангеология, Росгеолфонд, НЦИ «Планета», Роскартография) → УНиО МО РФ</a:t>
                      </a:r>
                      <a:endParaRPr lang="ru-RU" sz="5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Данные российских БД для создания ЦМ БД по требованиям 280-й ЦКФ</a:t>
                      </a:r>
                      <a:endParaRPr lang="ru-RU" sz="5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Выделенные каналы ЕСИМО</a:t>
                      </a:r>
                      <a:endParaRPr lang="ru-RU" sz="5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 Мбит/с – 1 Гбит/с</a:t>
                      </a:r>
                      <a:endParaRPr lang="ru-RU" sz="5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Ethernet (IEEE 802.3)</a:t>
                      </a:r>
                      <a:endParaRPr lang="ru-RU" sz="5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открытая/ДСП</a:t>
                      </a:r>
                      <a:endParaRPr lang="ru-RU" sz="5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0421275"/>
                  </a:ext>
                </a:extLst>
              </a:tr>
              <a:tr h="62248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F4</a:t>
                      </a:r>
                      <a:endParaRPr lang="ru-RU" sz="5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Гидрографические предприятия флотов (данные по навигационно-гидрографической обстановке) → УНиО МО РФ</a:t>
                      </a:r>
                      <a:endParaRPr lang="ru-RU" sz="5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Продукция гидрографических предприятий</a:t>
                      </a:r>
                      <a:endParaRPr lang="ru-RU" sz="5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Выделенный канал МО РФ (E1)</a:t>
                      </a:r>
                      <a:endParaRPr lang="ru-RU" sz="5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2048 кбит/с</a:t>
                      </a:r>
                      <a:endParaRPr lang="ru-RU" sz="5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ИКМ-30 · TCP/IP</a:t>
                      </a:r>
                      <a:endParaRPr lang="ru-RU" sz="5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закрытая</a:t>
                      </a:r>
                      <a:endParaRPr lang="ru-RU" sz="5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0208211"/>
                  </a:ext>
                </a:extLst>
              </a:tr>
              <a:tr h="44289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F5</a:t>
                      </a:r>
                      <a:endParaRPr lang="ru-RU" sz="5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Внутри СО НГГМД (кластер ЦМ БД)</a:t>
                      </a:r>
                      <a:endParaRPr lang="ru-RU" sz="5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Записи КГИ в распределённый реестр</a:t>
                      </a:r>
                      <a:endParaRPr lang="ru-RU" sz="5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Внутренняя ЛВС кластера</a:t>
                      </a:r>
                      <a:endParaRPr lang="ru-RU" sz="5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Гбит/с</a:t>
                      </a:r>
                      <a:endParaRPr lang="ru-RU" sz="5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Ethernet · хеш ГОСТ Р 34.11-2012</a:t>
                      </a:r>
                      <a:endParaRPr lang="ru-RU" sz="5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закрытая</a:t>
                      </a:r>
                      <a:endParaRPr lang="ru-RU" sz="5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8812562"/>
                  </a:ext>
                </a:extLst>
              </a:tr>
              <a:tr h="89186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F6</a:t>
                      </a:r>
                      <a:endParaRPr lang="ru-RU" sz="5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5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УНиО</a:t>
                      </a:r>
                      <a:r>
                        <a:rPr lang="ru-RU" sz="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МО РФ ↔ 373 Центр ВМФ, включая 280-ю ЦКФ</a:t>
                      </a:r>
                      <a:endParaRPr lang="ru-RU" sz="5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ЦМ БД, цифровые информационно-справочные пособия; информация по безопасности и режиму мореплавания (обратный поток)</a:t>
                      </a:r>
                      <a:endParaRPr lang="ru-RU" sz="5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Линия связи АС ГМО, VPN-канал</a:t>
                      </a:r>
                      <a:endParaRPr lang="ru-RU" sz="5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2048 кбит/с · до 100 Мбит/с</a:t>
                      </a:r>
                      <a:endParaRPr lang="ru-RU" sz="5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TCP/IP · IPsec</a:t>
                      </a:r>
                      <a:endParaRPr lang="ru-RU" sz="5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закрытая</a:t>
                      </a:r>
                      <a:endParaRPr lang="ru-RU" sz="5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1844062"/>
                  </a:ext>
                </a:extLst>
              </a:tr>
              <a:tr h="62248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F7</a:t>
                      </a:r>
                      <a:endParaRPr lang="ru-RU" sz="5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5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УНиО</a:t>
                      </a:r>
                      <a:r>
                        <a:rPr lang="ru-RU" sz="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МО РФ → потребители ВМФ (БФ, СФ, ТОФ, ЧФ, </a:t>
                      </a:r>
                      <a:r>
                        <a:rPr lang="ru-RU" sz="5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КФл</a:t>
                      </a:r>
                      <a:r>
                        <a:rPr lang="ru-RU" sz="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): бортовые системы ПЛ, НК, МРТК ВН</a:t>
                      </a:r>
                      <a:endParaRPr lang="ru-RU" sz="5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ЦМ БД, цифровые продукты ЭНК, издание корректуры</a:t>
                      </a:r>
                      <a:endParaRPr lang="ru-RU" sz="5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VSAT, прямой канал · машинные носители</a:t>
                      </a:r>
                      <a:endParaRPr lang="ru-RU" sz="5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до 8 Мбит/с</a:t>
                      </a:r>
                      <a:endParaRPr lang="ru-RU" sz="5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DVB-S2 · S-57/S-101 · </a:t>
                      </a:r>
                      <a:r>
                        <a:rPr lang="ru-RU" sz="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защита</a:t>
                      </a:r>
                      <a:r>
                        <a:rPr lang="en-US" sz="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S-63</a:t>
                      </a:r>
                      <a:endParaRPr lang="ru-RU" sz="5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закрытая</a:t>
                      </a:r>
                      <a:endParaRPr lang="ru-RU" sz="5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6007936"/>
                  </a:ext>
                </a:extLst>
              </a:tr>
              <a:tr h="71227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F8</a:t>
                      </a:r>
                      <a:endParaRPr lang="ru-RU" sz="5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5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УНиО</a:t>
                      </a:r>
                      <a:r>
                        <a:rPr lang="ru-RU" sz="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МО РФ → Всемирный центр ЕСИМО; доведение до кораблей и судов</a:t>
                      </a:r>
                      <a:endParaRPr lang="ru-RU" sz="5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Обезличенная ГМИ в ЕСИМО; НАВИП/ПРИП и метео: NAVTEX (до 400 миль), НАВАРЕА XIII / XX / XXI через </a:t>
                      </a:r>
                      <a:r>
                        <a:rPr lang="ru-RU" sz="5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Инмарсат</a:t>
                      </a:r>
                      <a:endParaRPr lang="ru-RU" sz="5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Выделенный канал ЕСИМО · НАВТЕКС 518 кГц</a:t>
                      </a:r>
                      <a:endParaRPr lang="ru-RU" sz="5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 Мбит/с · 100 бод</a:t>
                      </a:r>
                      <a:endParaRPr lang="ru-RU" sz="5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TCP/IP · NBDP (ITU-R M.540)</a:t>
                      </a:r>
                      <a:endParaRPr lang="ru-RU" sz="5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открытая</a:t>
                      </a:r>
                      <a:endParaRPr lang="ru-RU" sz="5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3555874"/>
                  </a:ext>
                </a:extLst>
              </a:tr>
            </a:tbl>
          </a:graphicData>
        </a:graphic>
      </p:graphicFrame>
      <p:cxnSp>
        <p:nvCxnSpPr>
          <p:cNvPr id="5" name="Соединитель: уступ 4">
            <a:extLst>
              <a:ext uri="{FF2B5EF4-FFF2-40B4-BE49-F238E27FC236}">
                <a16:creationId xmlns:a16="http://schemas.microsoft.com/office/drawing/2014/main" id="{12090C8C-8EAB-4C94-86F8-E5160450E6B8}"/>
              </a:ext>
            </a:extLst>
          </p:cNvPr>
          <p:cNvCxnSpPr/>
          <p:nvPr/>
        </p:nvCxnSpPr>
        <p:spPr>
          <a:xfrm>
            <a:off x="4528457" y="2083566"/>
            <a:ext cx="2326897" cy="1647274"/>
          </a:xfrm>
          <a:prstGeom prst="bentConnector3">
            <a:avLst>
              <a:gd name="adj1" fmla="val 723"/>
            </a:avLst>
          </a:prstGeom>
          <a:ln w="28575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F7330193-8B57-4E1A-956B-0D704E81E682}"/>
              </a:ext>
            </a:extLst>
          </p:cNvPr>
          <p:cNvSpPr txBox="1"/>
          <p:nvPr/>
        </p:nvSpPr>
        <p:spPr>
          <a:xfrm>
            <a:off x="4298155" y="3067299"/>
            <a:ext cx="427147" cy="302955"/>
          </a:xfrm>
          <a:prstGeom prst="ellipse">
            <a:avLst/>
          </a:prstGeom>
          <a:solidFill>
            <a:schemeClr val="bg1"/>
          </a:solidFill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r>
              <a:rPr lang="en-US" sz="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F2</a:t>
            </a:r>
            <a:endParaRPr lang="ru-RU" sz="8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" name="Соединитель: уступ 16">
            <a:extLst>
              <a:ext uri="{FF2B5EF4-FFF2-40B4-BE49-F238E27FC236}">
                <a16:creationId xmlns:a16="http://schemas.microsoft.com/office/drawing/2014/main" id="{E57D1CE3-E3EC-4816-A1E2-318076681F7A}"/>
              </a:ext>
            </a:extLst>
          </p:cNvPr>
          <p:cNvCxnSpPr>
            <a:cxnSpLocks/>
          </p:cNvCxnSpPr>
          <p:nvPr/>
        </p:nvCxnSpPr>
        <p:spPr>
          <a:xfrm rot="16200000" flipH="1">
            <a:off x="5978037" y="2759929"/>
            <a:ext cx="974606" cy="786403"/>
          </a:xfrm>
          <a:prstGeom prst="bentConnector3">
            <a:avLst>
              <a:gd name="adj1" fmla="val 99843"/>
            </a:avLst>
          </a:prstGeom>
          <a:ln w="28575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8FE328E6-78F2-48FF-B99A-82C5D1DF91D1}"/>
              </a:ext>
            </a:extLst>
          </p:cNvPr>
          <p:cNvSpPr txBox="1"/>
          <p:nvPr/>
        </p:nvSpPr>
        <p:spPr>
          <a:xfrm>
            <a:off x="5844001" y="3183600"/>
            <a:ext cx="427147" cy="302955"/>
          </a:xfrm>
          <a:prstGeom prst="ellipse">
            <a:avLst/>
          </a:prstGeom>
          <a:solidFill>
            <a:schemeClr val="bg1"/>
          </a:solidFill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r>
              <a:rPr lang="en-US" sz="800" b="1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F1</a:t>
            </a:r>
            <a:endParaRPr lang="ru-RU" sz="800" b="1" i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2" name="Соединитель: уступ 51">
            <a:extLst>
              <a:ext uri="{FF2B5EF4-FFF2-40B4-BE49-F238E27FC236}">
                <a16:creationId xmlns:a16="http://schemas.microsoft.com/office/drawing/2014/main" id="{C1947372-B5E5-469A-804B-597C0E1D784B}"/>
              </a:ext>
            </a:extLst>
          </p:cNvPr>
          <p:cNvCxnSpPr>
            <a:cxnSpLocks/>
            <a:stCxn id="41" idx="0"/>
          </p:cNvCxnSpPr>
          <p:nvPr/>
        </p:nvCxnSpPr>
        <p:spPr>
          <a:xfrm rot="5400000" flipH="1" flipV="1">
            <a:off x="5653052" y="4282199"/>
            <a:ext cx="1641949" cy="769585"/>
          </a:xfrm>
          <a:prstGeom prst="bentConnector3">
            <a:avLst>
              <a:gd name="adj1" fmla="val 100034"/>
            </a:avLst>
          </a:prstGeom>
          <a:ln w="28575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3BE2CB4F-0536-470E-9CC3-1A2A99DCD3B6}"/>
              </a:ext>
            </a:extLst>
          </p:cNvPr>
          <p:cNvSpPr txBox="1"/>
          <p:nvPr/>
        </p:nvSpPr>
        <p:spPr>
          <a:xfrm>
            <a:off x="5858564" y="4932398"/>
            <a:ext cx="427147" cy="302955"/>
          </a:xfrm>
          <a:prstGeom prst="ellipse">
            <a:avLst/>
          </a:prstGeom>
          <a:solidFill>
            <a:schemeClr val="bg1"/>
          </a:solidFill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r>
              <a:rPr lang="en-US" sz="800" b="1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F3</a:t>
            </a:r>
            <a:endParaRPr lang="ru-RU" sz="800" b="1" i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776DEC5F-4EFB-4004-B8FC-3CF377EE8A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4282989"/>
              </p:ext>
            </p:extLst>
          </p:nvPr>
        </p:nvGraphicFramePr>
        <p:xfrm>
          <a:off x="9289934" y="2386552"/>
          <a:ext cx="2743514" cy="213436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39166">
                  <a:extLst>
                    <a:ext uri="{9D8B030D-6E8A-4147-A177-3AD203B41FA5}">
                      <a16:colId xmlns:a16="http://schemas.microsoft.com/office/drawing/2014/main" val="4218627728"/>
                    </a:ext>
                  </a:extLst>
                </a:gridCol>
                <a:gridCol w="548818">
                  <a:extLst>
                    <a:ext uri="{9D8B030D-6E8A-4147-A177-3AD203B41FA5}">
                      <a16:colId xmlns:a16="http://schemas.microsoft.com/office/drawing/2014/main" val="3177397748"/>
                    </a:ext>
                  </a:extLst>
                </a:gridCol>
                <a:gridCol w="580983">
                  <a:extLst>
                    <a:ext uri="{9D8B030D-6E8A-4147-A177-3AD203B41FA5}">
                      <a16:colId xmlns:a16="http://schemas.microsoft.com/office/drawing/2014/main" val="2128496977"/>
                    </a:ext>
                  </a:extLst>
                </a:gridCol>
                <a:gridCol w="774547">
                  <a:extLst>
                    <a:ext uri="{9D8B030D-6E8A-4147-A177-3AD203B41FA5}">
                      <a16:colId xmlns:a16="http://schemas.microsoft.com/office/drawing/2014/main" val="1034363390"/>
                    </a:ext>
                  </a:extLst>
                </a:gridCol>
              </a:tblGrid>
              <a:tr h="14250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5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Наименование информации </a:t>
                      </a:r>
                      <a:endParaRPr lang="ru-RU" sz="5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5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Форма</a:t>
                      </a:r>
                      <a:endParaRPr lang="ru-RU" sz="5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5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Периодичность доведения</a:t>
                      </a:r>
                      <a:endParaRPr lang="ru-RU" sz="5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5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Каналы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5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доведения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2225597"/>
                  </a:ext>
                </a:extLst>
              </a:tr>
              <a:tr h="68268">
                <a:tc gridSpan="4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5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Плановая информация</a:t>
                      </a:r>
                      <a:endParaRPr lang="ru-RU" sz="5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6527274"/>
                  </a:ext>
                </a:extLst>
              </a:tr>
              <a:tr h="29098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5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Извещения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5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Мореплавателям</a:t>
                      </a:r>
                      <a:endParaRPr lang="ru-RU" sz="5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печатная и электронная (формат </a:t>
                      </a:r>
                      <a:r>
                        <a:rPr lang="en-US" sz="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PDF</a:t>
                      </a:r>
                      <a:r>
                        <a:rPr lang="ru-RU" sz="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ru-RU" sz="5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еженедельно</a:t>
                      </a:r>
                      <a:endParaRPr lang="ru-RU" sz="5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печатное издание; размещение на сайте Министерства обороны РФ</a:t>
                      </a:r>
                      <a:endParaRPr lang="ru-RU" sz="5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9975636"/>
                  </a:ext>
                </a:extLst>
              </a:tr>
              <a:tr h="36522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5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Карты и пособия (бумажные карты, лоции, описания огней и знаков, таблицы приливов)</a:t>
                      </a:r>
                      <a:endParaRPr lang="ru-RU" sz="5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печатная</a:t>
                      </a:r>
                      <a:endParaRPr lang="ru-RU" sz="5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 мере выпуска (по мере накопления изменений)</a:t>
                      </a:r>
                      <a:endParaRPr lang="ru-RU" sz="5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печатные</a:t>
                      </a:r>
                      <a:r>
                        <a:rPr lang="en-US" sz="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издания</a:t>
                      </a:r>
                      <a:endParaRPr lang="ru-RU" sz="5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72307"/>
                  </a:ext>
                </a:extLst>
              </a:tr>
              <a:tr h="21674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5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Цифровые продукты (ЭНК и их обновления)</a:t>
                      </a:r>
                      <a:endParaRPr lang="ru-RU" sz="5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электронная</a:t>
                      </a:r>
                      <a:endParaRPr lang="ru-RU" sz="5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 мере выпуска обновлений</a:t>
                      </a:r>
                      <a:endParaRPr lang="ru-RU" sz="5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цифровой</a:t>
                      </a:r>
                      <a:r>
                        <a:rPr lang="en-US" sz="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канал</a:t>
                      </a:r>
                      <a:r>
                        <a:rPr lang="en-US" sz="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связи</a:t>
                      </a:r>
                      <a:endParaRPr lang="ru-RU" sz="5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1170430"/>
                  </a:ext>
                </a:extLst>
              </a:tr>
              <a:tr h="68268">
                <a:tc gridSpan="4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5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Экстренная информация</a:t>
                      </a:r>
                      <a:endParaRPr lang="ru-RU" sz="5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4132717"/>
                  </a:ext>
                </a:extLst>
              </a:tr>
              <a:tr h="33952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5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ПРИП — </a:t>
                      </a:r>
                      <a:r>
                        <a:rPr lang="ru-RU" sz="5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прибрежные предупреждения</a:t>
                      </a:r>
                      <a:endParaRPr lang="ru-RU" sz="5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Электронная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ru-RU" sz="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радиоканал</a:t>
                      </a:r>
                      <a:r>
                        <a:rPr lang="en-US" sz="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ru-RU" sz="5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внепланово, по мере возникновения угрозы</a:t>
                      </a:r>
                      <a:endParaRPr lang="ru-RU" sz="5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радиостанции и система </a:t>
                      </a:r>
                      <a:r>
                        <a:rPr lang="en-US" sz="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NAVTEX</a:t>
                      </a:r>
                      <a:r>
                        <a:rPr lang="ru-RU" sz="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(зона охвата — до 400 миль от побережья)</a:t>
                      </a:r>
                      <a:endParaRPr lang="ru-RU" sz="5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4332417"/>
                  </a:ext>
                </a:extLst>
              </a:tr>
              <a:tr h="36522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5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Предупреждения </a:t>
                      </a:r>
                      <a:r>
                        <a:rPr lang="en-US" sz="5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NAVAREA XIII</a:t>
                      </a:r>
                      <a:r>
                        <a:rPr lang="ru-RU" sz="5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(Дальний Восток), </a:t>
                      </a:r>
                      <a:r>
                        <a:rPr lang="en-US" sz="5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NAVAREA XX</a:t>
                      </a:r>
                      <a:r>
                        <a:rPr lang="ru-RU" sz="5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en-US" sz="5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XXI</a:t>
                      </a:r>
                      <a:r>
                        <a:rPr lang="ru-RU" sz="5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(Арктика)</a:t>
                      </a:r>
                      <a:endParaRPr lang="ru-RU" sz="5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электронная</a:t>
                      </a:r>
                      <a:r>
                        <a:rPr lang="en-US" sz="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lang="ru-RU" sz="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спутниковый канал</a:t>
                      </a:r>
                      <a:r>
                        <a:rPr lang="en-US" sz="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ru-RU" sz="5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внепланово, по мере возникновения угрозы</a:t>
                      </a:r>
                      <a:endParaRPr lang="ru-RU" sz="5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5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трансляция</a:t>
                      </a:r>
                      <a:r>
                        <a:rPr lang="en-US" sz="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5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через</a:t>
                      </a:r>
                      <a:r>
                        <a:rPr lang="en-US" sz="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5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спутниковую</a:t>
                      </a:r>
                      <a:r>
                        <a:rPr lang="en-US" sz="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5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систему</a:t>
                      </a:r>
                      <a:endParaRPr lang="ru-RU" sz="5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6184213"/>
                  </a:ext>
                </a:extLst>
              </a:tr>
            </a:tbl>
          </a:graphicData>
        </a:graphic>
      </p:graphicFrame>
      <p:sp>
        <p:nvSpPr>
          <p:cNvPr id="75" name="Прямоугольник 74">
            <a:extLst>
              <a:ext uri="{FF2B5EF4-FFF2-40B4-BE49-F238E27FC236}">
                <a16:creationId xmlns:a16="http://schemas.microsoft.com/office/drawing/2014/main" id="{DBE96B59-5D6B-4872-8742-156EDACF4A80}"/>
              </a:ext>
            </a:extLst>
          </p:cNvPr>
          <p:cNvSpPr/>
          <p:nvPr/>
        </p:nvSpPr>
        <p:spPr>
          <a:xfrm>
            <a:off x="9300336" y="4551833"/>
            <a:ext cx="2719955" cy="1840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Таб. 3.2. </a:t>
            </a:r>
            <a:r>
              <a:rPr lang="ru-RU" sz="7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Состав и порядок доведения НГГМ информации до потребителей</a:t>
            </a:r>
            <a:endParaRPr lang="ru-RU" sz="7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6005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Рисунок 44">
            <a:extLst>
              <a:ext uri="{FF2B5EF4-FFF2-40B4-BE49-F238E27FC236}">
                <a16:creationId xmlns:a16="http://schemas.microsoft.com/office/drawing/2014/main" id="{40D6F259-9BFA-4F07-A3E5-9A50B542F5C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117"/>
          <a:stretch/>
        </p:blipFill>
        <p:spPr>
          <a:xfrm>
            <a:off x="-13056" y="480559"/>
            <a:ext cx="12192000" cy="6438481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</p:pic>
      <p:pic>
        <p:nvPicPr>
          <p:cNvPr id="19" name="Рисунок 18"/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2415"/>
                    </a14:imgEffect>
                    <a14:imgEffect>
                      <a14:saturation sat="4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030" b="80536"/>
          <a:stretch/>
        </p:blipFill>
        <p:spPr>
          <a:xfrm>
            <a:off x="0" y="-18660"/>
            <a:ext cx="12192000" cy="929320"/>
          </a:xfrm>
          <a:prstGeom prst="rect">
            <a:avLst/>
          </a:prstGeom>
          <a:noFill/>
        </p:spPr>
      </p:pic>
      <p:sp>
        <p:nvSpPr>
          <p:cNvPr id="11" name="TextBox 10"/>
          <p:cNvSpPr txBox="1"/>
          <p:nvPr/>
        </p:nvSpPr>
        <p:spPr>
          <a:xfrm>
            <a:off x="10534871" y="165503"/>
            <a:ext cx="9163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F76AEBAD-6C8F-4C62-A860-CF8412FC108D}" type="slidenum">
              <a:rPr lang="ru-RU" sz="2400" smtClean="0">
                <a:solidFill>
                  <a:schemeClr val="accent1">
                    <a:lumMod val="20000"/>
                    <a:lumOff val="80000"/>
                  </a:schemeClr>
                </a:solidFill>
                <a:latin typeface="Seattle Sans [RUS by me]" panose="00000400000000000000" pitchFamily="2" charset="0"/>
              </a:rPr>
              <a:t>4</a:t>
            </a:fld>
            <a:r>
              <a:rPr lang="ru-RU" sz="2400" dirty="0">
                <a:solidFill>
                  <a:schemeClr val="accent1">
                    <a:lumMod val="20000"/>
                    <a:lumOff val="80000"/>
                  </a:schemeClr>
                </a:solidFill>
                <a:latin typeface="Seattle Sans [RUS by me]" panose="00000400000000000000" pitchFamily="2" charset="0"/>
              </a:rPr>
              <a:t>/11</a:t>
            </a:r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465131" y="146280"/>
            <a:ext cx="916371" cy="586740"/>
          </a:xfrm>
          <a:prstGeom prst="rect">
            <a:avLst/>
          </a:prstGeom>
          <a:effectLst>
            <a:glow rad="152400">
              <a:schemeClr val="accent1">
                <a:alpha val="21000"/>
              </a:schemeClr>
            </a:glow>
          </a:effectLst>
        </p:spPr>
      </p:pic>
      <p:pic>
        <p:nvPicPr>
          <p:cNvPr id="48" name="Рисунок 47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6925" y="-11554"/>
            <a:ext cx="916371" cy="916371"/>
          </a:xfrm>
          <a:prstGeom prst="rect">
            <a:avLst/>
          </a:prstGeom>
          <a:effectLst>
            <a:glow rad="38100">
              <a:schemeClr val="accent1">
                <a:alpha val="40000"/>
              </a:schemeClr>
            </a:glow>
          </a:effectLst>
        </p:spPr>
      </p:pic>
      <p:pic>
        <p:nvPicPr>
          <p:cNvPr id="49" name="Picture 2" descr="M:\Эмбдема КВВУ из вектора.tif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00550" y="-39658"/>
            <a:ext cx="775931" cy="9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utoShape 2" descr="https://2.bp.blogspot.com/-r5byV_OS0W0/XLwdZMJSjSI/AAAAAAABHgs/RzaI5rtrTg0JULGfOz1PusXeOIUMM8kkwCEwYBhgL/s1600/3601877618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4" name="AutoShape 4" descr="https://2.bp.blogspot.com/-r5byV_OS0W0/XLwdZMJSjSI/AAAAAAABHgs/RzaI5rtrTg0JULGfOz1PusXeOIUMM8kkwCEwYBhgL/s1600/3601877618.jp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978DEF3-DD50-AF0E-44C0-6AC4209CEE12}"/>
              </a:ext>
            </a:extLst>
          </p:cNvPr>
          <p:cNvSpPr txBox="1"/>
          <p:nvPr/>
        </p:nvSpPr>
        <p:spPr>
          <a:xfrm>
            <a:off x="3604550" y="208932"/>
            <a:ext cx="571979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mbria Math" panose="02040503050406030204" pitchFamily="18" charset="0"/>
              </a:rPr>
              <a:t>АКТУАЛЬНОСТЬ 3/3</a:t>
            </a:r>
            <a:r>
              <a:rPr lang="ru-RU" sz="1600" dirty="0">
                <a:effectLst/>
                <a:latin typeface="Times New Roman" panose="02020603050405020304" pitchFamily="18" charset="0"/>
                <a:ea typeface="Cambria Math" panose="02040503050406030204" pitchFamily="18" charset="0"/>
              </a:rPr>
              <a:t>:</a:t>
            </a:r>
            <a:endParaRPr lang="ru-RU" sz="1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Прямоугольник: скругленные углы 34">
            <a:extLst>
              <a:ext uri="{FF2B5EF4-FFF2-40B4-BE49-F238E27FC236}">
                <a16:creationId xmlns:a16="http://schemas.microsoft.com/office/drawing/2014/main" id="{78B4246E-D3FD-4885-BFF3-28266449F301}"/>
              </a:ext>
            </a:extLst>
          </p:cNvPr>
          <p:cNvSpPr/>
          <p:nvPr/>
        </p:nvSpPr>
        <p:spPr>
          <a:xfrm>
            <a:off x="41275" y="957946"/>
            <a:ext cx="2867026" cy="201656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just">
              <a:lnSpc>
                <a:spcPct val="122000"/>
              </a:lnSpc>
            </a:pPr>
            <a:r>
              <a:rPr lang="en-US" sz="1000" i="1" noProof="1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ea typeface="PT Sans"/>
                <a:cs typeface="Times New Roman" panose="02020603050405020304" pitchFamily="18" charset="0"/>
              </a:rPr>
              <a:t>Полный жизненный цикл картографической и геопространственной информации (КГИ): </a:t>
            </a:r>
            <a:r>
              <a:rPr lang="en-US" sz="1000" b="1" i="1" noProof="1">
                <a:solidFill>
                  <a:srgbClr val="1F27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PT Sans"/>
                <a:cs typeface="Times New Roman" panose="02020603050405020304" pitchFamily="18" charset="0"/>
              </a:rPr>
              <a:t>создание → обработка → хранение → доведение → обновление</a:t>
            </a:r>
            <a:r>
              <a:rPr lang="ru-RU" sz="1000" b="1" i="1" noProof="1">
                <a:solidFill>
                  <a:srgbClr val="1F27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PT Sans"/>
                <a:cs typeface="Times New Roman" panose="02020603050405020304" pitchFamily="18" charset="0"/>
              </a:rPr>
              <a:t>.</a:t>
            </a:r>
            <a:endParaRPr lang="en-US" sz="1000" b="1" i="1" noProof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22000"/>
              </a:lnSpc>
              <a:spcBef>
                <a:spcPts val="400"/>
              </a:spcBef>
            </a:pPr>
            <a:r>
              <a:rPr lang="ru-RU" sz="1000" noProof="1">
                <a:solidFill>
                  <a:srgbClr val="1F2733"/>
                </a:solidFill>
                <a:latin typeface="Times New Roman" panose="02020603050405020304" pitchFamily="18" charset="0"/>
                <a:ea typeface="PT Sans"/>
                <a:cs typeface="Times New Roman" panose="02020603050405020304" pitchFamily="18" charset="0"/>
              </a:rPr>
              <a:t>-</a:t>
            </a:r>
            <a:r>
              <a:rPr lang="en-US" sz="1000" noProof="1">
                <a:solidFill>
                  <a:srgbClr val="1F2733"/>
                </a:solidFill>
                <a:latin typeface="Times New Roman" panose="02020603050405020304" pitchFamily="18" charset="0"/>
                <a:ea typeface="PT Sans"/>
                <a:cs typeface="Times New Roman" panose="02020603050405020304" pitchFamily="18" charset="0"/>
              </a:rPr>
              <a:t> </a:t>
            </a:r>
            <a:r>
              <a:rPr lang="en-US" sz="1000" b="1" noProof="1">
                <a:solidFill>
                  <a:srgbClr val="1F2733"/>
                </a:solidFill>
                <a:latin typeface="Times New Roman" panose="02020603050405020304" pitchFamily="18" charset="0"/>
                <a:ea typeface="PT Sans"/>
                <a:cs typeface="Times New Roman" panose="02020603050405020304" pitchFamily="18" charset="0"/>
              </a:rPr>
              <a:t>открытая КГИ</a:t>
            </a:r>
            <a:r>
              <a:rPr lang="en-US" sz="1000" noProof="1">
                <a:solidFill>
                  <a:srgbClr val="1F2733"/>
                </a:solidFill>
                <a:latin typeface="Times New Roman" panose="02020603050405020304" pitchFamily="18" charset="0"/>
                <a:ea typeface="PT Sans"/>
                <a:cs typeface="Times New Roman" panose="02020603050405020304" pitchFamily="18" charset="0"/>
              </a:rPr>
              <a:t> </a:t>
            </a:r>
            <a:r>
              <a:rPr lang="ru-RU" sz="1000" noProof="1">
                <a:solidFill>
                  <a:srgbClr val="1F2733"/>
                </a:solidFill>
                <a:latin typeface="Times New Roman" panose="02020603050405020304" pitchFamily="18" charset="0"/>
                <a:ea typeface="PT Sans"/>
                <a:cs typeface="Times New Roman" panose="02020603050405020304" pitchFamily="18" charset="0"/>
              </a:rPr>
              <a:t>-</a:t>
            </a:r>
            <a:r>
              <a:rPr lang="en-US" sz="1000" noProof="1">
                <a:solidFill>
                  <a:srgbClr val="1F2733"/>
                </a:solidFill>
                <a:latin typeface="Times New Roman" panose="02020603050405020304" pitchFamily="18" charset="0"/>
                <a:ea typeface="PT Sans"/>
                <a:cs typeface="Times New Roman" panose="02020603050405020304" pitchFamily="18" charset="0"/>
              </a:rPr>
              <a:t> обеспечение безопасности мореплавания</a:t>
            </a:r>
            <a:r>
              <a:rPr lang="ru-RU" sz="1000" noProof="1">
                <a:solidFill>
                  <a:srgbClr val="1F2733"/>
                </a:solidFill>
                <a:latin typeface="Times New Roman" panose="02020603050405020304" pitchFamily="18" charset="0"/>
                <a:ea typeface="PT Sans"/>
                <a:cs typeface="Times New Roman" panose="02020603050405020304" pitchFamily="18" charset="0"/>
              </a:rPr>
              <a:t>;</a:t>
            </a:r>
            <a:endParaRPr lang="en-US" sz="1000" noProof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22000"/>
              </a:lnSpc>
            </a:pPr>
            <a:r>
              <a:rPr lang="ru-RU" sz="1000" noProof="1">
                <a:solidFill>
                  <a:srgbClr val="1F2733"/>
                </a:solidFill>
                <a:latin typeface="Times New Roman" panose="02020603050405020304" pitchFamily="18" charset="0"/>
                <a:ea typeface="PT Sans"/>
                <a:cs typeface="Times New Roman" panose="02020603050405020304" pitchFamily="18" charset="0"/>
              </a:rPr>
              <a:t>- </a:t>
            </a:r>
            <a:r>
              <a:rPr lang="en-US" sz="1000" b="1" noProof="1">
                <a:solidFill>
                  <a:srgbClr val="1F2733"/>
                </a:solidFill>
                <a:latin typeface="Times New Roman" panose="02020603050405020304" pitchFamily="18" charset="0"/>
                <a:ea typeface="PT Sans"/>
                <a:cs typeface="Times New Roman" panose="02020603050405020304" pitchFamily="18" charset="0"/>
              </a:rPr>
              <a:t>секретная</a:t>
            </a:r>
            <a:r>
              <a:rPr lang="en-US" sz="1000" noProof="1">
                <a:solidFill>
                  <a:srgbClr val="1F2733"/>
                </a:solidFill>
                <a:latin typeface="Times New Roman" panose="02020603050405020304" pitchFamily="18" charset="0"/>
                <a:ea typeface="PT Sans"/>
                <a:cs typeface="Times New Roman" panose="02020603050405020304" pitchFamily="18" charset="0"/>
              </a:rPr>
              <a:t> </a:t>
            </a:r>
            <a:r>
              <a:rPr lang="ru-RU" sz="1000" noProof="1">
                <a:solidFill>
                  <a:srgbClr val="1F2733"/>
                </a:solidFill>
                <a:latin typeface="Times New Roman" panose="02020603050405020304" pitchFamily="18" charset="0"/>
                <a:ea typeface="PT Sans"/>
                <a:cs typeface="Times New Roman" panose="02020603050405020304" pitchFamily="18" charset="0"/>
              </a:rPr>
              <a:t>-</a:t>
            </a:r>
            <a:r>
              <a:rPr lang="en-US" sz="1000" noProof="1">
                <a:solidFill>
                  <a:srgbClr val="1F2733"/>
                </a:solidFill>
                <a:latin typeface="Times New Roman" panose="02020603050405020304" pitchFamily="18" charset="0"/>
                <a:ea typeface="PT Sans"/>
                <a:cs typeface="Times New Roman" panose="02020603050405020304" pitchFamily="18" charset="0"/>
              </a:rPr>
              <a:t> навигационное обеспечение сил флота</a:t>
            </a:r>
            <a:r>
              <a:rPr lang="ru-RU" sz="1000" noProof="1">
                <a:solidFill>
                  <a:srgbClr val="1F2733"/>
                </a:solidFill>
                <a:latin typeface="Times New Roman" panose="02020603050405020304" pitchFamily="18" charset="0"/>
                <a:ea typeface="PT Sans"/>
                <a:cs typeface="Times New Roman" panose="02020603050405020304" pitchFamily="18" charset="0"/>
              </a:rPr>
              <a:t>;</a:t>
            </a:r>
            <a:endParaRPr lang="en-US" sz="1000" noProof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22000"/>
              </a:lnSpc>
            </a:pPr>
            <a:r>
              <a:rPr lang="ru-RU" sz="1000" b="1" noProof="1">
                <a:solidFill>
                  <a:srgbClr val="1F2733"/>
                </a:solidFill>
                <a:latin typeface="Times New Roman" panose="02020603050405020304" pitchFamily="18" charset="0"/>
                <a:ea typeface="PT Sans"/>
                <a:cs typeface="Times New Roman" panose="02020603050405020304" pitchFamily="18" charset="0"/>
              </a:rPr>
              <a:t>- </a:t>
            </a:r>
            <a:r>
              <a:rPr lang="en-US" sz="1000" b="1" noProof="1">
                <a:solidFill>
                  <a:srgbClr val="1F2733"/>
                </a:solidFill>
                <a:latin typeface="Times New Roman" panose="02020603050405020304" pitchFamily="18" charset="0"/>
                <a:ea typeface="PT Sans"/>
                <a:cs typeface="Times New Roman" panose="02020603050405020304" pitchFamily="18" charset="0"/>
              </a:rPr>
              <a:t>совершенно секретная</a:t>
            </a:r>
            <a:r>
              <a:rPr lang="en-US" sz="1000" noProof="1">
                <a:solidFill>
                  <a:srgbClr val="1F2733"/>
                </a:solidFill>
                <a:latin typeface="Times New Roman" panose="02020603050405020304" pitchFamily="18" charset="0"/>
                <a:ea typeface="PT Sans"/>
                <a:cs typeface="Times New Roman" panose="02020603050405020304" pitchFamily="18" charset="0"/>
              </a:rPr>
              <a:t> </a:t>
            </a:r>
            <a:r>
              <a:rPr lang="ru-RU" sz="1000" noProof="1">
                <a:solidFill>
                  <a:srgbClr val="1F2733"/>
                </a:solidFill>
                <a:latin typeface="Times New Roman" panose="02020603050405020304" pitchFamily="18" charset="0"/>
                <a:ea typeface="PT Sans"/>
                <a:cs typeface="Times New Roman" panose="02020603050405020304" pitchFamily="18" charset="0"/>
              </a:rPr>
              <a:t>-</a:t>
            </a:r>
            <a:r>
              <a:rPr lang="en-US" sz="1000" noProof="1">
                <a:solidFill>
                  <a:srgbClr val="1F2733"/>
                </a:solidFill>
                <a:latin typeface="Times New Roman" panose="02020603050405020304" pitchFamily="18" charset="0"/>
                <a:ea typeface="PT Sans"/>
                <a:cs typeface="Times New Roman" panose="02020603050405020304" pitchFamily="18" charset="0"/>
              </a:rPr>
              <a:t> обеспечение применения высокоточного оружия</a:t>
            </a:r>
            <a:r>
              <a:rPr lang="ru-RU" sz="1000" noProof="1">
                <a:solidFill>
                  <a:srgbClr val="1F2733"/>
                </a:solidFill>
                <a:latin typeface="Times New Roman" panose="02020603050405020304" pitchFamily="18" charset="0"/>
                <a:ea typeface="PT Sans"/>
                <a:cs typeface="Times New Roman" panose="02020603050405020304" pitchFamily="18" charset="0"/>
              </a:rPr>
              <a:t>. </a:t>
            </a:r>
            <a:endParaRPr lang="en-US" sz="1000" noProof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4FEA5F0A-9254-4393-A41A-52214D1D292F}"/>
              </a:ext>
            </a:extLst>
          </p:cNvPr>
          <p:cNvSpPr/>
          <p:nvPr/>
        </p:nvSpPr>
        <p:spPr>
          <a:xfrm>
            <a:off x="38099" y="2974509"/>
            <a:ext cx="2651312" cy="1094670"/>
          </a:xfrm>
          <a:prstGeom prst="roundRect">
            <a:avLst/>
          </a:prstGeom>
          <a:solidFill>
            <a:srgbClr val="FFFF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800" b="1" noProof="1">
              <a:solidFill>
                <a:srgbClr val="1F2733"/>
              </a:solidFill>
              <a:latin typeface="Times New Roman" panose="02020603050405020304" pitchFamily="18" charset="0"/>
              <a:ea typeface="PT Sans"/>
              <a:cs typeface="Times New Roman" panose="02020603050405020304" pitchFamily="18" charset="0"/>
            </a:endParaRPr>
          </a:p>
          <a:p>
            <a:pPr algn="ctr"/>
            <a:r>
              <a:rPr lang="ru-RU" sz="800" b="1" noProof="1">
                <a:solidFill>
                  <a:srgbClr val="1F2733"/>
                </a:solidFill>
                <a:latin typeface="Times New Roman" panose="02020603050405020304" pitchFamily="18" charset="0"/>
                <a:ea typeface="PT Sans"/>
                <a:cs typeface="Times New Roman" panose="02020603050405020304" pitchFamily="18" charset="0"/>
              </a:rPr>
              <a:t>Целенаправленная компьютерная атака </a:t>
            </a:r>
          </a:p>
          <a:p>
            <a:pPr algn="just">
              <a:lnSpc>
                <a:spcPct val="125000"/>
              </a:lnSpc>
            </a:pPr>
            <a:r>
              <a:rPr lang="en-US" sz="800" noProof="1">
                <a:solidFill>
                  <a:srgbClr val="1F2733"/>
                </a:solidFill>
                <a:latin typeface="Times New Roman" panose="02020603050405020304" pitchFamily="18" charset="0"/>
                <a:ea typeface="PT Sans"/>
                <a:cs typeface="Times New Roman" panose="02020603050405020304" pitchFamily="18" charset="0"/>
              </a:rPr>
              <a:t>захват узлов, подмена данных, нарушение согласования единой версии записей</a:t>
            </a:r>
            <a:endParaRPr lang="en-US" sz="800" noProof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25000"/>
              </a:lnSpc>
            </a:pPr>
            <a:r>
              <a:rPr lang="en-US" sz="800" b="1" noProof="1">
                <a:solidFill>
                  <a:srgbClr val="C0392B"/>
                </a:solidFill>
                <a:latin typeface="Times New Roman" panose="02020603050405020304" pitchFamily="18" charset="0"/>
                <a:ea typeface="PT Sans"/>
                <a:cs typeface="Times New Roman" panose="02020603050405020304" pitchFamily="18" charset="0"/>
              </a:rPr>
              <a:t>&gt;208 тыс. особо опасных кибератак на объекты КИИ РФ за 2024 г. (Совет Безопасности РФ, 19.06.2025)</a:t>
            </a:r>
            <a:r>
              <a:rPr lang="ru-RU" sz="800" b="1" noProof="1">
                <a:solidFill>
                  <a:srgbClr val="C0392B"/>
                </a:solidFill>
                <a:latin typeface="Times New Roman" panose="02020603050405020304" pitchFamily="18" charset="0"/>
                <a:ea typeface="PT Sans"/>
                <a:cs typeface="Times New Roman" panose="02020603050405020304" pitchFamily="18" charset="0"/>
              </a:rPr>
              <a:t> </a:t>
            </a:r>
            <a:r>
              <a:rPr lang="ru-RU" sz="800" noProof="1">
                <a:solidFill>
                  <a:schemeClr val="tx1"/>
                </a:solidFill>
                <a:latin typeface="Times New Roman" panose="02020603050405020304" pitchFamily="18" charset="0"/>
                <a:ea typeface="PT Sans"/>
                <a:cs typeface="Times New Roman" panose="02020603050405020304" pitchFamily="18" charset="0"/>
              </a:rPr>
              <a:t>Доклад</a:t>
            </a:r>
            <a:r>
              <a:rPr lang="ru-RU" sz="800" b="1" noProof="1">
                <a:solidFill>
                  <a:schemeClr val="tx1"/>
                </a:solidFill>
                <a:latin typeface="Times New Roman" panose="02020603050405020304" pitchFamily="18" charset="0"/>
                <a:ea typeface="PT Sans"/>
                <a:cs typeface="Times New Roman" panose="02020603050405020304" pitchFamily="18" charset="0"/>
              </a:rPr>
              <a:t> </a:t>
            </a:r>
            <a:r>
              <a:rPr lang="ru-RU" sz="800" b="0" i="0" dirty="0">
                <a:solidFill>
                  <a:srgbClr val="45454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заместителя секретаря Совета безопасности РФ Алексея </a:t>
            </a:r>
            <a:r>
              <a:rPr lang="ru-RU" sz="800" b="0" i="0" dirty="0" err="1">
                <a:solidFill>
                  <a:srgbClr val="45454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Щевцова</a:t>
            </a:r>
            <a:r>
              <a:rPr lang="ru-RU" sz="800" b="0" i="0" dirty="0">
                <a:solidFill>
                  <a:srgbClr val="45454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800" noProof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800" noProof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Прямоугольник: скругленные углы 24">
            <a:extLst>
              <a:ext uri="{FF2B5EF4-FFF2-40B4-BE49-F238E27FC236}">
                <a16:creationId xmlns:a16="http://schemas.microsoft.com/office/drawing/2014/main" id="{85F4B0C1-287F-4482-8913-390E882C8E0D}"/>
              </a:ext>
            </a:extLst>
          </p:cNvPr>
          <p:cNvSpPr/>
          <p:nvPr/>
        </p:nvSpPr>
        <p:spPr>
          <a:xfrm>
            <a:off x="38099" y="4151843"/>
            <a:ext cx="2651312" cy="1311119"/>
          </a:xfrm>
          <a:prstGeom prst="roundRect">
            <a:avLst/>
          </a:prstGeom>
          <a:solidFill>
            <a:srgbClr val="FFFF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800" b="1" noProof="1">
              <a:solidFill>
                <a:srgbClr val="1F2733"/>
              </a:solidFill>
              <a:latin typeface="Times New Roman" panose="02020603050405020304" pitchFamily="18" charset="0"/>
              <a:ea typeface="PT Sans"/>
              <a:cs typeface="Times New Roman" panose="02020603050405020304" pitchFamily="18" charset="0"/>
            </a:endParaRPr>
          </a:p>
          <a:p>
            <a:pPr algn="ctr"/>
            <a:r>
              <a:rPr lang="ru-RU" sz="800" b="1" noProof="1">
                <a:solidFill>
                  <a:srgbClr val="1F2733"/>
                </a:solidFill>
                <a:latin typeface="Times New Roman" panose="02020603050405020304" pitchFamily="18" charset="0"/>
                <a:ea typeface="PT Sans"/>
                <a:cs typeface="Times New Roman" panose="02020603050405020304" pitchFamily="18" charset="0"/>
              </a:rPr>
              <a:t>Радиоэлектронное подавление (РЭП)</a:t>
            </a:r>
          </a:p>
          <a:p>
            <a:pPr algn="just">
              <a:lnSpc>
                <a:spcPct val="125000"/>
              </a:lnSpc>
            </a:pPr>
            <a:r>
              <a:rPr lang="en-US" sz="800" noProof="1">
                <a:solidFill>
                  <a:srgbClr val="1F2733"/>
                </a:solidFill>
                <a:latin typeface="Times New Roman" panose="02020603050405020304" pitchFamily="18" charset="0"/>
                <a:ea typeface="PT Sans"/>
                <a:cs typeface="Times New Roman" panose="02020603050405020304" pitchFamily="18" charset="0"/>
              </a:rPr>
              <a:t>подавление каналов связи </a:t>
            </a:r>
            <a:r>
              <a:rPr lang="ru-RU" sz="800" noProof="1">
                <a:solidFill>
                  <a:srgbClr val="1F2733"/>
                </a:solidFill>
                <a:latin typeface="Times New Roman" panose="02020603050405020304" pitchFamily="18" charset="0"/>
                <a:ea typeface="PT Sans"/>
                <a:cs typeface="Times New Roman" panose="02020603050405020304" pitchFamily="18" charset="0"/>
              </a:rPr>
              <a:t>-</a:t>
            </a:r>
            <a:r>
              <a:rPr lang="en-US" sz="800" noProof="1">
                <a:solidFill>
                  <a:srgbClr val="1F2733"/>
                </a:solidFill>
                <a:latin typeface="Times New Roman" panose="02020603050405020304" pitchFamily="18" charset="0"/>
                <a:ea typeface="PT Sans"/>
                <a:cs typeface="Times New Roman" panose="02020603050405020304" pitchFamily="18" charset="0"/>
              </a:rPr>
              <a:t> деградация и обрывы соединений между узлами</a:t>
            </a:r>
            <a:endParaRPr lang="en-US" sz="800" noProof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25000"/>
              </a:lnSpc>
            </a:pPr>
            <a:r>
              <a:rPr lang="en-US" sz="800" b="1" noProof="1">
                <a:solidFill>
                  <a:srgbClr val="C0392B"/>
                </a:solidFill>
                <a:latin typeface="Times New Roman" panose="02020603050405020304" pitchFamily="18" charset="0"/>
                <a:ea typeface="PT Sans"/>
                <a:cs typeface="Times New Roman" panose="02020603050405020304" pitchFamily="18" charset="0"/>
              </a:rPr>
              <a:t>&gt;21 тыс. DDoS-атак на сети связи РФ за 2025 г. - в 2 раза больше, чем в 2024-м </a:t>
            </a:r>
            <a:r>
              <a:rPr lang="ru-RU" sz="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Источник: Центр мониторинга и управления сетью связи общего пользования (</a:t>
            </a:r>
            <a:r>
              <a:rPr lang="ru-RU" sz="8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ЦМУ ССОП</a:t>
            </a:r>
            <a:r>
              <a:rPr lang="ru-RU" sz="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подведомствен Роскомнадзору).</a:t>
            </a:r>
            <a:r>
              <a:rPr lang="ru-RU" sz="800" b="1" i="0" dirty="0">
                <a:effectLst/>
                <a:latin typeface="-apple-system"/>
              </a:rPr>
              <a:t> </a:t>
            </a:r>
            <a:r>
              <a:rPr lang="ru-RU" sz="8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«Коммерсантъ» 19.01.2026</a:t>
            </a:r>
            <a:r>
              <a:rPr lang="ru-RU" sz="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г.</a:t>
            </a:r>
            <a:endParaRPr lang="en-US" sz="800" noProof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800" noProof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Прямоугольник: скругленные углы 25">
            <a:extLst>
              <a:ext uri="{FF2B5EF4-FFF2-40B4-BE49-F238E27FC236}">
                <a16:creationId xmlns:a16="http://schemas.microsoft.com/office/drawing/2014/main" id="{0ACD52FA-D034-41D7-B8BB-D8A622D4BDEE}"/>
              </a:ext>
            </a:extLst>
          </p:cNvPr>
          <p:cNvSpPr/>
          <p:nvPr/>
        </p:nvSpPr>
        <p:spPr>
          <a:xfrm>
            <a:off x="38099" y="5560567"/>
            <a:ext cx="2651312" cy="1237108"/>
          </a:xfrm>
          <a:prstGeom prst="roundRect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b="1" noProof="1">
                <a:solidFill>
                  <a:srgbClr val="1F2733"/>
                </a:solidFill>
                <a:latin typeface="Times New Roman" panose="02020603050405020304" pitchFamily="18" charset="0"/>
                <a:ea typeface="PT Sans"/>
                <a:cs typeface="Times New Roman" panose="02020603050405020304" pitchFamily="18" charset="0"/>
              </a:rPr>
              <a:t>Разрыв тактических сетей </a:t>
            </a:r>
          </a:p>
          <a:p>
            <a:pPr algn="just">
              <a:lnSpc>
                <a:spcPct val="125000"/>
              </a:lnSpc>
            </a:pPr>
            <a:r>
              <a:rPr lang="en-US" sz="800" noProof="1">
                <a:solidFill>
                  <a:srgbClr val="1F2733"/>
                </a:solidFill>
                <a:latin typeface="Times New Roman" panose="02020603050405020304" pitchFamily="18" charset="0"/>
                <a:ea typeface="PT Sans"/>
                <a:cs typeface="Times New Roman" panose="02020603050405020304" pitchFamily="18" charset="0"/>
              </a:rPr>
              <a:t>динамично меняющаяся обстановка: частые обрывы связи, сегментация сети на изолированные области</a:t>
            </a:r>
            <a:endParaRPr lang="en-US" sz="800" noProof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25000"/>
              </a:lnSpc>
            </a:pPr>
            <a:r>
              <a:rPr lang="en-US" sz="800" b="1" noProof="1">
                <a:solidFill>
                  <a:srgbClr val="C0392B"/>
                </a:solidFill>
                <a:latin typeface="Times New Roman" panose="02020603050405020304" pitchFamily="18" charset="0"/>
                <a:ea typeface="PT Sans"/>
                <a:cs typeface="Times New Roman" panose="02020603050405020304" pitchFamily="18" charset="0"/>
              </a:rPr>
              <a:t>34% всех DDoS-атак в РФ в 2025 г., рост +62% к 2024 г.</a:t>
            </a:r>
            <a:r>
              <a:rPr lang="ru-RU" sz="800" b="1" noProof="1">
                <a:solidFill>
                  <a:srgbClr val="C0392B"/>
                </a:solidFill>
                <a:latin typeface="Times New Roman" panose="02020603050405020304" pitchFamily="18" charset="0"/>
                <a:ea typeface="PT Sans"/>
                <a:cs typeface="Times New Roman" panose="02020603050405020304" pitchFamily="18" charset="0"/>
              </a:rPr>
              <a:t> </a:t>
            </a:r>
            <a:r>
              <a:rPr lang="ru-RU" sz="800" b="1" noProof="1">
                <a:solidFill>
                  <a:schemeClr val="tx1"/>
                </a:solidFill>
                <a:latin typeface="Times New Roman" panose="02020603050405020304" pitchFamily="18" charset="0"/>
                <a:ea typeface="PT Sans"/>
                <a:cs typeface="Times New Roman" panose="02020603050405020304" pitchFamily="18" charset="0"/>
              </a:rPr>
              <a:t>Источник: </a:t>
            </a:r>
            <a:r>
              <a:rPr lang="ru-RU" sz="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центр компании </a:t>
            </a:r>
            <a:r>
              <a:rPr lang="en-US" sz="800" b="1" i="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StormWall</a:t>
            </a:r>
            <a:r>
              <a:rPr lang="ru-RU" sz="8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исследование по итогам 2025 года, опубликовано </a:t>
            </a:r>
            <a:r>
              <a:rPr lang="ru-RU" sz="8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16.01.2026</a:t>
            </a:r>
            <a:endParaRPr lang="en-US" sz="800" b="1" noProof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Прямая со стрелкой 4">
            <a:extLst>
              <a:ext uri="{FF2B5EF4-FFF2-40B4-BE49-F238E27FC236}">
                <a16:creationId xmlns:a16="http://schemas.microsoft.com/office/drawing/2014/main" id="{A44CC8A3-AAF5-4A78-91F6-A09852C2369A}"/>
              </a:ext>
            </a:extLst>
          </p:cNvPr>
          <p:cNvCxnSpPr>
            <a:cxnSpLocks/>
          </p:cNvCxnSpPr>
          <p:nvPr/>
        </p:nvCxnSpPr>
        <p:spPr>
          <a:xfrm>
            <a:off x="2689411" y="3543300"/>
            <a:ext cx="349064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8" name="Прямая со стрелкой 27">
            <a:extLst>
              <a:ext uri="{FF2B5EF4-FFF2-40B4-BE49-F238E27FC236}">
                <a16:creationId xmlns:a16="http://schemas.microsoft.com/office/drawing/2014/main" id="{D3A4537F-E4BC-41D0-BE8B-2584F15B56EF}"/>
              </a:ext>
            </a:extLst>
          </p:cNvPr>
          <p:cNvCxnSpPr>
            <a:cxnSpLocks/>
          </p:cNvCxnSpPr>
          <p:nvPr/>
        </p:nvCxnSpPr>
        <p:spPr>
          <a:xfrm>
            <a:off x="2689411" y="4772025"/>
            <a:ext cx="349064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9" name="Прямая со стрелкой 28">
            <a:extLst>
              <a:ext uri="{FF2B5EF4-FFF2-40B4-BE49-F238E27FC236}">
                <a16:creationId xmlns:a16="http://schemas.microsoft.com/office/drawing/2014/main" id="{90676E44-A365-43CE-92B1-0FD1477EE1FF}"/>
              </a:ext>
            </a:extLst>
          </p:cNvPr>
          <p:cNvCxnSpPr>
            <a:cxnSpLocks/>
          </p:cNvCxnSpPr>
          <p:nvPr/>
        </p:nvCxnSpPr>
        <p:spPr>
          <a:xfrm>
            <a:off x="2689411" y="6191250"/>
            <a:ext cx="349064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8D86621-CC61-4A2A-88CC-54A7E892456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38475" y="957945"/>
            <a:ext cx="9046078" cy="5900053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532209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928BCBB8-82E3-40B5-8C09-32C4288D6D4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117"/>
          <a:stretch/>
        </p:blipFill>
        <p:spPr>
          <a:xfrm>
            <a:off x="0" y="453937"/>
            <a:ext cx="12176481" cy="6404063"/>
          </a:xfrm>
          <a:prstGeom prst="rect">
            <a:avLst/>
          </a:prstGeom>
        </p:spPr>
      </p:pic>
      <p:pic>
        <p:nvPicPr>
          <p:cNvPr id="19" name="Рисунок 18"/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2415"/>
                    </a14:imgEffect>
                    <a14:imgEffect>
                      <a14:saturation sat="4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030" b="80536"/>
          <a:stretch/>
        </p:blipFill>
        <p:spPr>
          <a:xfrm>
            <a:off x="0" y="-18660"/>
            <a:ext cx="12192000" cy="929320"/>
          </a:xfrm>
          <a:prstGeom prst="rect">
            <a:avLst/>
          </a:prstGeom>
          <a:noFill/>
        </p:spPr>
      </p:pic>
      <p:sp>
        <p:nvSpPr>
          <p:cNvPr id="11" name="TextBox 10"/>
          <p:cNvSpPr txBox="1"/>
          <p:nvPr/>
        </p:nvSpPr>
        <p:spPr>
          <a:xfrm>
            <a:off x="10607041" y="165503"/>
            <a:ext cx="844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F76AEBAD-6C8F-4C62-A860-CF8412FC108D}" type="slidenum">
              <a:rPr lang="ru-RU" sz="2400" smtClean="0">
                <a:solidFill>
                  <a:schemeClr val="accent1">
                    <a:lumMod val="20000"/>
                    <a:lumOff val="80000"/>
                  </a:schemeClr>
                </a:solidFill>
                <a:latin typeface="Seattle Sans [RUS by me]" panose="00000400000000000000" pitchFamily="2" charset="0"/>
              </a:rPr>
              <a:t>5</a:t>
            </a:fld>
            <a:r>
              <a:rPr lang="ru-RU" sz="2400" dirty="0">
                <a:solidFill>
                  <a:schemeClr val="accent1">
                    <a:lumMod val="20000"/>
                    <a:lumOff val="80000"/>
                  </a:schemeClr>
                </a:solidFill>
                <a:latin typeface="Seattle Sans [RUS by me]" panose="00000400000000000000" pitchFamily="2" charset="0"/>
              </a:rPr>
              <a:t>/11</a:t>
            </a:r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512431" y="125646"/>
            <a:ext cx="910410" cy="657488"/>
          </a:xfrm>
          <a:prstGeom prst="rect">
            <a:avLst/>
          </a:prstGeom>
          <a:effectLst>
            <a:glow rad="152400">
              <a:schemeClr val="accent1">
                <a:alpha val="21000"/>
              </a:schemeClr>
            </a:glow>
          </a:effectLst>
        </p:spPr>
      </p:pic>
      <p:pic>
        <p:nvPicPr>
          <p:cNvPr id="48" name="Рисунок 47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6925" y="-59177"/>
            <a:ext cx="916371" cy="916371"/>
          </a:xfrm>
          <a:prstGeom prst="rect">
            <a:avLst/>
          </a:prstGeom>
          <a:effectLst>
            <a:glow rad="38100">
              <a:schemeClr val="accent1">
                <a:alpha val="40000"/>
              </a:schemeClr>
            </a:glow>
          </a:effectLst>
        </p:spPr>
      </p:pic>
      <p:pic>
        <p:nvPicPr>
          <p:cNvPr id="49" name="Picture 2" descr="M:\Эмбдема КВВУ из вектора.tif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00550" y="-39658"/>
            <a:ext cx="775931" cy="9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utoShape 2" descr="https://2.bp.blogspot.com/-r5byV_OS0W0/XLwdZMJSjSI/AAAAAAABHgs/RzaI5rtrTg0JULGfOz1PusXeOIUMM8kkwCEwYBhgL/s1600/3601877618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4" name="AutoShape 4" descr="https://2.bp.blogspot.com/-r5byV_OS0W0/XLwdZMJSjSI/AAAAAAABHgs/RzaI5rtrTg0JULGfOz1PusXeOIUMM8kkwCEwYBhgL/s1600/3601877618.jp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978DEF3-DD50-AF0E-44C0-6AC4209CEE12}"/>
              </a:ext>
            </a:extLst>
          </p:cNvPr>
          <p:cNvSpPr txBox="1"/>
          <p:nvPr/>
        </p:nvSpPr>
        <p:spPr>
          <a:xfrm>
            <a:off x="4005119" y="157980"/>
            <a:ext cx="4690426" cy="65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ru-RU" sz="1600" b="1" noProof="1">
                <a:solidFill>
                  <a:schemeClr val="bg1"/>
                </a:solidFill>
                <a:latin typeface="Times New Roman" panose="02020603050405020304" pitchFamily="18" charset="0"/>
                <a:ea typeface="PT Serif"/>
                <a:cs typeface="Times New Roman" panose="02020603050405020304" pitchFamily="18" charset="0"/>
              </a:rPr>
              <a:t>МОДЕЛЬ </a:t>
            </a:r>
            <a:r>
              <a:rPr lang="en-US" sz="1600" b="1" noProof="1">
                <a:solidFill>
                  <a:schemeClr val="bg1"/>
                </a:solidFill>
                <a:latin typeface="Times New Roman" panose="02020603050405020304" pitchFamily="18" charset="0"/>
                <a:ea typeface="PT Serif"/>
                <a:cs typeface="Times New Roman" panose="02020603050405020304" pitchFamily="18" charset="0"/>
              </a:rPr>
              <a:t>НАРУШИТЕ</a:t>
            </a:r>
            <a:r>
              <a:rPr lang="ru-RU" sz="1600" b="1" noProof="1">
                <a:solidFill>
                  <a:schemeClr val="bg1"/>
                </a:solidFill>
                <a:latin typeface="Times New Roman" panose="02020603050405020304" pitchFamily="18" charset="0"/>
                <a:ea typeface="PT Serif"/>
                <a:cs typeface="Times New Roman" panose="02020603050405020304" pitchFamily="18" charset="0"/>
              </a:rPr>
              <a:t>Й</a:t>
            </a:r>
            <a:endParaRPr lang="en-US" sz="1600" noProof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endParaRPr lang="en-US" sz="1600" noProof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Rounded Rectangle 51">
            <a:extLst>
              <a:ext uri="{FF2B5EF4-FFF2-40B4-BE49-F238E27FC236}">
                <a16:creationId xmlns:a16="http://schemas.microsoft.com/office/drawing/2014/main" id="{0B11FD3D-DE56-4FAB-9CE2-95FBA9570E00}"/>
              </a:ext>
            </a:extLst>
          </p:cNvPr>
          <p:cNvSpPr/>
          <p:nvPr/>
        </p:nvSpPr>
        <p:spPr>
          <a:xfrm>
            <a:off x="9445213" y="950162"/>
            <a:ext cx="2317899" cy="195434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54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00" i="1" dirty="0">
                <a:solidFill>
                  <a:srgbClr val="1F3A5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</a:rPr>
              <a:t>Н1–Н2 </a:t>
            </a:r>
            <a:endParaRPr lang="ru-RU" sz="900" i="1" dirty="0">
              <a:solidFill>
                <a:srgbClr val="1F3A5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/>
            </a:endParaRPr>
          </a:p>
          <a:p>
            <a:pPr algn="ctr"/>
            <a:r>
              <a:rPr lang="ru-RU" sz="900" i="1" dirty="0">
                <a:solidFill>
                  <a:srgbClr val="1F3A5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</a:rPr>
              <a:t>Отдельные физические лица</a:t>
            </a:r>
            <a:r>
              <a:rPr sz="900" i="1" dirty="0">
                <a:solidFill>
                  <a:srgbClr val="1F3A5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</a:rPr>
              <a:t>, </a:t>
            </a:r>
            <a:r>
              <a:rPr lang="ru-RU" sz="900" i="1" dirty="0">
                <a:solidFill>
                  <a:srgbClr val="1F3A5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</a:rPr>
              <a:t>преступные группы</a:t>
            </a:r>
          </a:p>
          <a:p>
            <a:pPr algn="ctr"/>
            <a:r>
              <a:rPr lang="ru-RU" sz="900" b="1" i="0" dirty="0">
                <a:solidFill>
                  <a:srgbClr val="1F3A5C"/>
                </a:solidFill>
                <a:latin typeface="Times New Roman"/>
              </a:rPr>
              <a:t>УБИ.006, 008, 014, 031, 069, 074, 088, 091, 116, 140, 175 - </a:t>
            </a:r>
            <a:r>
              <a:rPr lang="ru-RU" sz="900" b="0" i="0" dirty="0">
                <a:solidFill>
                  <a:srgbClr val="1A1A1A"/>
                </a:solidFill>
                <a:latin typeface="Times New Roman"/>
              </a:rPr>
              <a:t>внедрение кода, «фишинг», «отказ в обслуживании», перехват данных в сети, НСД к учетными данными, копирование и удаление информации. </a:t>
            </a:r>
            <a:r>
              <a:rPr lang="ru-RU" sz="900" b="1" i="0" dirty="0">
                <a:solidFill>
                  <a:schemeClr val="tx1"/>
                </a:solidFill>
                <a:latin typeface="Times New Roman"/>
              </a:rPr>
              <a:t>Воздействия:</a:t>
            </a:r>
            <a:r>
              <a:rPr lang="ru-RU" sz="900" b="1" i="0" dirty="0">
                <a:solidFill>
                  <a:srgbClr val="B98A0B"/>
                </a:solidFill>
                <a:latin typeface="Times New Roman"/>
              </a:rPr>
              <a:t> </a:t>
            </a:r>
            <a:r>
              <a:rPr lang="ru-RU" sz="900" b="0" i="0" dirty="0">
                <a:solidFill>
                  <a:srgbClr val="1A1A1A"/>
                </a:solidFill>
                <a:latin typeface="Times New Roman"/>
              </a:rPr>
              <a:t>массовые нецелевые атаки, </a:t>
            </a:r>
            <a:r>
              <a:rPr lang="ru-RU" sz="900" b="0" i="0" dirty="0" err="1">
                <a:solidFill>
                  <a:srgbClr val="1A1A1A"/>
                </a:solidFill>
                <a:latin typeface="Times New Roman"/>
              </a:rPr>
              <a:t>DDoS</a:t>
            </a:r>
            <a:r>
              <a:rPr lang="ru-RU" sz="900" b="0" i="0" dirty="0">
                <a:solidFill>
                  <a:srgbClr val="1A1A1A"/>
                </a:solidFill>
                <a:latin typeface="Times New Roman"/>
              </a:rPr>
              <a:t>, перехват трафика.</a:t>
            </a:r>
            <a:endParaRPr lang="ru-RU" sz="900" b="0" i="0" dirty="0">
              <a:solidFill>
                <a:srgbClr val="1F3A5C"/>
              </a:solidFill>
              <a:latin typeface="Times New Roman"/>
            </a:endParaRPr>
          </a:p>
        </p:txBody>
      </p:sp>
      <p:sp>
        <p:nvSpPr>
          <p:cNvPr id="44" name="Rectangle 87">
            <a:extLst>
              <a:ext uri="{FF2B5EF4-FFF2-40B4-BE49-F238E27FC236}">
                <a16:creationId xmlns:a16="http://schemas.microsoft.com/office/drawing/2014/main" id="{A57FF5A7-92A0-43E3-A14E-967FA8D43A5B}"/>
              </a:ext>
            </a:extLst>
          </p:cNvPr>
          <p:cNvSpPr/>
          <p:nvPr/>
        </p:nvSpPr>
        <p:spPr>
          <a:xfrm>
            <a:off x="11840411" y="1911998"/>
            <a:ext cx="292608" cy="4066143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vert270" wrap="square" lIns="54864" tIns="27432" rIns="54864" bIns="27432" rtlCol="0" anchor="ctr"/>
          <a:lstStyle/>
          <a:p>
            <a:pPr algn="ctr"/>
            <a:r>
              <a:rPr sz="1000" b="1" i="0" dirty="0">
                <a:solidFill>
                  <a:srgbClr val="FFFFFF"/>
                </a:solidFill>
                <a:latin typeface="Times New Roman"/>
              </a:rPr>
              <a:t>ВНЕШНИЙ НАРУШИТЕЛЬ</a:t>
            </a:r>
          </a:p>
        </p:txBody>
      </p:sp>
      <p:sp>
        <p:nvSpPr>
          <p:cNvPr id="51" name="Rounded Rectangle 54">
            <a:extLst>
              <a:ext uri="{FF2B5EF4-FFF2-40B4-BE49-F238E27FC236}">
                <a16:creationId xmlns:a16="http://schemas.microsoft.com/office/drawing/2014/main" id="{29F5D792-76AC-4CFB-8B12-13F30B296A1B}"/>
              </a:ext>
            </a:extLst>
          </p:cNvPr>
          <p:cNvSpPr/>
          <p:nvPr/>
        </p:nvSpPr>
        <p:spPr>
          <a:xfrm>
            <a:off x="9427095" y="3136637"/>
            <a:ext cx="2334614" cy="172865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254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00" i="1" dirty="0">
                <a:solidFill>
                  <a:srgbClr val="1F3A5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</a:rPr>
              <a:t>Н3 </a:t>
            </a:r>
            <a:endParaRPr lang="ru-RU" sz="900" i="1" dirty="0">
              <a:solidFill>
                <a:srgbClr val="1F3A5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/>
            </a:endParaRPr>
          </a:p>
          <a:p>
            <a:pPr algn="ctr"/>
            <a:r>
              <a:rPr lang="ru-RU" sz="900" i="1" dirty="0">
                <a:solidFill>
                  <a:srgbClr val="1F3A5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</a:rPr>
              <a:t>террористические</a:t>
            </a:r>
            <a:r>
              <a:rPr sz="900" i="1" dirty="0">
                <a:solidFill>
                  <a:srgbClr val="1F3A5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</a:rPr>
              <a:t> и </a:t>
            </a:r>
            <a:r>
              <a:rPr lang="ru-RU" sz="900" i="1" dirty="0">
                <a:solidFill>
                  <a:srgbClr val="1F3A5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</a:rPr>
              <a:t>организационные преступные</a:t>
            </a:r>
            <a:r>
              <a:rPr sz="900" i="1" dirty="0">
                <a:solidFill>
                  <a:srgbClr val="1F3A5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</a:rPr>
              <a:t> </a:t>
            </a:r>
            <a:r>
              <a:rPr lang="ru-RU" sz="900" i="1" dirty="0">
                <a:solidFill>
                  <a:srgbClr val="1F3A5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</a:rPr>
              <a:t>группы</a:t>
            </a:r>
          </a:p>
          <a:p>
            <a:pPr algn="ctr"/>
            <a:r>
              <a:rPr lang="ru-RU" sz="900" b="1" i="0" dirty="0">
                <a:solidFill>
                  <a:srgbClr val="1F3A5C"/>
                </a:solidFill>
                <a:latin typeface="Times New Roman"/>
              </a:rPr>
              <a:t>УБИ.007, 127, 139, 187 - </a:t>
            </a:r>
            <a:r>
              <a:rPr lang="ru-RU" sz="900" b="0" i="0" dirty="0">
                <a:solidFill>
                  <a:srgbClr val="1A1A1A"/>
                </a:solidFill>
                <a:latin typeface="Times New Roman"/>
              </a:rPr>
              <a:t>повышение привилегий, </a:t>
            </a:r>
            <a:r>
              <a:rPr lang="ru-RU" sz="900" dirty="0">
                <a:solidFill>
                  <a:srgbClr val="1A1A1A"/>
                </a:solidFill>
                <a:latin typeface="Times New Roman"/>
              </a:rPr>
              <a:t>подмена</a:t>
            </a:r>
            <a:r>
              <a:rPr lang="ru-RU" sz="900" b="0" i="0" dirty="0">
                <a:solidFill>
                  <a:srgbClr val="1A1A1A"/>
                </a:solidFill>
                <a:latin typeface="Times New Roman"/>
              </a:rPr>
              <a:t> </a:t>
            </a:r>
            <a:r>
              <a:rPr lang="ru-RU" sz="900" b="0" i="0" dirty="0">
                <a:solidFill>
                  <a:schemeClr val="tx1"/>
                </a:solidFill>
                <a:latin typeface="Times New Roman"/>
              </a:rPr>
              <a:t>действий пользователя путем обмана, преодоление физической защиты, SQL-инъекций. </a:t>
            </a:r>
            <a:r>
              <a:rPr lang="ru-RU" sz="900" b="1" i="0" dirty="0">
                <a:solidFill>
                  <a:schemeClr val="tx1"/>
                </a:solidFill>
                <a:latin typeface="Times New Roman"/>
              </a:rPr>
              <a:t>Воздействия: </a:t>
            </a:r>
            <a:r>
              <a:rPr lang="ru-RU" sz="900" b="0" i="0" dirty="0">
                <a:solidFill>
                  <a:srgbClr val="1A1A1A"/>
                </a:solidFill>
                <a:latin typeface="Times New Roman"/>
              </a:rPr>
              <a:t>целевой фишинг операторов, эксплуатация уязвимостей ПО, проникновение на объект.</a:t>
            </a:r>
            <a:endParaRPr lang="ru-RU" sz="900" b="1" i="0" dirty="0">
              <a:solidFill>
                <a:srgbClr val="1F3A5C"/>
              </a:solidFill>
              <a:latin typeface="Times New Roman"/>
            </a:endParaRPr>
          </a:p>
        </p:txBody>
      </p:sp>
      <p:sp>
        <p:nvSpPr>
          <p:cNvPr id="52" name="Rounded Rectangle 57">
            <a:extLst>
              <a:ext uri="{FF2B5EF4-FFF2-40B4-BE49-F238E27FC236}">
                <a16:creationId xmlns:a16="http://schemas.microsoft.com/office/drawing/2014/main" id="{C819BEDA-4410-4074-BBAC-693C601BBC64}"/>
              </a:ext>
            </a:extLst>
          </p:cNvPr>
          <p:cNvSpPr/>
          <p:nvPr/>
        </p:nvSpPr>
        <p:spPr>
          <a:xfrm>
            <a:off x="9445213" y="5198194"/>
            <a:ext cx="2413316" cy="127518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54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00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</a:rPr>
              <a:t>Н4 </a:t>
            </a:r>
            <a:endParaRPr lang="ru-RU" sz="900" i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/>
            </a:endParaRPr>
          </a:p>
          <a:p>
            <a:pPr algn="ctr"/>
            <a:r>
              <a:rPr lang="ru-RU" sz="900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</a:rPr>
              <a:t>спецслужбы</a:t>
            </a:r>
            <a:r>
              <a:rPr sz="900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</a:rPr>
              <a:t> </a:t>
            </a:r>
            <a:r>
              <a:rPr lang="ru-RU" sz="900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</a:rPr>
              <a:t>иностранных государств</a:t>
            </a:r>
          </a:p>
          <a:p>
            <a:pPr algn="ctr"/>
            <a:r>
              <a:rPr lang="ru-RU" sz="900" b="1" i="0" dirty="0">
                <a:solidFill>
                  <a:srgbClr val="1F3A5C"/>
                </a:solidFill>
                <a:latin typeface="Times New Roman"/>
              </a:rPr>
              <a:t>УБИ.092, 221  - </a:t>
            </a:r>
            <a:r>
              <a:rPr lang="ru-RU" sz="900" b="0" i="0" dirty="0">
                <a:solidFill>
                  <a:srgbClr val="1A1A1A"/>
                </a:solidFill>
                <a:latin typeface="Times New Roman"/>
              </a:rPr>
              <a:t>удаленный внеполосный доступ к аппаратным средствам, «отравление» обещающих данных МО.</a:t>
            </a:r>
          </a:p>
          <a:p>
            <a:pPr algn="ctr"/>
            <a:r>
              <a:rPr lang="ru-RU" sz="900" b="0" i="0" dirty="0">
                <a:solidFill>
                  <a:srgbClr val="1A1A1A"/>
                </a:solidFill>
                <a:latin typeface="Times New Roman"/>
              </a:rPr>
              <a:t> </a:t>
            </a:r>
            <a:r>
              <a:rPr lang="ru-RU" sz="900" b="1" i="0" dirty="0">
                <a:solidFill>
                  <a:srgbClr val="C0392B"/>
                </a:solidFill>
                <a:latin typeface="Times New Roman"/>
              </a:rPr>
              <a:t>Воздействия: </a:t>
            </a:r>
            <a:r>
              <a:rPr lang="ru-RU" sz="900" b="0" i="0" dirty="0">
                <a:solidFill>
                  <a:srgbClr val="1A1A1A"/>
                </a:solidFill>
                <a:latin typeface="Times New Roman"/>
              </a:rPr>
              <a:t>APT-атаки, атаки на цепочку поставок, микропрограммные импланты, РЭП.</a:t>
            </a:r>
            <a:endParaRPr sz="1200" i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/>
            </a:endParaRPr>
          </a:p>
        </p:txBody>
      </p:sp>
      <p:sp>
        <p:nvSpPr>
          <p:cNvPr id="63" name="Rectangle 88">
            <a:extLst>
              <a:ext uri="{FF2B5EF4-FFF2-40B4-BE49-F238E27FC236}">
                <a16:creationId xmlns:a16="http://schemas.microsoft.com/office/drawing/2014/main" id="{25C73686-B223-44E7-AF0C-BDB87E94AEA6}"/>
              </a:ext>
            </a:extLst>
          </p:cNvPr>
          <p:cNvSpPr/>
          <p:nvPr/>
        </p:nvSpPr>
        <p:spPr>
          <a:xfrm>
            <a:off x="58861" y="1951396"/>
            <a:ext cx="193428" cy="3781621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vert270" wrap="square" lIns="54864" tIns="27432" rIns="54864" bIns="27432" rtlCol="0" anchor="ctr"/>
          <a:lstStyle/>
          <a:p>
            <a:pPr algn="ctr"/>
            <a:r>
              <a:rPr sz="1000" b="1" i="0" dirty="0">
                <a:solidFill>
                  <a:srgbClr val="FFFFFF"/>
                </a:solidFill>
                <a:latin typeface="Times New Roman"/>
              </a:rPr>
              <a:t>ВНУТРЕННИЙ НАРУШИТЕЛЬ</a:t>
            </a:r>
          </a:p>
        </p:txBody>
      </p:sp>
      <p:sp>
        <p:nvSpPr>
          <p:cNvPr id="67" name="Rounded Rectangle 60">
            <a:extLst>
              <a:ext uri="{FF2B5EF4-FFF2-40B4-BE49-F238E27FC236}">
                <a16:creationId xmlns:a16="http://schemas.microsoft.com/office/drawing/2014/main" id="{DD67F65F-FB39-4828-8CBE-A4B9DFD57DF0}"/>
              </a:ext>
            </a:extLst>
          </p:cNvPr>
          <p:cNvSpPr/>
          <p:nvPr/>
        </p:nvSpPr>
        <p:spPr>
          <a:xfrm>
            <a:off x="307974" y="919227"/>
            <a:ext cx="1817637" cy="1833511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5400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00" i="1" dirty="0">
                <a:solidFill>
                  <a:srgbClr val="1F3A5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</a:rPr>
              <a:t>Н1–Н2 </a:t>
            </a:r>
            <a:endParaRPr lang="ru-RU" sz="900" i="1" dirty="0">
              <a:solidFill>
                <a:srgbClr val="1F3A5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/>
            </a:endParaRPr>
          </a:p>
          <a:p>
            <a:pPr algn="ctr"/>
            <a:r>
              <a:rPr lang="ru-RU" sz="900" i="1" dirty="0">
                <a:solidFill>
                  <a:srgbClr val="1F3A5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</a:rPr>
              <a:t>пользователи</a:t>
            </a:r>
            <a:r>
              <a:rPr sz="900" i="1" dirty="0">
                <a:solidFill>
                  <a:srgbClr val="1F3A5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</a:rPr>
              <a:t>, </a:t>
            </a:r>
            <a:r>
              <a:rPr lang="ru-RU" sz="900" i="1" dirty="0">
                <a:solidFill>
                  <a:srgbClr val="1F3A5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</a:rPr>
              <a:t>бывшие работники</a:t>
            </a:r>
          </a:p>
          <a:p>
            <a:pPr algn="ctr"/>
            <a:r>
              <a:rPr lang="ru-RU" sz="900" b="1" i="0" dirty="0">
                <a:solidFill>
                  <a:srgbClr val="1F3A5C"/>
                </a:solidFill>
                <a:latin typeface="Times New Roman"/>
              </a:rPr>
              <a:t>УБИ.004, 008, 014, 031, 074, 088, 091, 140 - </a:t>
            </a:r>
            <a:r>
              <a:rPr lang="ru-RU" sz="900" b="0" i="0" dirty="0">
                <a:solidFill>
                  <a:srgbClr val="1A1A1A"/>
                </a:solidFill>
                <a:latin typeface="Times New Roman"/>
              </a:rPr>
              <a:t>аппаратный сброс пароля BIOS, НСД к учетным данным, копирование и удаление защищаемой </a:t>
            </a:r>
            <a:r>
              <a:rPr lang="ru-RU" sz="900" i="0" dirty="0">
                <a:solidFill>
                  <a:schemeClr val="tx1"/>
                </a:solidFill>
                <a:latin typeface="Times New Roman"/>
              </a:rPr>
              <a:t>информации, «отказ в обслуживание». Воздействие</a:t>
            </a:r>
            <a:r>
              <a:rPr lang="ru-RU" sz="900" b="1" i="0" dirty="0">
                <a:solidFill>
                  <a:srgbClr val="B98A0B"/>
                </a:solidFill>
                <a:latin typeface="Times New Roman"/>
              </a:rPr>
              <a:t>: </a:t>
            </a:r>
            <a:r>
              <a:rPr lang="ru-RU" sz="900" b="0" i="0" dirty="0">
                <a:solidFill>
                  <a:srgbClr val="1A1A1A"/>
                </a:solidFill>
                <a:latin typeface="Times New Roman"/>
              </a:rPr>
              <a:t>НСД с АРМ, копирование и удаление данных НГГМО</a:t>
            </a:r>
            <a:r>
              <a:rPr lang="ru-RU" sz="800" b="0" i="0" dirty="0">
                <a:solidFill>
                  <a:srgbClr val="1A1A1A"/>
                </a:solidFill>
                <a:latin typeface="Times New Roman"/>
              </a:rPr>
              <a:t>.</a:t>
            </a:r>
            <a:endParaRPr lang="ru-RU" sz="800" b="1" i="0" dirty="0">
              <a:solidFill>
                <a:srgbClr val="1F3A5C"/>
              </a:solidFill>
              <a:latin typeface="Times New Roman"/>
            </a:endParaRPr>
          </a:p>
        </p:txBody>
      </p:sp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58C1DB14-908C-40BB-A8DA-ECFC76B1BCD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19534" y="919227"/>
            <a:ext cx="6256075" cy="5900053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</p:pic>
      <p:sp>
        <p:nvSpPr>
          <p:cNvPr id="68" name="Rounded Rectangle 63">
            <a:extLst>
              <a:ext uri="{FF2B5EF4-FFF2-40B4-BE49-F238E27FC236}">
                <a16:creationId xmlns:a16="http://schemas.microsoft.com/office/drawing/2014/main" id="{616894AA-74E7-4AE4-B0D3-FF94AFF50B2F}"/>
              </a:ext>
            </a:extLst>
          </p:cNvPr>
          <p:cNvSpPr/>
          <p:nvPr/>
        </p:nvSpPr>
        <p:spPr>
          <a:xfrm>
            <a:off x="307975" y="2852817"/>
            <a:ext cx="1779010" cy="160115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25400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00" i="1" dirty="0">
                <a:solidFill>
                  <a:srgbClr val="1F3A5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</a:rPr>
              <a:t>Н3 </a:t>
            </a:r>
            <a:endParaRPr lang="ru-RU" sz="900" i="1" dirty="0">
              <a:solidFill>
                <a:srgbClr val="1F3A5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/>
            </a:endParaRPr>
          </a:p>
          <a:p>
            <a:pPr algn="ctr"/>
            <a:r>
              <a:rPr lang="ru-RU" sz="900" i="1" dirty="0">
                <a:solidFill>
                  <a:srgbClr val="1F3A5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</a:rPr>
              <a:t>Обслуживающий персонал</a:t>
            </a:r>
            <a:r>
              <a:rPr sz="900" i="1" dirty="0">
                <a:solidFill>
                  <a:srgbClr val="1F3A5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</a:rPr>
              <a:t>, </a:t>
            </a:r>
            <a:r>
              <a:rPr lang="ru-RU" sz="900" i="1" dirty="0">
                <a:solidFill>
                  <a:srgbClr val="1F3A5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</a:rPr>
              <a:t>администраторы</a:t>
            </a:r>
          </a:p>
          <a:p>
            <a:pPr algn="ctr"/>
            <a:r>
              <a:rPr lang="ru-RU" sz="900" b="1" i="0" dirty="0">
                <a:solidFill>
                  <a:srgbClr val="1F3A5C"/>
                </a:solidFill>
                <a:latin typeface="Times New Roman"/>
              </a:rPr>
              <a:t>УБИ.007, 061, 187, 221 – </a:t>
            </a:r>
            <a:r>
              <a:rPr lang="ru-RU" sz="900" b="0" i="0" dirty="0">
                <a:solidFill>
                  <a:srgbClr val="1A1A1A"/>
                </a:solidFill>
                <a:latin typeface="Times New Roman"/>
              </a:rPr>
              <a:t>повышение привилегий, подлог транзакций, SQL-инъекции, «отравление» данных МО.</a:t>
            </a:r>
            <a:r>
              <a:rPr lang="ru-RU" sz="900" b="1" i="0" dirty="0">
                <a:solidFill>
                  <a:srgbClr val="E67E22"/>
                </a:solidFill>
                <a:latin typeface="Times New Roman"/>
              </a:rPr>
              <a:t> </a:t>
            </a:r>
            <a:r>
              <a:rPr lang="ru-RU" sz="900" b="0" i="0" dirty="0">
                <a:solidFill>
                  <a:srgbClr val="1A1A1A"/>
                </a:solidFill>
                <a:latin typeface="Times New Roman"/>
              </a:rPr>
              <a:t>Превышение полномочий, искажение записей реестра.</a:t>
            </a:r>
            <a:endParaRPr sz="900" i="1" dirty="0">
              <a:solidFill>
                <a:srgbClr val="1F3A5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/>
            </a:endParaRPr>
          </a:p>
        </p:txBody>
      </p:sp>
      <p:sp>
        <p:nvSpPr>
          <p:cNvPr id="69" name="Rounded Rectangle 66">
            <a:extLst>
              <a:ext uri="{FF2B5EF4-FFF2-40B4-BE49-F238E27FC236}">
                <a16:creationId xmlns:a16="http://schemas.microsoft.com/office/drawing/2014/main" id="{F1E906B0-ADCC-4615-938A-C62B5C3611DD}"/>
              </a:ext>
            </a:extLst>
          </p:cNvPr>
          <p:cNvSpPr/>
          <p:nvPr/>
        </p:nvSpPr>
        <p:spPr>
          <a:xfrm>
            <a:off x="287023" y="4643725"/>
            <a:ext cx="1799962" cy="181892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5400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00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</a:rPr>
              <a:t>Н4 </a:t>
            </a:r>
            <a:endParaRPr lang="ru-RU" sz="900" i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/>
            </a:endParaRPr>
          </a:p>
          <a:p>
            <a:pPr algn="ctr"/>
            <a:r>
              <a:rPr lang="ru-RU" sz="900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</a:rPr>
              <a:t>разработчики</a:t>
            </a:r>
            <a:r>
              <a:rPr sz="900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</a:rPr>
              <a:t> и </a:t>
            </a:r>
            <a:r>
              <a:rPr lang="ru-RU" sz="900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</a:rPr>
              <a:t>поставщики</a:t>
            </a:r>
            <a:r>
              <a:rPr sz="900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</a:rPr>
              <a:t> ПО</a:t>
            </a:r>
            <a:endParaRPr lang="ru-RU" sz="900" i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/>
            </a:endParaRPr>
          </a:p>
          <a:p>
            <a:pPr algn="ctr"/>
            <a:r>
              <a:rPr lang="ru-RU" sz="900" b="1" i="0" dirty="0">
                <a:solidFill>
                  <a:srgbClr val="1F3A5C"/>
                </a:solidFill>
                <a:latin typeface="Times New Roman"/>
              </a:rPr>
              <a:t>УБИ.005 - </a:t>
            </a:r>
            <a:r>
              <a:rPr lang="ru-RU" sz="900" b="0" i="0" dirty="0">
                <a:solidFill>
                  <a:srgbClr val="1A1A1A"/>
                </a:solidFill>
                <a:latin typeface="Times New Roman"/>
              </a:rPr>
              <a:t>внедрение вредоносного кода в BIOS/UEFI. </a:t>
            </a:r>
            <a:r>
              <a:rPr lang="ru-RU" sz="900" b="1" i="0" dirty="0">
                <a:solidFill>
                  <a:srgbClr val="C0392B"/>
                </a:solidFill>
                <a:latin typeface="Times New Roman"/>
              </a:rPr>
              <a:t> </a:t>
            </a:r>
            <a:r>
              <a:rPr lang="ru-RU" sz="900" b="0" i="0" dirty="0">
                <a:solidFill>
                  <a:srgbClr val="1A1A1A"/>
                </a:solidFill>
                <a:latin typeface="Times New Roman"/>
              </a:rPr>
              <a:t>программные и аппаратные закладки при разработке, поставке, обновлении и ремонте СВТ.</a:t>
            </a:r>
            <a:endParaRPr lang="ru-RU" sz="900" b="1" i="0" dirty="0">
              <a:solidFill>
                <a:srgbClr val="1F3A5C"/>
              </a:solidFill>
              <a:latin typeface="Times New Roman"/>
            </a:endParaRPr>
          </a:p>
        </p:txBody>
      </p:sp>
      <p:cxnSp>
        <p:nvCxnSpPr>
          <p:cNvPr id="31" name="Прямая со стрелкой 30">
            <a:extLst>
              <a:ext uri="{FF2B5EF4-FFF2-40B4-BE49-F238E27FC236}">
                <a16:creationId xmlns:a16="http://schemas.microsoft.com/office/drawing/2014/main" id="{4745E6E2-D791-44A3-826E-81C21EDBA8F8}"/>
              </a:ext>
            </a:extLst>
          </p:cNvPr>
          <p:cNvCxnSpPr>
            <a:cxnSpLocks/>
          </p:cNvCxnSpPr>
          <p:nvPr/>
        </p:nvCxnSpPr>
        <p:spPr>
          <a:xfrm flipH="1" flipV="1">
            <a:off x="8648700" y="3552825"/>
            <a:ext cx="762878" cy="2621841"/>
          </a:xfrm>
          <a:prstGeom prst="straightConnector1">
            <a:avLst/>
          </a:prstGeom>
          <a:ln w="1905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5" name="Прямая со стрелкой 34">
            <a:extLst>
              <a:ext uri="{FF2B5EF4-FFF2-40B4-BE49-F238E27FC236}">
                <a16:creationId xmlns:a16="http://schemas.microsoft.com/office/drawing/2014/main" id="{8012DBC8-34D4-475F-8BD1-CCF0FB937D95}"/>
              </a:ext>
            </a:extLst>
          </p:cNvPr>
          <p:cNvCxnSpPr>
            <a:cxnSpLocks/>
            <a:stCxn id="51" idx="1"/>
          </p:cNvCxnSpPr>
          <p:nvPr/>
        </p:nvCxnSpPr>
        <p:spPr>
          <a:xfrm flipH="1" flipV="1">
            <a:off x="7872381" y="3276600"/>
            <a:ext cx="1554714" cy="724365"/>
          </a:xfrm>
          <a:prstGeom prst="straightConnector1">
            <a:avLst/>
          </a:prstGeom>
          <a:ln w="1905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9" name="Прямая со стрелкой 38">
            <a:extLst>
              <a:ext uri="{FF2B5EF4-FFF2-40B4-BE49-F238E27FC236}">
                <a16:creationId xmlns:a16="http://schemas.microsoft.com/office/drawing/2014/main" id="{9778FDE8-7313-4F24-B074-A918B21FE3A3}"/>
              </a:ext>
            </a:extLst>
          </p:cNvPr>
          <p:cNvCxnSpPr>
            <a:cxnSpLocks/>
            <a:stCxn id="38" idx="1"/>
          </p:cNvCxnSpPr>
          <p:nvPr/>
        </p:nvCxnSpPr>
        <p:spPr>
          <a:xfrm flipH="1">
            <a:off x="8648700" y="1927335"/>
            <a:ext cx="796513" cy="1086567"/>
          </a:xfrm>
          <a:prstGeom prst="straightConnector1">
            <a:avLst/>
          </a:prstGeom>
          <a:ln w="1905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41" name="Прямая со стрелкой 40">
            <a:extLst>
              <a:ext uri="{FF2B5EF4-FFF2-40B4-BE49-F238E27FC236}">
                <a16:creationId xmlns:a16="http://schemas.microsoft.com/office/drawing/2014/main" id="{C71BF46E-7011-49FC-9B9E-452C99489F50}"/>
              </a:ext>
            </a:extLst>
          </p:cNvPr>
          <p:cNvCxnSpPr>
            <a:cxnSpLocks/>
          </p:cNvCxnSpPr>
          <p:nvPr/>
        </p:nvCxnSpPr>
        <p:spPr>
          <a:xfrm flipH="1">
            <a:off x="8620125" y="1911998"/>
            <a:ext cx="825091" cy="992510"/>
          </a:xfrm>
          <a:prstGeom prst="straightConnector1">
            <a:avLst/>
          </a:prstGeom>
          <a:ln w="1905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43" name="Прямая со стрелкой 42">
            <a:extLst>
              <a:ext uri="{FF2B5EF4-FFF2-40B4-BE49-F238E27FC236}">
                <a16:creationId xmlns:a16="http://schemas.microsoft.com/office/drawing/2014/main" id="{E75C3659-CAD4-4424-B0DA-691364D3C0E3}"/>
              </a:ext>
            </a:extLst>
          </p:cNvPr>
          <p:cNvCxnSpPr>
            <a:cxnSpLocks/>
            <a:stCxn id="69" idx="3"/>
          </p:cNvCxnSpPr>
          <p:nvPr/>
        </p:nvCxnSpPr>
        <p:spPr>
          <a:xfrm flipV="1">
            <a:off x="2086985" y="3276600"/>
            <a:ext cx="5785396" cy="2276588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47" name="Прямая со стрелкой 46">
            <a:extLst>
              <a:ext uri="{FF2B5EF4-FFF2-40B4-BE49-F238E27FC236}">
                <a16:creationId xmlns:a16="http://schemas.microsoft.com/office/drawing/2014/main" id="{65E1F732-4179-4EA4-9624-64187118360D}"/>
              </a:ext>
            </a:extLst>
          </p:cNvPr>
          <p:cNvCxnSpPr>
            <a:cxnSpLocks/>
            <a:stCxn id="68" idx="3"/>
          </p:cNvCxnSpPr>
          <p:nvPr/>
        </p:nvCxnSpPr>
        <p:spPr>
          <a:xfrm>
            <a:off x="2086985" y="3653396"/>
            <a:ext cx="1430604" cy="2324062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53" name="Прямая со стрелкой 52">
            <a:extLst>
              <a:ext uri="{FF2B5EF4-FFF2-40B4-BE49-F238E27FC236}">
                <a16:creationId xmlns:a16="http://schemas.microsoft.com/office/drawing/2014/main" id="{97313FEF-5461-428C-B974-4F051EE523C2}"/>
              </a:ext>
            </a:extLst>
          </p:cNvPr>
          <p:cNvCxnSpPr>
            <a:cxnSpLocks/>
            <a:stCxn id="68" idx="3"/>
          </p:cNvCxnSpPr>
          <p:nvPr/>
        </p:nvCxnSpPr>
        <p:spPr>
          <a:xfrm>
            <a:off x="2086985" y="3653396"/>
            <a:ext cx="2337438" cy="1969387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54" name="Прямая со стрелкой 53">
            <a:extLst>
              <a:ext uri="{FF2B5EF4-FFF2-40B4-BE49-F238E27FC236}">
                <a16:creationId xmlns:a16="http://schemas.microsoft.com/office/drawing/2014/main" id="{D43C8679-CC1C-45A6-9B49-2B1639B0224E}"/>
              </a:ext>
            </a:extLst>
          </p:cNvPr>
          <p:cNvCxnSpPr>
            <a:cxnSpLocks/>
            <a:stCxn id="67" idx="3"/>
          </p:cNvCxnSpPr>
          <p:nvPr/>
        </p:nvCxnSpPr>
        <p:spPr>
          <a:xfrm>
            <a:off x="2125611" y="1835983"/>
            <a:ext cx="2314329" cy="3781621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55" name="Прямая со стрелкой 54">
            <a:extLst>
              <a:ext uri="{FF2B5EF4-FFF2-40B4-BE49-F238E27FC236}">
                <a16:creationId xmlns:a16="http://schemas.microsoft.com/office/drawing/2014/main" id="{93A4935A-D1D4-4957-9343-FB3AE6058AFC}"/>
              </a:ext>
            </a:extLst>
          </p:cNvPr>
          <p:cNvCxnSpPr>
            <a:cxnSpLocks/>
            <a:stCxn id="67" idx="3"/>
          </p:cNvCxnSpPr>
          <p:nvPr/>
        </p:nvCxnSpPr>
        <p:spPr>
          <a:xfrm>
            <a:off x="2125611" y="1835983"/>
            <a:ext cx="3786707" cy="2872447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2" name="Прямая со стрелкой 31">
            <a:extLst>
              <a:ext uri="{FF2B5EF4-FFF2-40B4-BE49-F238E27FC236}">
                <a16:creationId xmlns:a16="http://schemas.microsoft.com/office/drawing/2014/main" id="{E8C00F6F-F171-444D-BDC7-2157AE026124}"/>
              </a:ext>
            </a:extLst>
          </p:cNvPr>
          <p:cNvCxnSpPr>
            <a:cxnSpLocks/>
            <a:stCxn id="52" idx="1"/>
          </p:cNvCxnSpPr>
          <p:nvPr/>
        </p:nvCxnSpPr>
        <p:spPr>
          <a:xfrm flipH="1" flipV="1">
            <a:off x="8648701" y="3385995"/>
            <a:ext cx="796512" cy="2449792"/>
          </a:xfrm>
          <a:prstGeom prst="straightConnector1">
            <a:avLst/>
          </a:prstGeom>
          <a:ln w="1905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4750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DF6C7A-C19D-C1F9-D852-4CBF178A3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4A6C41C5-6848-4D82-80B9-2B8ADCA7E02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117"/>
          <a:stretch/>
        </p:blipFill>
        <p:spPr>
          <a:xfrm>
            <a:off x="8970" y="412832"/>
            <a:ext cx="12192000" cy="6438481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28D886DD-5B7B-921A-023C-2FA90336901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2415"/>
                    </a14:imgEffect>
                    <a14:imgEffect>
                      <a14:saturation sat="4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030" b="80536"/>
          <a:stretch/>
        </p:blipFill>
        <p:spPr>
          <a:xfrm>
            <a:off x="0" y="-18660"/>
            <a:ext cx="12192000" cy="929320"/>
          </a:xfrm>
          <a:prstGeom prst="rect">
            <a:avLst/>
          </a:prstGeom>
          <a:noFill/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5C82EDC-D2BD-0840-A97B-15BA845C7EA3}"/>
              </a:ext>
            </a:extLst>
          </p:cNvPr>
          <p:cNvSpPr txBox="1"/>
          <p:nvPr/>
        </p:nvSpPr>
        <p:spPr>
          <a:xfrm>
            <a:off x="10609291" y="165503"/>
            <a:ext cx="8419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6AEBAD-6C8F-4C62-A860-CF8412FC108D}" type="slidenum">
              <a:rPr kumimoji="0" lang="ru-RU" sz="2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attle Sans [RUS by me]" panose="00000400000000000000" pitchFamily="2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r>
              <a:rPr lang="ru-RU" sz="2400" dirty="0">
                <a:solidFill>
                  <a:prstClr val="white"/>
                </a:solidFill>
                <a:latin typeface="Seattle Sans [RUS by me]" panose="00000400000000000000" pitchFamily="2" charset="0"/>
              </a:rPr>
              <a:t>/11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attle Sans [RUS by me]" panose="00000400000000000000" pitchFamily="2" charset="0"/>
              <a:ea typeface="+mn-ea"/>
              <a:cs typeface="+mn-cs"/>
            </a:endParaRP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5DDED968-447D-41A7-9142-A5DF252B48A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552251" y="107334"/>
            <a:ext cx="841949" cy="639204"/>
          </a:xfrm>
          <a:prstGeom prst="rect">
            <a:avLst/>
          </a:prstGeom>
          <a:effectLst>
            <a:glow rad="152400">
              <a:schemeClr val="accent1">
                <a:alpha val="21000"/>
              </a:schemeClr>
            </a:glow>
          </a:effectLst>
        </p:spPr>
      </p:pic>
      <p:pic>
        <p:nvPicPr>
          <p:cNvPr id="48" name="Рисунок 47">
            <a:extLst>
              <a:ext uri="{FF2B5EF4-FFF2-40B4-BE49-F238E27FC236}">
                <a16:creationId xmlns:a16="http://schemas.microsoft.com/office/drawing/2014/main" id="{E738B820-1A74-96EA-4BB5-740BA7EDEC88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519" y="-31249"/>
            <a:ext cx="916371" cy="916371"/>
          </a:xfrm>
          <a:prstGeom prst="rect">
            <a:avLst/>
          </a:prstGeom>
          <a:effectLst>
            <a:glow rad="38100">
              <a:schemeClr val="accent1">
                <a:alpha val="40000"/>
              </a:schemeClr>
            </a:glow>
          </a:effectLst>
        </p:spPr>
      </p:pic>
      <p:pic>
        <p:nvPicPr>
          <p:cNvPr id="49" name="Picture 2" descr="M:\Эмбдема КВВУ из вектора.tif">
            <a:extLst>
              <a:ext uri="{FF2B5EF4-FFF2-40B4-BE49-F238E27FC236}">
                <a16:creationId xmlns:a16="http://schemas.microsoft.com/office/drawing/2014/main" id="{B64B0DA3-5BF3-3806-CDD5-8545131940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00550" y="-39658"/>
            <a:ext cx="775931" cy="9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utoShape 2" descr="https://2.bp.blogspot.com/-r5byV_OS0W0/XLwdZMJSjSI/AAAAAAABHgs/RzaI5rtrTg0JULGfOz1PusXeOIUMM8kkwCEwYBhgL/s1600/3601877618.jpg">
            <a:extLst>
              <a:ext uri="{FF2B5EF4-FFF2-40B4-BE49-F238E27FC236}">
                <a16:creationId xmlns:a16="http://schemas.microsoft.com/office/drawing/2014/main" id="{DA195FD3-AB9A-7EFB-A9FD-2BE9E4215BA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073275" y="2015881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AutoShape 4" descr="https://2.bp.blogspot.com/-r5byV_OS0W0/XLwdZMJSjSI/AAAAAAABHgs/RzaI5rtrTg0JULGfOz1PusXeOIUMM8kkwCEwYBhgL/s1600/3601877618.jpg">
            <a:extLst>
              <a:ext uri="{FF2B5EF4-FFF2-40B4-BE49-F238E27FC236}">
                <a16:creationId xmlns:a16="http://schemas.microsoft.com/office/drawing/2014/main" id="{FF8DFC95-B0D5-2354-54C0-EA065F13DFB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CE77C4C-78E9-3A60-5552-A9016C95611C}"/>
              </a:ext>
            </a:extLst>
          </p:cNvPr>
          <p:cNvSpPr txBox="1"/>
          <p:nvPr/>
        </p:nvSpPr>
        <p:spPr>
          <a:xfrm>
            <a:off x="2628902" y="223858"/>
            <a:ext cx="62523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kumimoji="0" lang="ru-RU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	СТЕПЕНЬ ПРОРАБОТАННОСТИ</a:t>
            </a: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AutoShape 2" descr="Сформированное изображение: Киберзащита в цифровом мире">
            <a:extLst>
              <a:ext uri="{FF2B5EF4-FFF2-40B4-BE49-F238E27FC236}">
                <a16:creationId xmlns:a16="http://schemas.microsoft.com/office/drawing/2014/main" id="{EBBE55FB-AE13-4358-9C97-483D68C68FF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0" name="methods">
                <a:extLst>
                  <a:ext uri="{FF2B5EF4-FFF2-40B4-BE49-F238E27FC236}">
                    <a16:creationId xmlns:a16="http://schemas.microsoft.com/office/drawing/2014/main" id="{C1358F2F-446A-48CC-BC2C-0E9A5386B1C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23571085"/>
                  </p:ext>
                </p:extLst>
              </p:nvPr>
            </p:nvGraphicFramePr>
            <p:xfrm>
              <a:off x="39537" y="1189367"/>
              <a:ext cx="6208862" cy="3283794"/>
            </p:xfrm>
            <a:graphic>
              <a:graphicData uri="http://schemas.openxmlformats.org/drawingml/2006/table">
                <a:tbl>
                  <a:tblPr/>
                  <a:tblGrid>
                    <a:gridCol w="105550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73848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61430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80057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251034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25000"/>
                            </a:lnSpc>
                          </a:pPr>
                          <a:r>
                            <a:rPr lang="en-US" sz="600" b="1" noProof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PT Sans"/>
                              <a:cs typeface="Times New Roman" panose="02020603050405020304" pitchFamily="18" charset="0"/>
                            </a:rPr>
                            <a:t>Направление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25000"/>
                            </a:lnSpc>
                          </a:pPr>
                          <a:r>
                            <a:rPr lang="en-US" sz="600" b="1" noProof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PT Sans"/>
                              <a:cs typeface="Times New Roman" panose="02020603050405020304" pitchFamily="18" charset="0"/>
                            </a:rPr>
                            <a:t>Что даёт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25000"/>
                            </a:lnSpc>
                          </a:pPr>
                          <a:r>
                            <a:rPr lang="en-US" sz="600" b="1" noProof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PT Sans"/>
                              <a:cs typeface="Times New Roman" panose="02020603050405020304" pitchFamily="18" charset="0"/>
                            </a:rPr>
                            <a:t>Чего не хватает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25000"/>
                            </a:lnSpc>
                          </a:pPr>
                          <a:r>
                            <a:rPr lang="en-US" sz="600" b="1" noProof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PT Sans"/>
                              <a:cs typeface="Times New Roman" panose="02020603050405020304" pitchFamily="18" charset="0"/>
                            </a:rPr>
                            <a:t>Источники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6055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25000"/>
                            </a:lnSpc>
                          </a:pPr>
                          <a:r>
                            <a:rPr lang="en-US" sz="600" b="1" noProof="1">
                              <a:solidFill>
                                <a:srgbClr val="1F2733"/>
                              </a:solidFill>
                              <a:latin typeface="Times New Roman" panose="02020603050405020304" pitchFamily="18" charset="0"/>
                              <a:ea typeface="PT Sans"/>
                              <a:cs typeface="Times New Roman" panose="02020603050405020304" pitchFamily="18" charset="0"/>
                            </a:rPr>
                            <a:t>Теория надёжности и резервирования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BFCF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25000"/>
                            </a:lnSpc>
                          </a:pPr>
                          <a:r>
                            <a:rPr lang="en-US" sz="600" noProof="1">
                              <a:solidFill>
                                <a:srgbClr val="1F2733"/>
                              </a:solidFill>
                              <a:latin typeface="Times New Roman" panose="02020603050405020304" pitchFamily="18" charset="0"/>
                              <a:ea typeface="PT Sans"/>
                              <a:cs typeface="Times New Roman" panose="02020603050405020304" pitchFamily="18" charset="0"/>
                            </a:rPr>
                            <a:t>Марковские модели «отказ–восстановление»: вероятность безотказной работы, коэффициент готовности, наработка на отказ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BFCF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25000"/>
                            </a:lnSpc>
                          </a:pPr>
                          <a:r>
                            <a:rPr lang="en-US" sz="600" noProof="1">
                              <a:solidFill>
                                <a:srgbClr val="FF0000"/>
                              </a:solidFill>
                              <a:latin typeface="Times New Roman" panose="02020603050405020304" pitchFamily="18" charset="0"/>
                              <a:ea typeface="PT Sans"/>
                              <a:cs typeface="Times New Roman" panose="02020603050405020304" pitchFamily="18" charset="0"/>
                            </a:rPr>
                            <a:t>Учитываются только случайные отказы оборудования; целенаправленные компьютерные атаки в модель не входят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BFCF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25000"/>
                            </a:lnSpc>
                          </a:pPr>
                          <a:r>
                            <a:rPr lang="en-US" sz="600" noProof="1">
                              <a:solidFill>
                                <a:srgbClr val="1F2733"/>
                              </a:solidFill>
                              <a:latin typeface="Times New Roman" panose="02020603050405020304" pitchFamily="18" charset="0"/>
                              <a:ea typeface="PT Sans"/>
                              <a:cs typeface="Times New Roman" panose="02020603050405020304" pitchFamily="18" charset="0"/>
                            </a:rPr>
                            <a:t>Гнеденко, Беляев, Соловьёв «Математические методы в теории надёжности», 1965; Барлоу, Прошан «Математическая теория надёжности», 1969; Рябинин «Надёжность и безопасность структурно-сложных систем», 2000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BFCFD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47481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25000"/>
                            </a:lnSpc>
                          </a:pPr>
                          <a:r>
                            <a:rPr lang="en-US" sz="600" b="1" noProof="1">
                              <a:solidFill>
                                <a:srgbClr val="1F2733"/>
                              </a:solidFill>
                              <a:latin typeface="Times New Roman" panose="02020603050405020304" pitchFamily="18" charset="0"/>
                              <a:ea typeface="PT Sans"/>
                              <a:cs typeface="Times New Roman" panose="02020603050405020304" pitchFamily="18" charset="0"/>
                            </a:rPr>
                            <a:t>Теория живучести систем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EF2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25000"/>
                            </a:lnSpc>
                          </a:pPr>
                          <a:r>
                            <a:rPr lang="en-US" sz="600" noProof="1">
                              <a:solidFill>
                                <a:srgbClr val="1F2733"/>
                              </a:solidFill>
                              <a:latin typeface="Times New Roman" panose="02020603050405020304" pitchFamily="18" charset="0"/>
                              <a:ea typeface="PT Sans"/>
                              <a:cs typeface="Times New Roman" panose="02020603050405020304" pitchFamily="18" charset="0"/>
                            </a:rPr>
                            <a:t>Показатели живучести структурно-сложных и информационных систем; перестройка структуры при повреждениях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EF2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25000"/>
                            </a:lnSpc>
                          </a:pPr>
                          <a:r>
                            <a:rPr lang="en-US" sz="600" noProof="1">
                              <a:solidFill>
                                <a:srgbClr val="FF0000"/>
                              </a:solidFill>
                              <a:latin typeface="Times New Roman" panose="02020603050405020304" pitchFamily="18" charset="0"/>
                              <a:ea typeface="PT Sans"/>
                              <a:cs typeface="Times New Roman" panose="02020603050405020304" pitchFamily="18" charset="0"/>
                            </a:rPr>
                            <a:t>Оценки качественные; живучесть не выражается формулой через число узлов и интенсивность атак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EF2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25000"/>
                            </a:lnSpc>
                          </a:pPr>
                          <a:r>
                            <a:rPr lang="en-US" sz="600" noProof="1">
                              <a:solidFill>
                                <a:srgbClr val="1F2733"/>
                              </a:solidFill>
                              <a:latin typeface="Times New Roman" panose="02020603050405020304" pitchFamily="18" charset="0"/>
                              <a:ea typeface="PT Sans"/>
                              <a:cs typeface="Times New Roman" panose="02020603050405020304" pitchFamily="18" charset="0"/>
                            </a:rPr>
                            <a:t>Стекольников «Живучесть систем», 2002; Додонов, Ландэ «Живучесть информационных систем», 2011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EF2F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55289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25000"/>
                            </a:lnSpc>
                          </a:pPr>
                          <a:r>
                            <a:rPr lang="en-US" sz="600" b="1" noProof="1">
                              <a:solidFill>
                                <a:srgbClr val="1F2733"/>
                              </a:solidFill>
                              <a:latin typeface="Times New Roman" panose="02020603050405020304" pitchFamily="18" charset="0"/>
                              <a:ea typeface="PT Sans"/>
                              <a:cs typeface="Times New Roman" panose="02020603050405020304" pitchFamily="18" charset="0"/>
                            </a:rPr>
                            <a:t>Византийская отказоустойчивость и консенсус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BFCF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25000"/>
                            </a:lnSpc>
                          </a:pPr>
                          <a:r>
                            <a:rPr lang="en-US" sz="600" noProof="1">
                              <a:solidFill>
                                <a:srgbClr val="1F2733"/>
                              </a:solidFill>
                              <a:latin typeface="Times New Roman" panose="02020603050405020304" pitchFamily="18" charset="0"/>
                              <a:ea typeface="PT Sans"/>
                              <a:cs typeface="Times New Roman" panose="02020603050405020304" pitchFamily="18" charset="0"/>
                            </a:rPr>
                            <a:t>Условие </a:t>
                          </a:r>
                          <a14:m>
                            <m:oMath xmlns:m="http://schemas.openxmlformats.org/officeDocument/2006/math">
                              <m:r>
                                <a:rPr lang="en-US" sz="600" i="1" noProof="1" smtClean="0">
                                  <a:solidFill>
                                    <a:srgbClr val="1F2733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sz="600" i="0" noProof="1" smtClean="0">
                                  <a:solidFill>
                                    <a:srgbClr val="1F2733"/>
                                  </a:solidFill>
                                  <a:latin typeface="Cambria Math" panose="02040503050406030204" pitchFamily="18" charset="0"/>
                                </a:rPr>
                                <m:t>≥3</m:t>
                              </m:r>
                              <m:r>
                                <a:rPr lang="en-US" sz="600" i="1" noProof="1" smtClean="0">
                                  <a:solidFill>
                                    <a:srgbClr val="1F2733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sz="600" i="0" noProof="1" smtClean="0">
                                  <a:solidFill>
                                    <a:srgbClr val="1F2733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oMath>
                          </a14:m>
                          <a:r>
                            <a:rPr lang="en-US" sz="600" noProof="1">
                              <a:solidFill>
                                <a:srgbClr val="1F2733"/>
                              </a:solidFill>
                              <a:latin typeface="Times New Roman" panose="02020603050405020304" pitchFamily="18" charset="0"/>
                              <a:ea typeface="PT Sans"/>
                              <a:cs typeface="Times New Roman" panose="02020603050405020304" pitchFamily="18" charset="0"/>
                            </a:rPr>
                            <a:t>; PBFT - кворум </a:t>
                          </a:r>
                          <a14:m>
                            <m:oMath xmlns:m="http://schemas.openxmlformats.org/officeDocument/2006/math">
                              <m:r>
                                <a:rPr lang="en-US" sz="600" i="0" noProof="1" smtClean="0">
                                  <a:solidFill>
                                    <a:srgbClr val="1F2733"/>
                                  </a:solidFill>
                                  <a:latin typeface="Cambria Math" panose="02040503050406030204" pitchFamily="18" charset="0"/>
                                </a:rPr>
                                <m:t>≥2</m:t>
                              </m:r>
                              <m:r>
                                <a:rPr lang="en-US" sz="600" i="1" noProof="1" smtClean="0">
                                  <a:solidFill>
                                    <a:srgbClr val="1F2733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sz="600" i="0" noProof="1" smtClean="0">
                                  <a:solidFill>
                                    <a:srgbClr val="1F2733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oMath>
                          </a14:m>
                          <a:r>
                            <a:rPr lang="en-US" sz="600" noProof="1">
                              <a:solidFill>
                                <a:srgbClr val="1F2733"/>
                              </a:solidFill>
                              <a:latin typeface="Times New Roman" panose="02020603050405020304" pitchFamily="18" charset="0"/>
                              <a:ea typeface="PT Sans"/>
                              <a:cs typeface="Times New Roman" panose="02020603050405020304" pitchFamily="18" charset="0"/>
                            </a:rPr>
                            <a:t> голосов; теорема FLP о невозможности консенсуса в асинхронной сети; Paxos, Raft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BFCF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25000"/>
                            </a:lnSpc>
                          </a:pPr>
                          <a:r>
                            <a:rPr lang="en-US" sz="600" noProof="1">
                              <a:solidFill>
                                <a:srgbClr val="FF0000"/>
                              </a:solidFill>
                              <a:latin typeface="Times New Roman" panose="02020603050405020304" pitchFamily="18" charset="0"/>
                              <a:ea typeface="PT Sans"/>
                              <a:cs typeface="Times New Roman" panose="02020603050405020304" pitchFamily="18" charset="0"/>
                            </a:rPr>
                            <a:t>Результат бинарный - «согласование сохранено или нарушено»; вероятность такого исхода при заданных отказах и атаках не вычисляется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BFCF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25000"/>
                            </a:lnSpc>
                          </a:pPr>
                          <a:r>
                            <a:rPr lang="en-US" sz="600" noProof="1">
                              <a:solidFill>
                                <a:srgbClr val="1F2733"/>
                              </a:solidFill>
                              <a:latin typeface="Times New Roman" panose="02020603050405020304" pitchFamily="18" charset="0"/>
                              <a:ea typeface="PT Sans"/>
                              <a:cs typeface="Times New Roman" panose="02020603050405020304" pitchFamily="18" charset="0"/>
                            </a:rPr>
                            <a:t>Lamport, Shostak, Pease «The Byzantine Generals Problem», 1982; Fischer, Lynch, Paterson (теорема FLP), 1985; Castro, Liskov «Practical Byzantine Fault Tolerance», 1999; Ongaro, Ousterhout (Raft), 2014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BFCFD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55289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25000"/>
                            </a:lnSpc>
                          </a:pPr>
                          <a:r>
                            <a:rPr lang="en-US" sz="600" b="1" noProof="1">
                              <a:solidFill>
                                <a:srgbClr val="1F2733"/>
                              </a:solidFill>
                              <a:latin typeface="Times New Roman" panose="02020603050405020304" pitchFamily="18" charset="0"/>
                              <a:ea typeface="PT Sans"/>
                              <a:cs typeface="Times New Roman" panose="02020603050405020304" pitchFamily="18" charset="0"/>
                            </a:rPr>
                            <a:t>Имитационное моделирование и планирование эксперимента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BFCF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25000"/>
                            </a:lnSpc>
                          </a:pPr>
                          <a:r>
                            <a:rPr lang="en-US" sz="600" noProof="1">
                              <a:solidFill>
                                <a:srgbClr val="1F2733"/>
                              </a:solidFill>
                              <a:latin typeface="Times New Roman" panose="02020603050405020304" pitchFamily="18" charset="0"/>
                              <a:ea typeface="PT Sans"/>
                              <a:cs typeface="Times New Roman" panose="02020603050405020304" pitchFamily="18" charset="0"/>
                            </a:rPr>
                            <a:t>Статистические оценки по прогонам модели; доверительные интервалы; планирование вычислительного эксперимента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BFCF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25000"/>
                            </a:lnSpc>
                          </a:pPr>
                          <a:r>
                            <a:rPr lang="en-US" sz="600" noProof="1">
                              <a:solidFill>
                                <a:srgbClr val="FF0000"/>
                              </a:solidFill>
                              <a:latin typeface="Times New Roman" panose="02020603050405020304" pitchFamily="18" charset="0"/>
                              <a:ea typeface="PT Sans"/>
                              <a:cs typeface="Times New Roman" panose="02020603050405020304" pitchFamily="18" charset="0"/>
                            </a:rPr>
                            <a:t>Это общая методология; готовой библиотеки сценариев отказов и атак для АСУ военного назначения в ней нет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BFCF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25000"/>
                            </a:lnSpc>
                          </a:pPr>
                          <a:r>
                            <a:rPr lang="en-US" sz="600" noProof="1">
                              <a:solidFill>
                                <a:srgbClr val="1F2733"/>
                              </a:solidFill>
                              <a:latin typeface="Times New Roman" panose="02020603050405020304" pitchFamily="18" charset="0"/>
                              <a:ea typeface="PT Sans"/>
                              <a:cs typeface="Times New Roman" panose="02020603050405020304" pitchFamily="18" charset="0"/>
                            </a:rPr>
                            <a:t>Советов, Яковлев «Моделирование систем», 2001; Лоу, Кельтон «Имитационное моделирование», 2004; Налимов, Чернова «Статистические методы планирования экстремальных экспериментов», 1965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BFCFD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455289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25000"/>
                            </a:lnSpc>
                          </a:pPr>
                          <a:r>
                            <a:rPr lang="en-US" sz="600" b="1" noProof="1">
                              <a:solidFill>
                                <a:srgbClr val="1F2733"/>
                              </a:solidFill>
                              <a:latin typeface="Times New Roman" panose="02020603050405020304" pitchFamily="18" charset="0"/>
                              <a:ea typeface="PT Sans"/>
                              <a:cs typeface="Times New Roman" panose="02020603050405020304" pitchFamily="18" charset="0"/>
                            </a:rPr>
                            <a:t>Прикладные системы НГО и ГМО ВМФ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EF2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25000"/>
                            </a:lnSpc>
                          </a:pPr>
                          <a:r>
                            <a:rPr lang="en-US" sz="600" noProof="1">
                              <a:solidFill>
                                <a:srgbClr val="1F2733"/>
                              </a:solidFill>
                              <a:latin typeface="Times New Roman" panose="02020603050405020304" pitchFamily="18" charset="0"/>
                              <a:ea typeface="PT Sans"/>
                              <a:cs typeface="Times New Roman" panose="02020603050405020304" pitchFamily="18" charset="0"/>
                            </a:rPr>
                            <a:t>Интегральный риск по семи уровням архитектуры; распределённые центры ЦКИ (Санкт-Петербург, Москва, Мурманск, Владивосток); блокчейн-решения для ГМО морской деятельности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EF2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25000"/>
                            </a:lnSpc>
                          </a:pPr>
                          <a:r>
                            <a:rPr lang="en-US" sz="600" noProof="1">
                              <a:solidFill>
                                <a:srgbClr val="FF0000"/>
                              </a:solidFill>
                              <a:latin typeface="Times New Roman" panose="02020603050405020304" pitchFamily="18" charset="0"/>
                              <a:ea typeface="PT Sans"/>
                              <a:cs typeface="Times New Roman" panose="02020603050405020304" pitchFamily="18" charset="0"/>
                            </a:rPr>
                            <a:t>Рассматриваются единичные сценарии воздействий; совместная динамика отказов и атак не описывается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EF2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25000"/>
                            </a:lnSpc>
                          </a:pPr>
                          <a:r>
                            <a:rPr lang="en-US" sz="600" noProof="1">
                              <a:solidFill>
                                <a:srgbClr val="1F2733"/>
                              </a:solidFill>
                              <a:latin typeface="Times New Roman" panose="02020603050405020304" pitchFamily="18" charset="0"/>
                              <a:ea typeface="PT Sans"/>
                              <a:cs typeface="Times New Roman" panose="02020603050405020304" pitchFamily="18" charset="0"/>
                            </a:rPr>
                            <a:t>Отчёт о НИР «Сфера ГС»; ретроспективный анализ научно-технической литературы 2016–2026 гг. 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EF2F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0" name="methods">
                <a:extLst>
                  <a:ext uri="{FF2B5EF4-FFF2-40B4-BE49-F238E27FC236}">
                    <a16:creationId xmlns:a16="http://schemas.microsoft.com/office/drawing/2014/main" id="{C1358F2F-446A-48CC-BC2C-0E9A5386B1C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23571085"/>
                  </p:ext>
                </p:extLst>
              </p:nvPr>
            </p:nvGraphicFramePr>
            <p:xfrm>
              <a:off x="39537" y="1189367"/>
              <a:ext cx="6208862" cy="3283794"/>
            </p:xfrm>
            <a:graphic>
              <a:graphicData uri="http://schemas.openxmlformats.org/drawingml/2006/table">
                <a:tbl>
                  <a:tblPr/>
                  <a:tblGrid>
                    <a:gridCol w="105550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73848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61430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80057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251034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25000"/>
                            </a:lnSpc>
                          </a:pPr>
                          <a:r>
                            <a:rPr lang="en-US" sz="600" b="1" noProof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PT Sans"/>
                              <a:cs typeface="Times New Roman" panose="02020603050405020304" pitchFamily="18" charset="0"/>
                            </a:rPr>
                            <a:t>Направление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25000"/>
                            </a:lnSpc>
                          </a:pPr>
                          <a:r>
                            <a:rPr lang="en-US" sz="600" b="1" noProof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PT Sans"/>
                              <a:cs typeface="Times New Roman" panose="02020603050405020304" pitchFamily="18" charset="0"/>
                            </a:rPr>
                            <a:t>Что даёт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25000"/>
                            </a:lnSpc>
                          </a:pPr>
                          <a:r>
                            <a:rPr lang="en-US" sz="600" b="1" noProof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PT Sans"/>
                              <a:cs typeface="Times New Roman" panose="02020603050405020304" pitchFamily="18" charset="0"/>
                            </a:rPr>
                            <a:t>Чего не хватает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25000"/>
                            </a:lnSpc>
                          </a:pPr>
                          <a:r>
                            <a:rPr lang="en-US" sz="600" b="1" noProof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PT Sans"/>
                              <a:cs typeface="Times New Roman" panose="02020603050405020304" pitchFamily="18" charset="0"/>
                            </a:rPr>
                            <a:t>Источники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52272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25000"/>
                            </a:lnSpc>
                          </a:pPr>
                          <a:r>
                            <a:rPr lang="en-US" sz="600" b="1" noProof="1">
                              <a:solidFill>
                                <a:srgbClr val="1F2733"/>
                              </a:solidFill>
                              <a:latin typeface="Times New Roman" panose="02020603050405020304" pitchFamily="18" charset="0"/>
                              <a:ea typeface="PT Sans"/>
                              <a:cs typeface="Times New Roman" panose="02020603050405020304" pitchFamily="18" charset="0"/>
                            </a:rPr>
                            <a:t>Теория надёжности и резервирования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BFCF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25000"/>
                            </a:lnSpc>
                          </a:pPr>
                          <a:r>
                            <a:rPr lang="en-US" sz="600" noProof="1">
                              <a:solidFill>
                                <a:srgbClr val="1F2733"/>
                              </a:solidFill>
                              <a:latin typeface="Times New Roman" panose="02020603050405020304" pitchFamily="18" charset="0"/>
                              <a:ea typeface="PT Sans"/>
                              <a:cs typeface="Times New Roman" panose="02020603050405020304" pitchFamily="18" charset="0"/>
                            </a:rPr>
                            <a:t>Марковские модели «отказ–восстановление»: вероятность безотказной работы, коэффициент готовности, наработка на отказ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BFCF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25000"/>
                            </a:lnSpc>
                          </a:pPr>
                          <a:r>
                            <a:rPr lang="en-US" sz="600" noProof="1">
                              <a:solidFill>
                                <a:srgbClr val="FF0000"/>
                              </a:solidFill>
                              <a:latin typeface="Times New Roman" panose="02020603050405020304" pitchFamily="18" charset="0"/>
                              <a:ea typeface="PT Sans"/>
                              <a:cs typeface="Times New Roman" panose="02020603050405020304" pitchFamily="18" charset="0"/>
                            </a:rPr>
                            <a:t>Учитываются только случайные отказы оборудования; целенаправленные компьютерные атаки в модель не входят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BFCF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25000"/>
                            </a:lnSpc>
                          </a:pPr>
                          <a:r>
                            <a:rPr lang="en-US" sz="600" noProof="1">
                              <a:solidFill>
                                <a:srgbClr val="1F2733"/>
                              </a:solidFill>
                              <a:latin typeface="Times New Roman" panose="02020603050405020304" pitchFamily="18" charset="0"/>
                              <a:ea typeface="PT Sans"/>
                              <a:cs typeface="Times New Roman" panose="02020603050405020304" pitchFamily="18" charset="0"/>
                            </a:rPr>
                            <a:t>Гнеденко, Беляев, Соловьёв «Математические методы в теории надёжности», 1965; Барлоу, Прошан «Математическая теория надёжности», 1969; Рябинин «Надёжность и безопасность структурно-сложных систем», 2000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BFCFD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23672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25000"/>
                            </a:lnSpc>
                          </a:pPr>
                          <a:r>
                            <a:rPr lang="en-US" sz="600" b="1" noProof="1">
                              <a:solidFill>
                                <a:srgbClr val="1F2733"/>
                              </a:solidFill>
                              <a:latin typeface="Times New Roman" panose="02020603050405020304" pitchFamily="18" charset="0"/>
                              <a:ea typeface="PT Sans"/>
                              <a:cs typeface="Times New Roman" panose="02020603050405020304" pitchFamily="18" charset="0"/>
                            </a:rPr>
                            <a:t>Теория живучести систем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EF2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25000"/>
                            </a:lnSpc>
                          </a:pPr>
                          <a:r>
                            <a:rPr lang="en-US" sz="600" noProof="1">
                              <a:solidFill>
                                <a:srgbClr val="1F2733"/>
                              </a:solidFill>
                              <a:latin typeface="Times New Roman" panose="02020603050405020304" pitchFamily="18" charset="0"/>
                              <a:ea typeface="PT Sans"/>
                              <a:cs typeface="Times New Roman" panose="02020603050405020304" pitchFamily="18" charset="0"/>
                            </a:rPr>
                            <a:t>Показатели живучести структурно-сложных и информационных систем; перестройка структуры при повреждениях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EF2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25000"/>
                            </a:lnSpc>
                          </a:pPr>
                          <a:r>
                            <a:rPr lang="en-US" sz="600" noProof="1">
                              <a:solidFill>
                                <a:srgbClr val="FF0000"/>
                              </a:solidFill>
                              <a:latin typeface="Times New Roman" panose="02020603050405020304" pitchFamily="18" charset="0"/>
                              <a:ea typeface="PT Sans"/>
                              <a:cs typeface="Times New Roman" panose="02020603050405020304" pitchFamily="18" charset="0"/>
                            </a:rPr>
                            <a:t>Оценки качественные; живучесть не выражается формулой через число узлов и интенсивность атак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EF2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25000"/>
                            </a:lnSpc>
                          </a:pPr>
                          <a:r>
                            <a:rPr lang="en-US" sz="600" noProof="1">
                              <a:solidFill>
                                <a:srgbClr val="1F2733"/>
                              </a:solidFill>
                              <a:latin typeface="Times New Roman" panose="02020603050405020304" pitchFamily="18" charset="0"/>
                              <a:ea typeface="PT Sans"/>
                              <a:cs typeface="Times New Roman" panose="02020603050405020304" pitchFamily="18" charset="0"/>
                            </a:rPr>
                            <a:t>Стекольников «Живучесть систем», 2002; Додонов, Ландэ «Живучесть информационных систем», 2011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EF2F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652272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25000"/>
                            </a:lnSpc>
                          </a:pPr>
                          <a:r>
                            <a:rPr lang="en-US" sz="600" b="1" noProof="1">
                              <a:solidFill>
                                <a:srgbClr val="1F2733"/>
                              </a:solidFill>
                              <a:latin typeface="Times New Roman" panose="02020603050405020304" pitchFamily="18" charset="0"/>
                              <a:ea typeface="PT Sans"/>
                              <a:cs typeface="Times New Roman" panose="02020603050405020304" pitchFamily="18" charset="0"/>
                            </a:rPr>
                            <a:t>Византийская отказоустойчивость и консенсус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BFCF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9"/>
                          <a:stretch>
                            <a:fillRect l="-60839" t="-204673" r="-196853" b="-2018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25000"/>
                            </a:lnSpc>
                          </a:pPr>
                          <a:r>
                            <a:rPr lang="en-US" sz="600" noProof="1">
                              <a:solidFill>
                                <a:srgbClr val="FF0000"/>
                              </a:solidFill>
                              <a:latin typeface="Times New Roman" panose="02020603050405020304" pitchFamily="18" charset="0"/>
                              <a:ea typeface="PT Sans"/>
                              <a:cs typeface="Times New Roman" panose="02020603050405020304" pitchFamily="18" charset="0"/>
                            </a:rPr>
                            <a:t>Результат бинарный - «согласование сохранено или нарушено»; вероятность такого исхода при заданных отказах и атаках не вычисляется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BFCF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25000"/>
                            </a:lnSpc>
                          </a:pPr>
                          <a:r>
                            <a:rPr lang="en-US" sz="600" noProof="1">
                              <a:solidFill>
                                <a:srgbClr val="1F2733"/>
                              </a:solidFill>
                              <a:latin typeface="Times New Roman" panose="02020603050405020304" pitchFamily="18" charset="0"/>
                              <a:ea typeface="PT Sans"/>
                              <a:cs typeface="Times New Roman" panose="02020603050405020304" pitchFamily="18" charset="0"/>
                            </a:rPr>
                            <a:t>Lamport, Shostak, Pease «The Byzantine Generals Problem», 1982; Fischer, Lynch, Paterson (теорема FLP), 1985; Castro, Liskov «Practical Byzantine Fault Tolerance», 1999; Ongaro, Ousterhout (Raft), 2014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BFCFD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652272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25000"/>
                            </a:lnSpc>
                          </a:pPr>
                          <a:r>
                            <a:rPr lang="en-US" sz="600" b="1" noProof="1">
                              <a:solidFill>
                                <a:srgbClr val="1F2733"/>
                              </a:solidFill>
                              <a:latin typeface="Times New Roman" panose="02020603050405020304" pitchFamily="18" charset="0"/>
                              <a:ea typeface="PT Sans"/>
                              <a:cs typeface="Times New Roman" panose="02020603050405020304" pitchFamily="18" charset="0"/>
                            </a:rPr>
                            <a:t>Имитационное моделирование и планирование эксперимента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BFCF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25000"/>
                            </a:lnSpc>
                          </a:pPr>
                          <a:r>
                            <a:rPr lang="en-US" sz="600" noProof="1">
                              <a:solidFill>
                                <a:srgbClr val="1F2733"/>
                              </a:solidFill>
                              <a:latin typeface="Times New Roman" panose="02020603050405020304" pitchFamily="18" charset="0"/>
                              <a:ea typeface="PT Sans"/>
                              <a:cs typeface="Times New Roman" panose="02020603050405020304" pitchFamily="18" charset="0"/>
                            </a:rPr>
                            <a:t>Статистические оценки по прогонам модели; доверительные интервалы; планирование вычислительного эксперимента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BFCF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25000"/>
                            </a:lnSpc>
                          </a:pPr>
                          <a:r>
                            <a:rPr lang="en-US" sz="600" noProof="1">
                              <a:solidFill>
                                <a:srgbClr val="FF0000"/>
                              </a:solidFill>
                              <a:latin typeface="Times New Roman" panose="02020603050405020304" pitchFamily="18" charset="0"/>
                              <a:ea typeface="PT Sans"/>
                              <a:cs typeface="Times New Roman" panose="02020603050405020304" pitchFamily="18" charset="0"/>
                            </a:rPr>
                            <a:t>Это общая методология; готовой библиотеки сценариев отказов и атак для АСУ военного назначения в ней нет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BFCF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25000"/>
                            </a:lnSpc>
                          </a:pPr>
                          <a:r>
                            <a:rPr lang="en-US" sz="600" noProof="1">
                              <a:solidFill>
                                <a:srgbClr val="1F2733"/>
                              </a:solidFill>
                              <a:latin typeface="Times New Roman" panose="02020603050405020304" pitchFamily="18" charset="0"/>
                              <a:ea typeface="PT Sans"/>
                              <a:cs typeface="Times New Roman" panose="02020603050405020304" pitchFamily="18" charset="0"/>
                            </a:rPr>
                            <a:t>Советов, Яковлев «Моделирование систем», 2001; Лоу, Кельтон «Имитационное моделирование», 2004; Налимов, Чернова «Статистические методы планирования экстремальных экспериментов», 1965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BFCFD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652272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25000"/>
                            </a:lnSpc>
                          </a:pPr>
                          <a:r>
                            <a:rPr lang="en-US" sz="600" b="1" noProof="1">
                              <a:solidFill>
                                <a:srgbClr val="1F2733"/>
                              </a:solidFill>
                              <a:latin typeface="Times New Roman" panose="02020603050405020304" pitchFamily="18" charset="0"/>
                              <a:ea typeface="PT Sans"/>
                              <a:cs typeface="Times New Roman" panose="02020603050405020304" pitchFamily="18" charset="0"/>
                            </a:rPr>
                            <a:t>Прикладные системы НГО и ГМО ВМФ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EF2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25000"/>
                            </a:lnSpc>
                          </a:pPr>
                          <a:r>
                            <a:rPr lang="en-US" sz="600" noProof="1">
                              <a:solidFill>
                                <a:srgbClr val="1F2733"/>
                              </a:solidFill>
                              <a:latin typeface="Times New Roman" panose="02020603050405020304" pitchFamily="18" charset="0"/>
                              <a:ea typeface="PT Sans"/>
                              <a:cs typeface="Times New Roman" panose="02020603050405020304" pitchFamily="18" charset="0"/>
                            </a:rPr>
                            <a:t>Интегральный риск по семи уровням архитектуры; распределённые центры ЦКИ (Санкт-Петербург, Москва, Мурманск, Владивосток); блокчейн-решения для ГМО морской деятельности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EF2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25000"/>
                            </a:lnSpc>
                          </a:pPr>
                          <a:r>
                            <a:rPr lang="en-US" sz="600" noProof="1">
                              <a:solidFill>
                                <a:srgbClr val="FF0000"/>
                              </a:solidFill>
                              <a:latin typeface="Times New Roman" panose="02020603050405020304" pitchFamily="18" charset="0"/>
                              <a:ea typeface="PT Sans"/>
                              <a:cs typeface="Times New Roman" panose="02020603050405020304" pitchFamily="18" charset="0"/>
                            </a:rPr>
                            <a:t>Рассматриваются единичные сценарии воздействий; совместная динамика отказов и атак не описывается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EF2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25000"/>
                            </a:lnSpc>
                          </a:pPr>
                          <a:r>
                            <a:rPr lang="en-US" sz="600" noProof="1">
                              <a:solidFill>
                                <a:srgbClr val="1F2733"/>
                              </a:solidFill>
                              <a:latin typeface="Times New Roman" panose="02020603050405020304" pitchFamily="18" charset="0"/>
                              <a:ea typeface="PT Sans"/>
                              <a:cs typeface="Times New Roman" panose="02020603050405020304" pitchFamily="18" charset="0"/>
                            </a:rPr>
                            <a:t>Отчёт о НИР «Сфера ГС»; ретроспективный анализ научно-технической литературы 2016–2026 гг. 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EF2F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13CB2A56-5AEB-4571-9479-906AAC1B7775}"/>
              </a:ext>
            </a:extLst>
          </p:cNvPr>
          <p:cNvSpPr/>
          <p:nvPr/>
        </p:nvSpPr>
        <p:spPr>
          <a:xfrm>
            <a:off x="39536" y="938561"/>
            <a:ext cx="6208863" cy="2215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Методы оценки живучести.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D4023423-FACA-4E33-937C-4964E34A3AC2}"/>
              </a:ext>
            </a:extLst>
          </p:cNvPr>
          <p:cNvSpPr/>
          <p:nvPr/>
        </p:nvSpPr>
        <p:spPr>
          <a:xfrm>
            <a:off x="3913312" y="4790353"/>
            <a:ext cx="4272455" cy="2215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Прикладные разработки по теме: НИР и существующие системы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BAD76683-7F82-4A7B-9C99-537014F193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8436537"/>
              </p:ext>
            </p:extLst>
          </p:nvPr>
        </p:nvGraphicFramePr>
        <p:xfrm>
          <a:off x="39536" y="5185375"/>
          <a:ext cx="12020009" cy="1505878"/>
        </p:xfrm>
        <a:graphic>
          <a:graphicData uri="http://schemas.openxmlformats.org/drawingml/2006/table">
            <a:tbl>
              <a:tblPr firstRow="1" firstCol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3004680">
                  <a:extLst>
                    <a:ext uri="{9D8B030D-6E8A-4147-A177-3AD203B41FA5}">
                      <a16:colId xmlns:a16="http://schemas.microsoft.com/office/drawing/2014/main" val="2430453282"/>
                    </a:ext>
                  </a:extLst>
                </a:gridCol>
                <a:gridCol w="3078516">
                  <a:extLst>
                    <a:ext uri="{9D8B030D-6E8A-4147-A177-3AD203B41FA5}">
                      <a16:colId xmlns:a16="http://schemas.microsoft.com/office/drawing/2014/main" val="285042739"/>
                    </a:ext>
                  </a:extLst>
                </a:gridCol>
                <a:gridCol w="2930845">
                  <a:extLst>
                    <a:ext uri="{9D8B030D-6E8A-4147-A177-3AD203B41FA5}">
                      <a16:colId xmlns:a16="http://schemas.microsoft.com/office/drawing/2014/main" val="2547653825"/>
                    </a:ext>
                  </a:extLst>
                </a:gridCol>
                <a:gridCol w="3005968">
                  <a:extLst>
                    <a:ext uri="{9D8B030D-6E8A-4147-A177-3AD203B41FA5}">
                      <a16:colId xmlns:a16="http://schemas.microsoft.com/office/drawing/2014/main" val="4275541985"/>
                    </a:ext>
                  </a:extLst>
                </a:gridCol>
              </a:tblGrid>
              <a:tr h="18592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9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НИР</a:t>
                      </a:r>
                      <a:endParaRPr lang="ru-RU" sz="9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9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Содержание</a:t>
                      </a:r>
                      <a:r>
                        <a:rPr lang="en-US" sz="9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и </a:t>
                      </a:r>
                      <a:r>
                        <a:rPr lang="ru-RU" sz="9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результаты</a:t>
                      </a:r>
                      <a:endParaRPr lang="ru-RU" sz="9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9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Задачи исследования</a:t>
                      </a:r>
                      <a:endParaRPr lang="ru-RU" sz="9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9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Источники</a:t>
                      </a:r>
                      <a:endParaRPr lang="ru-RU" sz="9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5073249"/>
                  </a:ext>
                </a:extLst>
              </a:tr>
              <a:tr h="39687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6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НИР «Прагматика-1» 2021–2023 · ТЗ </a:t>
                      </a:r>
                      <a:r>
                        <a:rPr lang="ru-RU" sz="600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УНиО</a:t>
                      </a:r>
                      <a:r>
                        <a:rPr lang="ru-RU" sz="6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МО РФ</a:t>
                      </a:r>
                      <a:endParaRPr lang="ru-RU" sz="6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Технический и информационный облик КО НГГМД; структура БД и метаданных (ГОСТ Р 57657-2017, 57668-2017); экспериментальный образец на акваторию </a:t>
                      </a:r>
                      <a:r>
                        <a:rPr lang="en-US" sz="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Средиземного</a:t>
                      </a:r>
                      <a:r>
                        <a:rPr lang="en-US" sz="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моря</a:t>
                      </a:r>
                      <a:r>
                        <a:rPr lang="en-US" sz="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; </a:t>
                      </a:r>
                      <a:r>
                        <a:rPr lang="en-US" sz="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Концепция</a:t>
                      </a:r>
                      <a:r>
                        <a:rPr lang="en-US" sz="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цифровизации</a:t>
                      </a:r>
                      <a:r>
                        <a:rPr lang="en-US" sz="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НГО и ГМО ВМФ</a:t>
                      </a:r>
                      <a:endParaRPr lang="ru-RU" sz="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6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Серверная архитектура с единой точкой отказа; живучесть при отказах и атаках не оценивалась</a:t>
                      </a:r>
                      <a:endParaRPr lang="ru-RU" sz="6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Доклад ген. директора АО «ГНИНГИ» В.М. Смолина, 18.10.2022; головной исполнитель - ЗАО «Институт телекоммуникаций»</a:t>
                      </a:r>
                      <a:endParaRPr lang="ru-RU" sz="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190049"/>
                  </a:ext>
                </a:extLst>
              </a:tr>
              <a:tr h="32998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6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НИР «Сфера ГС» 1-й этап, 2025 · план 8-го упр. </a:t>
                      </a:r>
                      <a:r>
                        <a:rPr lang="en-US" sz="6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ГШ ВС РФ </a:t>
                      </a:r>
                      <a:r>
                        <a:rPr lang="en-US" sz="600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от</a:t>
                      </a:r>
                      <a:r>
                        <a:rPr lang="en-US" sz="6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27.12.2024</a:t>
                      </a:r>
                      <a:endParaRPr lang="ru-RU" sz="6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Научно-методические основы системы защиты ГПИ в ИСУ ГС ВМФ: фрактальная архитектура распределённого реестра, гибридный консенсус </a:t>
                      </a:r>
                      <a:r>
                        <a:rPr lang="en-US" sz="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PoA</a:t>
                      </a:r>
                      <a:r>
                        <a:rPr lang="ru-RU" sz="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+ </a:t>
                      </a:r>
                      <a:r>
                        <a:rPr lang="en-US" sz="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PBFT</a:t>
                      </a:r>
                      <a:r>
                        <a:rPr lang="ru-RU" sz="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смарт-контракты, ролевое разграничение доступа</a:t>
                      </a:r>
                      <a:endParaRPr lang="ru-RU" sz="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6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Описание детерминированное; совместная стохастическая динамика отказов и атак не рассматривается</a:t>
                      </a:r>
                      <a:endParaRPr lang="ru-RU" sz="6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Отчёт о НИР «Сфера ГС» 2025</a:t>
                      </a:r>
                      <a:endParaRPr lang="ru-RU" sz="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4140545"/>
                  </a:ext>
                </a:extLst>
              </a:tr>
              <a:tr h="32998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6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ЕАСО ВС РФ ГПИ и АСО ВМФ ЦКИ ГК «Кронштадт», 2016</a:t>
                      </a:r>
                      <a:endParaRPr lang="ru-RU" sz="6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Полный жизненный цикл ГПИ; распределённые центры ЦКИ; 2017 г. - оперативная передача 280 ЭНК на корабль в море</a:t>
                      </a:r>
                      <a:endParaRPr lang="ru-RU" sz="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6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Централизованная архитектура, периметральная защита; количественных оценок живучести нет</a:t>
                      </a:r>
                      <a:endParaRPr lang="ru-RU" sz="6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Ретроспективный анализ НТЛ 2016–2026 гг. </a:t>
                      </a:r>
                      <a:endParaRPr lang="ru-RU" sz="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7869717"/>
                  </a:ext>
                </a:extLst>
              </a:tr>
              <a:tr h="26309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6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Комплекс обработки ГПИ «Росэлектроника» (Ростех)</a:t>
                      </a:r>
                      <a:endParaRPr lang="ru-RU" sz="6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Унифицированная обработка </a:t>
                      </a:r>
                      <a:r>
                        <a:rPr lang="ru-RU" sz="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геопространственной</a:t>
                      </a:r>
                      <a:r>
                        <a:rPr lang="ru-RU" sz="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информации с разными уровнями секретности; сертификация для работы с грифом «секретно»</a:t>
                      </a:r>
                      <a:endParaRPr lang="ru-RU" sz="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6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Отказоустойчивость и устойчивость к атакам в открытых материалах не </a:t>
                      </a:r>
                      <a:endParaRPr lang="ru-RU" sz="6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highlight>
                          <a:srgbClr val="FF0000"/>
                        </a:highlight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6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раскрываются</a:t>
                      </a:r>
                      <a:endParaRPr lang="ru-RU" sz="6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Ретроспективный анализ НТЛ 2016–2026 гг. </a:t>
                      </a:r>
                      <a:endParaRPr lang="ru-RU" sz="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4822821"/>
                  </a:ext>
                </a:extLst>
              </a:tr>
            </a:tbl>
          </a:graphicData>
        </a:graphic>
      </p:graphicFrame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703D90D5-B247-41F1-BB0B-47BCC99F1E01}"/>
              </a:ext>
            </a:extLst>
          </p:cNvPr>
          <p:cNvSpPr/>
          <p:nvPr/>
        </p:nvSpPr>
        <p:spPr>
          <a:xfrm>
            <a:off x="6354753" y="931223"/>
            <a:ext cx="5704792" cy="293857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Нормативно-правовыми документами  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4470FF3A-A69B-4714-8A02-AE8B8A48A94C}"/>
              </a:ext>
            </a:extLst>
          </p:cNvPr>
          <p:cNvSpPr/>
          <p:nvPr/>
        </p:nvSpPr>
        <p:spPr>
          <a:xfrm>
            <a:off x="6354752" y="1274626"/>
            <a:ext cx="5704792" cy="3198535"/>
          </a:xfrm>
          <a:prstGeom prst="rect">
            <a:avLst/>
          </a:prstGeom>
          <a:solidFill>
            <a:srgbClr val="E5FDFF">
              <a:alpha val="49804"/>
            </a:srgbClr>
          </a:solidFill>
          <a:ln w="28575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buAutoNum type="arabicPeriod"/>
            </a:pPr>
            <a:r>
              <a:rPr lang="ru-RU" sz="110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Концепция цифровой трансформации Вооруженных сил Российской Федерации на период до 2035 года, утверждена Министром Обороны Российской Федерации 02 апреля 2026 г. </a:t>
            </a:r>
            <a:endParaRPr lang="ru-RU" sz="11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110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Основными задачами,  обеспечивающими достижения цифровой трансформации Вооруженных сил, являются:</a:t>
            </a:r>
          </a:p>
          <a:p>
            <a:pPr algn="just"/>
            <a:r>
              <a:rPr lang="ru-RU" sz="110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формирование и развитие единого информационного пространства Вооруженных сил на основе новых методологических подходов с применением цифровых технологий.</a:t>
            </a:r>
          </a:p>
          <a:p>
            <a:pPr algn="just"/>
            <a:r>
              <a:rPr lang="ru-RU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ru-RU" sz="110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Концепция развития гидрографической службы (ГС) Военно-Морского Флота до 2030 года</a:t>
            </a:r>
            <a:r>
              <a:rPr lang="ru-RU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утверждена Министром Обороны Российской Федерации </a:t>
            </a:r>
            <a:br>
              <a:rPr lang="ru-RU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ноября 2015 г.</a:t>
            </a:r>
          </a:p>
          <a:p>
            <a:pPr algn="just"/>
            <a:r>
              <a:rPr lang="ru-RU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Наставление по обеспечению военных действий ВС РФ (гидрометеорологическое обеспечение) утвержденная Приказом Министра Обороны Российской Федерации </a:t>
            </a:r>
            <a:br>
              <a:rPr lang="ru-RU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от 28.01.2019 г. № *4.</a:t>
            </a:r>
          </a:p>
          <a:p>
            <a:pPr algn="just"/>
            <a:r>
              <a:rPr lang="ru-RU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Концепция формирования и развития единого геоинформационного пространства ВС РФ на период до 2030 г. утвержденная НГШ ВС РФ – первым заместителем Министра Обороны Российской Федерации 18.07.2021 г.</a:t>
            </a:r>
          </a:p>
        </p:txBody>
      </p:sp>
    </p:spTree>
    <p:extLst>
      <p:ext uri="{BB962C8B-B14F-4D97-AF65-F5344CB8AC3E}">
        <p14:creationId xmlns:p14="http://schemas.microsoft.com/office/powerpoint/2010/main" val="1761294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928BCBB8-82E3-40B5-8C09-32C4288D6D4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117"/>
          <a:stretch/>
        </p:blipFill>
        <p:spPr>
          <a:xfrm>
            <a:off x="7759" y="453937"/>
            <a:ext cx="12176482" cy="6404063"/>
          </a:xfrm>
          <a:prstGeom prst="rect">
            <a:avLst/>
          </a:prstGeom>
        </p:spPr>
      </p:pic>
      <p:pic>
        <p:nvPicPr>
          <p:cNvPr id="19" name="Рисунок 18"/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2415"/>
                    </a14:imgEffect>
                    <a14:imgEffect>
                      <a14:saturation sat="4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030" b="80536"/>
          <a:stretch/>
        </p:blipFill>
        <p:spPr>
          <a:xfrm>
            <a:off x="0" y="-18660"/>
            <a:ext cx="12192000" cy="862095"/>
          </a:xfrm>
          <a:prstGeom prst="rect">
            <a:avLst/>
          </a:prstGeom>
          <a:noFill/>
        </p:spPr>
      </p:pic>
      <p:sp>
        <p:nvSpPr>
          <p:cNvPr id="11" name="TextBox 10"/>
          <p:cNvSpPr txBox="1"/>
          <p:nvPr/>
        </p:nvSpPr>
        <p:spPr>
          <a:xfrm>
            <a:off x="10534869" y="165503"/>
            <a:ext cx="9163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F76AEBAD-6C8F-4C62-A860-CF8412FC108D}" type="slidenum">
              <a:rPr lang="ru-RU" sz="2400" smtClean="0">
                <a:solidFill>
                  <a:schemeClr val="accent1">
                    <a:lumMod val="20000"/>
                    <a:lumOff val="80000"/>
                  </a:schemeClr>
                </a:solidFill>
                <a:latin typeface="Seattle Sans [RUS by me]" panose="00000400000000000000" pitchFamily="2" charset="0"/>
              </a:rPr>
              <a:t>7</a:t>
            </a:fld>
            <a:r>
              <a:rPr lang="ru-RU" sz="2400" dirty="0">
                <a:solidFill>
                  <a:schemeClr val="accent1">
                    <a:lumMod val="20000"/>
                    <a:lumOff val="80000"/>
                  </a:schemeClr>
                </a:solidFill>
                <a:latin typeface="Seattle Sans [RUS by me]" panose="00000400000000000000" pitchFamily="2" charset="0"/>
              </a:rPr>
              <a:t>/11</a:t>
            </a:r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438848" y="60151"/>
            <a:ext cx="916371" cy="629656"/>
          </a:xfrm>
          <a:prstGeom prst="rect">
            <a:avLst/>
          </a:prstGeom>
          <a:effectLst>
            <a:glow rad="152400">
              <a:schemeClr val="accent1">
                <a:alpha val="21000"/>
              </a:schemeClr>
            </a:glow>
          </a:effectLst>
        </p:spPr>
      </p:pic>
      <p:pic>
        <p:nvPicPr>
          <p:cNvPr id="48" name="Рисунок 47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6925" y="-59177"/>
            <a:ext cx="916371" cy="916371"/>
          </a:xfrm>
          <a:prstGeom prst="rect">
            <a:avLst/>
          </a:prstGeom>
          <a:effectLst>
            <a:glow rad="38100">
              <a:schemeClr val="accent1">
                <a:alpha val="40000"/>
              </a:schemeClr>
            </a:glow>
          </a:effectLst>
        </p:spPr>
      </p:pic>
      <p:pic>
        <p:nvPicPr>
          <p:cNvPr id="49" name="Picture 2" descr="M:\Эмбдема КВВУ из вектора.tif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00550" y="-39658"/>
            <a:ext cx="775931" cy="9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utoShape 2" descr="https://2.bp.blogspot.com/-r5byV_OS0W0/XLwdZMJSjSI/AAAAAAABHgs/RzaI5rtrTg0JULGfOz1PusXeOIUMM8kkwCEwYBhgL/s1600/3601877618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4" name="AutoShape 4" descr="https://2.bp.blogspot.com/-r5byV_OS0W0/XLwdZMJSjSI/AAAAAAABHgs/RzaI5rtrTg0JULGfOz1PusXeOIUMM8kkwCEwYBhgL/s1600/3601877618.jp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978DEF3-DD50-AF0E-44C0-6AC4209CEE12}"/>
              </a:ext>
            </a:extLst>
          </p:cNvPr>
          <p:cNvSpPr txBox="1"/>
          <p:nvPr/>
        </p:nvSpPr>
        <p:spPr>
          <a:xfrm>
            <a:off x="3262183" y="175979"/>
            <a:ext cx="600538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НАУЧНЫЕ ПРОТИВОРЕЧИЯ</a:t>
            </a:r>
          </a:p>
        </p:txBody>
      </p:sp>
      <p:sp>
        <p:nvSpPr>
          <p:cNvPr id="23" name="Прямоугольник: скругленные углы 22">
            <a:extLst>
              <a:ext uri="{FF2B5EF4-FFF2-40B4-BE49-F238E27FC236}">
                <a16:creationId xmlns:a16="http://schemas.microsoft.com/office/drawing/2014/main" id="{FC9369F1-2F22-4F5F-B1C8-1E77D75E1FC5}"/>
              </a:ext>
            </a:extLst>
          </p:cNvPr>
          <p:cNvSpPr/>
          <p:nvPr/>
        </p:nvSpPr>
        <p:spPr>
          <a:xfrm>
            <a:off x="55573" y="1231459"/>
            <a:ext cx="5872505" cy="1354880"/>
          </a:xfrm>
          <a:prstGeom prst="roundRect">
            <a:avLst/>
          </a:prstGeom>
          <a:ln w="28575"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indent="266700" algn="just"/>
            <a:r>
              <a:rPr lang="ru-RU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Теория надёжности описывает только случайные отказы; преднамеренная атака - событие иного рода, модели «отказ–восстановление» её не описывают. Теория живучести (ГОСТ Р 27.102-2021) качественная: аппарата, связывающего живучесть с числом узлов, топологией и интенсивностью атак, нет.</a:t>
            </a:r>
          </a:p>
          <a:p>
            <a:pPr indent="266700" algn="just"/>
            <a:r>
              <a:rPr lang="ru-RU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Отказы и атаки учитываются раздельно, показатели суммируются - на деле процессы взаимодействуют, и раздельный учёт завышает оценку живучести.</a:t>
            </a:r>
          </a:p>
          <a:p>
            <a:pPr indent="266700" algn="just"/>
            <a:r>
              <a:rPr lang="ru-RU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Оценки выполняются на единичных сценариях или </a:t>
            </a:r>
            <a:r>
              <a:rPr lang="ru-RU" sz="1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экспертно</a:t>
            </a:r>
            <a:r>
              <a:rPr lang="ru-RU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невоспроизводимы и несопоставимы; статистически достоверной методики сравнения вариантов архитектуры нет.</a:t>
            </a:r>
          </a:p>
        </p:txBody>
      </p:sp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id="{CCC12F44-96AC-4CBE-9F51-0746CE1B2D18}"/>
              </a:ext>
            </a:extLst>
          </p:cNvPr>
          <p:cNvSpPr/>
          <p:nvPr/>
        </p:nvSpPr>
        <p:spPr>
          <a:xfrm>
            <a:off x="6225096" y="1236770"/>
            <a:ext cx="5825270" cy="1349570"/>
          </a:xfrm>
          <a:prstGeom prst="roundRect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indent="266700" algn="just"/>
            <a:r>
              <a:rPr lang="ru-RU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ЦОИ </a:t>
            </a:r>
            <a:r>
              <a:rPr lang="ru-RU" sz="1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УНиО</a:t>
            </a:r>
            <a:r>
              <a:rPr lang="ru-RU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МОРФ централизована: вся обработка и все потоки проходят через один центр - единая точка отказа, тогда как задача системы - непрерывное обеспечение флота в условиях деструктивных воздействий, а также Международные обязательства по обеспечению безопасности судоходства.</a:t>
            </a:r>
          </a:p>
          <a:p>
            <a:pPr indent="266700" algn="just"/>
            <a:r>
              <a:rPr lang="ru-RU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Натурная проверка живучести невозможна: боевой центр нельзя выводить из строя ради испытаний, натурная атака на него недопустима.</a:t>
            </a:r>
          </a:p>
          <a:p>
            <a:pPr indent="266700" algn="just"/>
            <a:r>
              <a:rPr lang="ru-RU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НИР («Прагматика-1», «Сфера ГС», «Кронштадт», «</a:t>
            </a:r>
            <a:r>
              <a:rPr lang="ru-RU" sz="1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Росэлектроника</a:t>
            </a:r>
            <a:r>
              <a:rPr lang="ru-RU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») описывают архитектуру </a:t>
            </a:r>
            <a:r>
              <a:rPr lang="ru-RU" sz="1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детерминированно</a:t>
            </a:r>
            <a:r>
              <a:rPr lang="ru-RU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живучесть количественно не оценивается, проектные решения принимаются без количественного критерия.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D36AF0AE-2BAC-443E-8674-515C7A10DFD1}"/>
              </a:ext>
            </a:extLst>
          </p:cNvPr>
          <p:cNvSpPr/>
          <p:nvPr/>
        </p:nvSpPr>
        <p:spPr>
          <a:xfrm>
            <a:off x="1883529" y="929737"/>
            <a:ext cx="1961379" cy="204771"/>
          </a:xfrm>
          <a:prstGeom prst="roundRect">
            <a:avLst/>
          </a:prstGeom>
          <a:ln w="28575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Противоречия в теории</a:t>
            </a:r>
          </a:p>
        </p:txBody>
      </p:sp>
      <p:sp>
        <p:nvSpPr>
          <p:cNvPr id="34" name="Прямоугольник: скругленные углы 33">
            <a:extLst>
              <a:ext uri="{FF2B5EF4-FFF2-40B4-BE49-F238E27FC236}">
                <a16:creationId xmlns:a16="http://schemas.microsoft.com/office/drawing/2014/main" id="{DBD178B1-1AE0-489A-A691-FDFEE5784B9B}"/>
              </a:ext>
            </a:extLst>
          </p:cNvPr>
          <p:cNvSpPr/>
          <p:nvPr/>
        </p:nvSpPr>
        <p:spPr>
          <a:xfrm>
            <a:off x="8439399" y="929737"/>
            <a:ext cx="1961379" cy="204771"/>
          </a:xfrm>
          <a:prstGeom prst="roundRect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Противоречия в практике</a:t>
            </a: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E79DB964-DAE5-4A18-B4A6-FCF37F7A72B2}"/>
              </a:ext>
            </a:extLst>
          </p:cNvPr>
          <p:cNvSpPr/>
          <p:nvPr/>
        </p:nvSpPr>
        <p:spPr>
          <a:xfrm>
            <a:off x="34242" y="2660897"/>
            <a:ext cx="11994792" cy="446534"/>
          </a:xfrm>
          <a:prstGeom prst="round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indent="266700" algn="just"/>
            <a:r>
              <a:rPr lang="ru-RU" sz="1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Несоответствие: </a:t>
            </a:r>
            <a:r>
              <a:rPr lang="ru-RU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практике нужна обоснованная количественная оценка живучести при совместном воздействии отказов и атак - наука такого аппарата не даёт, натурным путём оценку получить невозможно.</a:t>
            </a:r>
          </a:p>
          <a:p>
            <a:pPr indent="266700" algn="just"/>
            <a:r>
              <a:rPr lang="ru-RU" sz="1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Проблема: </a:t>
            </a:r>
            <a:r>
              <a:rPr lang="ru-RU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отсутствуют модели и методы количественной оценки и прогнозирования живучести </a:t>
            </a:r>
            <a:r>
              <a:rPr lang="ru-RU" sz="1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системы обработки информации </a:t>
            </a:r>
            <a:r>
              <a:rPr lang="ru-RU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Управления  навигации и океанографии Министерства Обороны Российской Федерации, пригодные для обоснования проектных решений без натурных испытаний.</a:t>
            </a:r>
            <a:endParaRPr lang="ru-RU" sz="105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Стрелка: вниз 7">
            <a:extLst>
              <a:ext uri="{FF2B5EF4-FFF2-40B4-BE49-F238E27FC236}">
                <a16:creationId xmlns:a16="http://schemas.microsoft.com/office/drawing/2014/main" id="{8F276C69-FA5E-4AC7-A8A2-6F3815A911F0}"/>
              </a:ext>
            </a:extLst>
          </p:cNvPr>
          <p:cNvSpPr/>
          <p:nvPr/>
        </p:nvSpPr>
        <p:spPr>
          <a:xfrm>
            <a:off x="5935837" y="889144"/>
            <a:ext cx="289258" cy="2479671"/>
          </a:xfrm>
          <a:prstGeom prst="downArrow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ru-RU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51CAD8BD-E56A-401D-8A8A-341CE84064C8}"/>
              </a:ext>
            </a:extLst>
          </p:cNvPr>
          <p:cNvSpPr/>
          <p:nvPr/>
        </p:nvSpPr>
        <p:spPr>
          <a:xfrm>
            <a:off x="72307" y="3447529"/>
            <a:ext cx="12012706" cy="294386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ru-RU" sz="11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Объект исследования: </a:t>
            </a:r>
            <a:r>
              <a:rPr lang="ru-RU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Управление навигации и океанографии </a:t>
            </a:r>
            <a:r>
              <a:rPr lang="ru-RU" sz="1000" noProof="1">
                <a:solidFill>
                  <a:srgbClr val="1F2733"/>
                </a:solidFill>
                <a:latin typeface="Times New Roman" panose="02020603050405020304" pitchFamily="18" charset="0"/>
                <a:ea typeface="PT Sans"/>
                <a:cs typeface="Times New Roman" panose="02020603050405020304" pitchFamily="18" charset="0"/>
              </a:rPr>
              <a:t>Министерства Обороны Российской Федерации</a:t>
            </a:r>
            <a:endParaRPr lang="ru-RU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049542AB-7FA2-491C-AAAB-FD46C9E848E5}"/>
              </a:ext>
            </a:extLst>
          </p:cNvPr>
          <p:cNvSpPr/>
          <p:nvPr/>
        </p:nvSpPr>
        <p:spPr>
          <a:xfrm>
            <a:off x="61549" y="3830657"/>
            <a:ext cx="12012706" cy="294386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ru-RU" sz="11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Предмет исследования</a:t>
            </a:r>
            <a:r>
              <a:rPr lang="ru-RU" sz="10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1000" b="0" i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модель </a:t>
            </a:r>
            <a:r>
              <a:rPr lang="ru-RU" sz="1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 методика оценки живучести центра обработки информации </a:t>
            </a:r>
            <a:r>
              <a:rPr lang="ru-RU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Управления  навигации и океанографии Министерства Обороны Российской Федерации с </a:t>
            </a:r>
            <a:r>
              <a:rPr lang="ru-RU" sz="1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применения цифрового двойника</a:t>
            </a:r>
            <a:endParaRPr lang="ru-RU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Прямоугольник: скругленные углы 21">
            <a:extLst>
              <a:ext uri="{FF2B5EF4-FFF2-40B4-BE49-F238E27FC236}">
                <a16:creationId xmlns:a16="http://schemas.microsoft.com/office/drawing/2014/main" id="{C07BB6E6-B498-4586-8388-6BA51909B6A3}"/>
              </a:ext>
            </a:extLst>
          </p:cNvPr>
          <p:cNvSpPr/>
          <p:nvPr/>
        </p:nvSpPr>
        <p:spPr>
          <a:xfrm>
            <a:off x="61549" y="4203756"/>
            <a:ext cx="12012706" cy="294386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ru-RU" sz="11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Цель исследования</a:t>
            </a:r>
            <a:r>
              <a:rPr lang="ru-RU" sz="10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1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повысить обоснованность проектных решений по построению системы защиты информации центра обработки информации </a:t>
            </a:r>
            <a:r>
              <a:rPr lang="ru-RU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Управления  навигации и океанографии Министерства Обороны Российской Федерации </a:t>
            </a:r>
            <a:r>
              <a:rPr lang="ru-RU" sz="1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за счёт количественной оценки и прогнозирования её живучести на цифровом двойнике</a:t>
            </a:r>
            <a:endParaRPr lang="ru-RU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Прямоугольник: скругленные углы 24">
            <a:extLst>
              <a:ext uri="{FF2B5EF4-FFF2-40B4-BE49-F238E27FC236}">
                <a16:creationId xmlns:a16="http://schemas.microsoft.com/office/drawing/2014/main" id="{CD2B4726-293A-4BA9-B753-5FBB88656040}"/>
              </a:ext>
            </a:extLst>
          </p:cNvPr>
          <p:cNvSpPr/>
          <p:nvPr/>
        </p:nvSpPr>
        <p:spPr>
          <a:xfrm>
            <a:off x="71903" y="4592524"/>
            <a:ext cx="12012706" cy="294386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ru-RU" sz="11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Научная задача</a:t>
            </a:r>
            <a:r>
              <a:rPr lang="ru-RU" sz="10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1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моделей и методик оценки живучести системы обработки информации </a:t>
            </a:r>
            <a:r>
              <a:rPr lang="ru-RU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Управления  навигации и океанографии Министерства Обороны Российской Федерации </a:t>
            </a:r>
            <a:r>
              <a:rPr lang="ru-RU" sz="1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 условиях деструктивных воздействий на основе применения цифрового двойника, обеспечивающих выявление уязвимых элементов системы и обоснованный выбор рационального способа её защиты.</a:t>
            </a:r>
            <a:endParaRPr lang="ru-RU" sz="1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Прямоугольник: скругленные углы 25">
            <a:extLst>
              <a:ext uri="{FF2B5EF4-FFF2-40B4-BE49-F238E27FC236}">
                <a16:creationId xmlns:a16="http://schemas.microsoft.com/office/drawing/2014/main" id="{14AF40B8-0C42-4A7C-BDE3-AC18CAB1FDDE}"/>
              </a:ext>
            </a:extLst>
          </p:cNvPr>
          <p:cNvSpPr/>
          <p:nvPr/>
        </p:nvSpPr>
        <p:spPr>
          <a:xfrm>
            <a:off x="96409" y="4986405"/>
            <a:ext cx="12012706" cy="1811444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ru-RU" sz="11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Частные научные задачи</a:t>
            </a:r>
            <a:r>
              <a:rPr lang="ru-RU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 fontAlgn="base">
              <a:buFont typeface="+mj-lt"/>
              <a:buAutoNum type="arabicPeriod"/>
            </a:pPr>
            <a:r>
              <a:rPr lang="ru-RU" sz="10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Провести анализ</a:t>
            </a:r>
            <a:r>
              <a:rPr lang="ru-RU" sz="1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системы обеспечения информации </a:t>
            </a:r>
            <a:r>
              <a:rPr lang="ru-RU" sz="1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УНиО</a:t>
            </a:r>
            <a:r>
              <a:rPr lang="ru-RU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Министерства Обороны Российской Федерации</a:t>
            </a:r>
            <a:r>
              <a:rPr lang="ru-RU" sz="1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как объекта оценки живучести: выделить её элементный состав, структуру и функции, систематизировать деструктивные воздействия (отказы и атаки) и определить множество показателей живучести.</a:t>
            </a:r>
          </a:p>
          <a:p>
            <a:pPr algn="just" fontAlgn="base">
              <a:buFont typeface="+mj-lt"/>
              <a:buAutoNum type="arabicPeriod"/>
            </a:pPr>
            <a:r>
              <a:rPr lang="ru-RU" sz="10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Разработать модель деструктивных воздействий</a:t>
            </a:r>
            <a:r>
              <a:rPr lang="ru-RU" sz="1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на элементы системы обеспечения информации </a:t>
            </a:r>
            <a:r>
              <a:rPr lang="ru-RU" sz="1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УНиО</a:t>
            </a:r>
            <a:r>
              <a:rPr lang="ru-RU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Министерства Обороны Российской Федерации</a:t>
            </a:r>
            <a:r>
              <a:rPr lang="ru-RU" sz="1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, описывающую множество возможных повреждающих событий, их интенсивность и последствия для функционирования информационной системы.</a:t>
            </a:r>
          </a:p>
          <a:p>
            <a:pPr algn="just" fontAlgn="base">
              <a:buFont typeface="+mj-lt"/>
              <a:buAutoNum type="arabicPeriod"/>
            </a:pPr>
            <a:r>
              <a:rPr lang="ru-RU" sz="10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Разработать модель функционирования</a:t>
            </a:r>
            <a:r>
              <a:rPr lang="ru-RU" sz="1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системы обеспечения </a:t>
            </a:r>
            <a:r>
              <a:rPr lang="ru-RU" sz="1000" b="0" i="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УНиО</a:t>
            </a:r>
            <a:r>
              <a:rPr lang="ru-RU" sz="1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Министерства Обороны Российской Федерации</a:t>
            </a:r>
            <a:r>
              <a:rPr lang="ru-RU" sz="1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в условиях деструктивных воздействий, учитывающую структурное резервирование, деградацию и восстановление функций системы.</a:t>
            </a:r>
          </a:p>
          <a:p>
            <a:pPr algn="just" fontAlgn="base">
              <a:buFont typeface="+mj-lt"/>
              <a:buAutoNum type="arabicPeriod"/>
            </a:pPr>
            <a:r>
              <a:rPr lang="ru-RU" sz="10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Разработать методику оценки показателя живучести</a:t>
            </a:r>
            <a:r>
              <a:rPr lang="ru-RU" sz="1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системы обеспечения информации </a:t>
            </a:r>
            <a:r>
              <a:rPr lang="ru-RU" sz="1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УНиО</a:t>
            </a:r>
            <a:r>
              <a:rPr lang="ru-RU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Министерства Обороны Российской Федерации</a:t>
            </a:r>
            <a:r>
              <a:rPr lang="ru-RU" sz="1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на основе имитационного эксперимента с её цифровым двойником, обеспечивающий выявление уязвимых (наименее живучих) элементов и подсистем.</a:t>
            </a:r>
          </a:p>
          <a:p>
            <a:pPr algn="just" fontAlgn="base">
              <a:buFont typeface="+mj-lt"/>
              <a:buAutoNum type="arabicPeriod"/>
            </a:pPr>
            <a:r>
              <a:rPr lang="ru-RU" sz="10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Разработать методику выбора рационального способа защиты</a:t>
            </a:r>
            <a:r>
              <a:rPr lang="ru-RU" sz="1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системы обеспечения информации </a:t>
            </a:r>
            <a:r>
              <a:rPr lang="ru-RU" sz="1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УНиО</a:t>
            </a:r>
            <a:r>
              <a:rPr lang="ru-RU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Министерства Обороны Российской Федерации</a:t>
            </a:r>
            <a:r>
              <a:rPr lang="ru-RU" sz="1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от деструктивных воздействий на основе сравнительной оценки вариантов по показателям живучести, получаемым с применением цифрового двойника.</a:t>
            </a:r>
          </a:p>
        </p:txBody>
      </p:sp>
    </p:spTree>
    <p:extLst>
      <p:ext uri="{BB962C8B-B14F-4D97-AF65-F5344CB8AC3E}">
        <p14:creationId xmlns:p14="http://schemas.microsoft.com/office/powerpoint/2010/main" val="22242477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DF6C7A-C19D-C1F9-D852-4CBF178A3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4A6C41C5-6848-4D82-80B9-2B8ADCA7E02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117"/>
          <a:stretch/>
        </p:blipFill>
        <p:spPr>
          <a:xfrm>
            <a:off x="6277" y="392645"/>
            <a:ext cx="12192000" cy="6438481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28D886DD-5B7B-921A-023C-2FA90336901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2415"/>
                    </a14:imgEffect>
                    <a14:imgEffect>
                      <a14:saturation sat="4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030" b="80536"/>
          <a:stretch/>
        </p:blipFill>
        <p:spPr>
          <a:xfrm>
            <a:off x="18834" y="-220483"/>
            <a:ext cx="12192000" cy="929320"/>
          </a:xfrm>
          <a:prstGeom prst="rect">
            <a:avLst/>
          </a:prstGeom>
          <a:noFill/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5C82EDC-D2BD-0840-A97B-15BA845C7EA3}"/>
              </a:ext>
            </a:extLst>
          </p:cNvPr>
          <p:cNvSpPr txBox="1"/>
          <p:nvPr/>
        </p:nvSpPr>
        <p:spPr>
          <a:xfrm>
            <a:off x="10306270" y="-36320"/>
            <a:ext cx="9163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6AEBAD-6C8F-4C62-A860-CF8412FC108D}" type="slidenum">
              <a:rPr kumimoji="0" lang="ru-RU" sz="2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attle Sans [RUS by me]" panose="00000400000000000000" pitchFamily="2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attle Sans [RUS by me]" panose="00000400000000000000" pitchFamily="2" charset="0"/>
                <a:ea typeface="+mn-ea"/>
                <a:cs typeface="+mn-cs"/>
              </a:rPr>
              <a:t>/11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5DDED968-447D-41A7-9142-A5DF252B48A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202479" y="-105110"/>
            <a:ext cx="916371" cy="629320"/>
          </a:xfrm>
          <a:prstGeom prst="rect">
            <a:avLst/>
          </a:prstGeom>
          <a:effectLst>
            <a:glow rad="152400">
              <a:schemeClr val="accent1">
                <a:alpha val="21000"/>
              </a:schemeClr>
            </a:glow>
          </a:effectLst>
        </p:spPr>
      </p:pic>
      <p:pic>
        <p:nvPicPr>
          <p:cNvPr id="48" name="Рисунок 47">
            <a:extLst>
              <a:ext uri="{FF2B5EF4-FFF2-40B4-BE49-F238E27FC236}">
                <a16:creationId xmlns:a16="http://schemas.microsoft.com/office/drawing/2014/main" id="{E738B820-1A74-96EA-4BB5-740BA7EDEC88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28" y="-233072"/>
            <a:ext cx="916371" cy="916371"/>
          </a:xfrm>
          <a:prstGeom prst="rect">
            <a:avLst/>
          </a:prstGeom>
          <a:effectLst>
            <a:glow rad="38100">
              <a:schemeClr val="accent1">
                <a:alpha val="40000"/>
              </a:schemeClr>
            </a:glow>
          </a:effectLst>
        </p:spPr>
      </p:pic>
      <p:pic>
        <p:nvPicPr>
          <p:cNvPr id="49" name="Picture 2" descr="M:\Эмбдема КВВУ из вектора.tif">
            <a:extLst>
              <a:ext uri="{FF2B5EF4-FFF2-40B4-BE49-F238E27FC236}">
                <a16:creationId xmlns:a16="http://schemas.microsoft.com/office/drawing/2014/main" id="{B64B0DA3-5BF3-3806-CDD5-8545131940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47256" y="-241481"/>
            <a:ext cx="775931" cy="9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utoShape 2" descr="https://2.bp.blogspot.com/-r5byV_OS0W0/XLwdZMJSjSI/AAAAAAABHgs/RzaI5rtrTg0JULGfOz1PusXeOIUMM8kkwCEwYBhgL/s1600/3601877618.jpg">
            <a:extLst>
              <a:ext uri="{FF2B5EF4-FFF2-40B4-BE49-F238E27FC236}">
                <a16:creationId xmlns:a16="http://schemas.microsoft.com/office/drawing/2014/main" id="{DA195FD3-AB9A-7EFB-A9FD-2BE9E4215BA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844675" y="1814058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AutoShape 4" descr="https://2.bp.blogspot.com/-r5byV_OS0W0/XLwdZMJSjSI/AAAAAAABHgs/RzaI5rtrTg0JULGfOz1PusXeOIUMM8kkwCEwYBhgL/s1600/3601877618.jpg">
            <a:extLst>
              <a:ext uri="{FF2B5EF4-FFF2-40B4-BE49-F238E27FC236}">
                <a16:creationId xmlns:a16="http://schemas.microsoft.com/office/drawing/2014/main" id="{FF8DFC95-B0D5-2354-54C0-EA065F13DFB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9375" y="-193886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CE77C4C-78E9-3A60-5552-A9016C95611C}"/>
              </a:ext>
            </a:extLst>
          </p:cNvPr>
          <p:cNvSpPr txBox="1"/>
          <p:nvPr/>
        </p:nvSpPr>
        <p:spPr>
          <a:xfrm>
            <a:off x="2475608" y="22035"/>
            <a:ext cx="704359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ru-RU" sz="1600" b="1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ФОРМАЛЬНАЯ ПОСТАНОВКА ЗАДАЧИ</a:t>
            </a: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AutoShape 2" descr="Сформированное изображение: Киберзащита в цифровом мире">
            <a:extLst>
              <a:ext uri="{FF2B5EF4-FFF2-40B4-BE49-F238E27FC236}">
                <a16:creationId xmlns:a16="http://schemas.microsoft.com/office/drawing/2014/main" id="{EBBE55FB-AE13-4358-9C97-483D68C68FF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715000" y="3074777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AF9CFBB-3A03-44A3-8715-4DF0590F145F}"/>
              </a:ext>
            </a:extLst>
          </p:cNvPr>
          <p:cNvSpPr txBox="1"/>
          <p:nvPr/>
        </p:nvSpPr>
        <p:spPr>
          <a:xfrm>
            <a:off x="672252" y="2659534"/>
            <a:ext cx="3504485" cy="2459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endParaRPr lang="ru-RU" sz="1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Rounded Rectangle 49">
            <a:extLst>
              <a:ext uri="{FF2B5EF4-FFF2-40B4-BE49-F238E27FC236}">
                <a16:creationId xmlns:a16="http://schemas.microsoft.com/office/drawing/2014/main" id="{E47811AC-8E61-4240-8EA1-44B89334D44A}"/>
              </a:ext>
            </a:extLst>
          </p:cNvPr>
          <p:cNvSpPr/>
          <p:nvPr/>
        </p:nvSpPr>
        <p:spPr>
          <a:xfrm>
            <a:off x="76275" y="752282"/>
            <a:ext cx="11985391" cy="327812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00" b="1" i="0" dirty="0">
                <a:solidFill>
                  <a:schemeClr val="tx1"/>
                </a:solidFill>
                <a:latin typeface="Times New Roman"/>
              </a:rPr>
              <a:t>S = </a:t>
            </a:r>
            <a:r>
              <a:rPr lang="ru-RU" sz="1000" b="1" i="0" dirty="0">
                <a:solidFill>
                  <a:schemeClr val="tx1"/>
                </a:solidFill>
                <a:latin typeface="Times New Roman"/>
              </a:rPr>
              <a:t>⟨</a:t>
            </a:r>
            <a:r>
              <a:rPr sz="1000" b="1" i="0" dirty="0">
                <a:solidFill>
                  <a:schemeClr val="tx1"/>
                </a:solidFill>
                <a:latin typeface="Times New Roman"/>
              </a:rPr>
              <a:t>E, L, F</a:t>
            </a:r>
            <a:r>
              <a:rPr lang="ru-RU" sz="1000" b="1" i="0" dirty="0">
                <a:solidFill>
                  <a:schemeClr val="tx1"/>
                </a:solidFill>
                <a:latin typeface="Times New Roman"/>
              </a:rPr>
              <a:t>⟩</a:t>
            </a:r>
            <a:r>
              <a:rPr sz="1000" b="0" i="0" dirty="0">
                <a:solidFill>
                  <a:schemeClr val="tx1"/>
                </a:solidFill>
                <a:latin typeface="Times New Roman"/>
              </a:rPr>
              <a:t> </a:t>
            </a:r>
            <a:r>
              <a:rPr lang="ru-RU" sz="1000" b="0" i="0" dirty="0">
                <a:solidFill>
                  <a:schemeClr val="tx1"/>
                </a:solidFill>
                <a:latin typeface="Times New Roman"/>
              </a:rPr>
              <a:t>-</a:t>
            </a:r>
            <a:r>
              <a:rPr sz="1000" b="0" i="0" dirty="0">
                <a:solidFill>
                  <a:schemeClr val="tx1"/>
                </a:solidFill>
                <a:latin typeface="Times New Roman"/>
              </a:rPr>
              <a:t> </a:t>
            </a:r>
            <a:r>
              <a:rPr lang="ru-RU" sz="1000" dirty="0">
                <a:solidFill>
                  <a:schemeClr val="tx1"/>
                </a:solidFill>
                <a:latin typeface="Times New Roman"/>
              </a:rPr>
              <a:t>структурная модель системы</a:t>
            </a:r>
            <a:r>
              <a:rPr sz="1000" b="0" i="0" dirty="0">
                <a:solidFill>
                  <a:schemeClr val="tx1"/>
                </a:solidFill>
                <a:latin typeface="Times New Roman"/>
              </a:rPr>
              <a:t>;   </a:t>
            </a:r>
            <a:r>
              <a:rPr sz="1000" b="1" i="0" dirty="0">
                <a:solidFill>
                  <a:schemeClr val="tx1"/>
                </a:solidFill>
                <a:latin typeface="Times New Roman"/>
              </a:rPr>
              <a:t>D = {d</a:t>
            </a:r>
            <a:r>
              <a:rPr sz="1000" b="0" i="0" baseline="-25000" dirty="0">
                <a:solidFill>
                  <a:schemeClr val="tx1"/>
                </a:solidFill>
                <a:latin typeface="Times New Roman"/>
              </a:rPr>
              <a:t>1</a:t>
            </a:r>
            <a:r>
              <a:rPr sz="1000" b="1" i="0" dirty="0">
                <a:solidFill>
                  <a:schemeClr val="tx1"/>
                </a:solidFill>
                <a:latin typeface="Times New Roman"/>
              </a:rPr>
              <a:t>, …, d</a:t>
            </a:r>
            <a:r>
              <a:rPr sz="1000" b="0" i="0" baseline="-25000" dirty="0">
                <a:solidFill>
                  <a:schemeClr val="tx1"/>
                </a:solidFill>
                <a:latin typeface="Times New Roman"/>
              </a:rPr>
              <a:t>m</a:t>
            </a:r>
            <a:r>
              <a:rPr sz="1000" b="1" i="0" dirty="0">
                <a:solidFill>
                  <a:schemeClr val="tx1"/>
                </a:solidFill>
                <a:latin typeface="Times New Roman"/>
              </a:rPr>
              <a:t>}</a:t>
            </a:r>
            <a:r>
              <a:rPr sz="1000" b="0" i="0" dirty="0">
                <a:solidFill>
                  <a:schemeClr val="tx1"/>
                </a:solidFill>
                <a:latin typeface="Times New Roman"/>
              </a:rPr>
              <a:t> </a:t>
            </a:r>
            <a:r>
              <a:rPr lang="ru-RU" sz="1000" b="0" i="0" dirty="0">
                <a:solidFill>
                  <a:schemeClr val="tx1"/>
                </a:solidFill>
                <a:latin typeface="Times New Roman"/>
              </a:rPr>
              <a:t>–</a:t>
            </a:r>
            <a:r>
              <a:rPr sz="1000" b="0" i="0" dirty="0">
                <a:solidFill>
                  <a:schemeClr val="tx1"/>
                </a:solidFill>
                <a:latin typeface="Times New Roman"/>
              </a:rPr>
              <a:t> </a:t>
            </a:r>
            <a:r>
              <a:rPr lang="ru-RU" sz="1000" b="0" i="0" dirty="0">
                <a:solidFill>
                  <a:schemeClr val="tx1"/>
                </a:solidFill>
                <a:latin typeface="Times New Roman"/>
              </a:rPr>
              <a:t>деструктивные воздействия</a:t>
            </a:r>
            <a:r>
              <a:rPr sz="1000" b="0" i="0" dirty="0">
                <a:solidFill>
                  <a:schemeClr val="tx1"/>
                </a:solidFill>
                <a:latin typeface="Times New Roman"/>
              </a:rPr>
              <a:t>;   </a:t>
            </a:r>
            <a:r>
              <a:rPr sz="1000" b="1" i="0" dirty="0">
                <a:solidFill>
                  <a:schemeClr val="tx1"/>
                </a:solidFill>
                <a:latin typeface="Times New Roman"/>
              </a:rPr>
              <a:t>X = (x</a:t>
            </a:r>
            <a:r>
              <a:rPr sz="1000" b="0" i="0" baseline="-25000" dirty="0">
                <a:solidFill>
                  <a:schemeClr val="tx1"/>
                </a:solidFill>
                <a:latin typeface="Times New Roman"/>
              </a:rPr>
              <a:t>1</a:t>
            </a:r>
            <a:r>
              <a:rPr sz="1000" b="1" i="0" dirty="0">
                <a:solidFill>
                  <a:schemeClr val="tx1"/>
                </a:solidFill>
                <a:latin typeface="Times New Roman"/>
              </a:rPr>
              <a:t>, …, </a:t>
            </a:r>
            <a:r>
              <a:rPr sz="1000" b="1" i="0" dirty="0" err="1">
                <a:solidFill>
                  <a:schemeClr val="tx1"/>
                </a:solidFill>
                <a:latin typeface="Times New Roman"/>
              </a:rPr>
              <a:t>x</a:t>
            </a:r>
            <a:r>
              <a:rPr sz="1000" b="0" i="0" baseline="-25000" dirty="0" err="1">
                <a:solidFill>
                  <a:schemeClr val="tx1"/>
                </a:solidFill>
                <a:latin typeface="Times New Roman"/>
              </a:rPr>
              <a:t>n</a:t>
            </a:r>
            <a:r>
              <a:rPr sz="1000" b="1" i="0" dirty="0">
                <a:solidFill>
                  <a:schemeClr val="tx1"/>
                </a:solidFill>
                <a:latin typeface="Times New Roman"/>
              </a:rPr>
              <a:t>) ∈ Ω = {0, 1}</a:t>
            </a:r>
            <a:r>
              <a:rPr sz="1000" b="0" i="0" baseline="30000" dirty="0">
                <a:solidFill>
                  <a:schemeClr val="tx1"/>
                </a:solidFill>
                <a:latin typeface="Times New Roman"/>
              </a:rPr>
              <a:t>n</a:t>
            </a:r>
            <a:r>
              <a:rPr sz="1000" b="0" i="0" dirty="0">
                <a:solidFill>
                  <a:schemeClr val="tx1"/>
                </a:solidFill>
                <a:latin typeface="Times New Roman"/>
              </a:rPr>
              <a:t> </a:t>
            </a:r>
            <a:r>
              <a:rPr lang="ru-RU" sz="1000" b="0" i="0" dirty="0">
                <a:solidFill>
                  <a:schemeClr val="tx1"/>
                </a:solidFill>
                <a:latin typeface="Times New Roman"/>
              </a:rPr>
              <a:t>–</a:t>
            </a:r>
            <a:r>
              <a:rPr sz="1000" b="0" i="0" dirty="0">
                <a:solidFill>
                  <a:schemeClr val="tx1"/>
                </a:solidFill>
                <a:latin typeface="Times New Roman"/>
              </a:rPr>
              <a:t> </a:t>
            </a:r>
            <a:r>
              <a:rPr lang="ru-RU" sz="1000" b="0" i="0" dirty="0">
                <a:solidFill>
                  <a:schemeClr val="tx1"/>
                </a:solidFill>
                <a:latin typeface="Times New Roman"/>
              </a:rPr>
              <a:t>вектор состояний</a:t>
            </a:r>
            <a:endParaRPr sz="1000" b="0" i="0" dirty="0">
              <a:solidFill>
                <a:schemeClr val="tx1"/>
              </a:solidFill>
              <a:latin typeface="Times New Roman"/>
            </a:endParaRPr>
          </a:p>
        </p:txBody>
      </p:sp>
      <p:sp>
        <p:nvSpPr>
          <p:cNvPr id="15" name="Round Same Side Corner Rectangle 52">
            <a:extLst>
              <a:ext uri="{FF2B5EF4-FFF2-40B4-BE49-F238E27FC236}">
                <a16:creationId xmlns:a16="http://schemas.microsoft.com/office/drawing/2014/main" id="{C59E7A17-7025-4586-9D1F-BCFBDA3FE292}"/>
              </a:ext>
            </a:extLst>
          </p:cNvPr>
          <p:cNvSpPr/>
          <p:nvPr/>
        </p:nvSpPr>
        <p:spPr>
          <a:xfrm>
            <a:off x="6068970" y="1248127"/>
            <a:ext cx="3467661" cy="270426"/>
          </a:xfrm>
          <a:prstGeom prst="round2Same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00" b="1" i="1" dirty="0">
                <a:solidFill>
                  <a:schemeClr val="tx1"/>
                </a:solidFill>
                <a:latin typeface="Times New Roman"/>
              </a:rPr>
              <a:t>ЗАДАЧА 1. ОЦЕНКА ЖИВУЧЕСТИ УЗЛА</a:t>
            </a:r>
            <a:r>
              <a:rPr lang="ru-RU" sz="1000" b="1" i="1" dirty="0">
                <a:solidFill>
                  <a:schemeClr val="tx1"/>
                </a:solidFill>
                <a:latin typeface="Times New Roman"/>
              </a:rPr>
              <a:t> </a:t>
            </a:r>
            <a:r>
              <a:rPr sz="1000" b="1" i="1" dirty="0" err="1">
                <a:solidFill>
                  <a:schemeClr val="tx1"/>
                </a:solidFill>
                <a:latin typeface="Times New Roman"/>
              </a:rPr>
              <a:t>e</a:t>
            </a:r>
            <a:r>
              <a:rPr lang="en-US" sz="1000" b="1" i="1" baseline="-25000" dirty="0" err="1">
                <a:solidFill>
                  <a:schemeClr val="tx1"/>
                </a:solidFill>
                <a:latin typeface="Times New Roman"/>
              </a:rPr>
              <a:t>i</a:t>
            </a:r>
            <a:endParaRPr sz="1000" b="1" i="1" baseline="-25000" dirty="0">
              <a:solidFill>
                <a:schemeClr val="tx1"/>
              </a:solidFill>
              <a:latin typeface="Times New Roman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Прямоугольник: скругленные углы 1">
                <a:extLst>
                  <a:ext uri="{FF2B5EF4-FFF2-40B4-BE49-F238E27FC236}">
                    <a16:creationId xmlns:a16="http://schemas.microsoft.com/office/drawing/2014/main" id="{EE855C81-1BB4-4670-98F4-AB05CF1214E3}"/>
                  </a:ext>
                </a:extLst>
              </p:cNvPr>
              <p:cNvSpPr/>
              <p:nvPr/>
            </p:nvSpPr>
            <p:spPr>
              <a:xfrm>
                <a:off x="4727500" y="1550609"/>
                <a:ext cx="7388225" cy="1927648"/>
              </a:xfrm>
              <a:prstGeom prst="roundRect">
                <a:avLst/>
              </a:prstGeom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just">
                  <a:lnSpc>
                    <a:spcPct val="100000"/>
                  </a:lnSpc>
                  <a:spcAft>
                    <a:spcPts val="200"/>
                  </a:spcAft>
                </a:pPr>
                <a:r>
                  <a:rPr lang="ru-RU" sz="1200" b="1" i="0" dirty="0">
                    <a:solidFill>
                      <a:srgbClr val="1A1A1A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Дано:</a:t>
                </a:r>
              </a:p>
              <a:p>
                <a:pPr algn="just">
                  <a:lnSpc>
                    <a:spcPct val="100000"/>
                  </a:lnSpc>
                  <a:spcAft>
                    <a:spcPts val="200"/>
                  </a:spcAft>
                </a:pPr>
                <a:r>
                  <a:rPr lang="ru-RU" sz="1200" b="0" i="0" dirty="0">
                    <a:solidFill>
                      <a:srgbClr val="1A1A1A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•  элемент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200" i="1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ru-RU" sz="1200" dirty="0">
                            <a:solidFill>
                              <a:srgbClr val="1A1A1A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e</m:t>
                        </m:r>
                      </m:e>
                      <m:sub>
                        <m:r>
                          <m:rPr>
                            <m:nor/>
                          </m:rPr>
                          <a:rPr lang="ru-RU" sz="1200" baseline="-25000" dirty="0">
                            <a:solidFill>
                              <a:srgbClr val="1A1A1A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lang="ru-RU" sz="1200" b="0" i="0" dirty="0">
                    <a:solidFill>
                      <a:srgbClr val="1A1A1A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∈ E; интенсивность его собственных отказов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ru-RU" sz="1200" b="0" i="1" smtClean="0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m:rPr>
                            <m:nor/>
                          </m:rPr>
                          <a:rPr lang="ru-RU" sz="1200" dirty="0">
                            <a:solidFill>
                              <a:srgbClr val="1A1A1A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λ</m:t>
                        </m:r>
                      </m:e>
                      <m:sub>
                        <m:r>
                          <m:rPr>
                            <m:nor/>
                          </m:rPr>
                          <a:rPr lang="ru-RU" sz="1200" baseline="-25000" dirty="0">
                            <a:solidFill>
                              <a:srgbClr val="1A1A1A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i</m:t>
                        </m:r>
                      </m:sub>
                      <m:sup>
                        <m:r>
                          <m:rPr>
                            <m:nor/>
                          </m:rPr>
                          <a:rPr lang="ru-RU" sz="1200" baseline="30000" dirty="0">
                            <a:solidFill>
                              <a:srgbClr val="1A1A1A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(0)</m:t>
                        </m:r>
                      </m:sup>
                    </m:sSubSup>
                  </m:oMath>
                </a14:m>
                <a:r>
                  <a:rPr lang="ru-RU" sz="1200" b="0" i="0" dirty="0">
                    <a:solidFill>
                      <a:srgbClr val="1A1A1A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</a:t>
                </a:r>
              </a:p>
              <a:p>
                <a:pPr>
                  <a:lnSpc>
                    <a:spcPct val="100000"/>
                  </a:lnSpc>
                  <a:spcAft>
                    <a:spcPts val="200"/>
                  </a:spcAft>
                </a:pPr>
                <a:r>
                  <a:rPr lang="ru-RU" sz="1200" b="0" i="0" dirty="0">
                    <a:solidFill>
                      <a:srgbClr val="1A1A1A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•  воздействия D = {</a:t>
                </a:r>
                <a:r>
                  <a:rPr lang="ru-RU" sz="1200" b="0" i="0" dirty="0" err="1">
                    <a:solidFill>
                      <a:srgbClr val="1A1A1A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ru-RU" sz="1200" b="0" i="0" baseline="-25000" dirty="0" err="1">
                    <a:solidFill>
                      <a:srgbClr val="1A1A1A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</a:t>
                </a:r>
                <a:r>
                  <a:rPr lang="ru-RU" sz="1200" b="0" i="0" dirty="0">
                    <a:solidFill>
                      <a:srgbClr val="1A1A1A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} с интенсивностями </a:t>
                </a:r>
                <a:r>
                  <a:rPr lang="ru-RU" sz="1200" b="0" i="0" dirty="0" err="1">
                    <a:solidFill>
                      <a:srgbClr val="1A1A1A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λ</a:t>
                </a:r>
                <a:r>
                  <a:rPr lang="ru-RU" sz="1200" b="0" i="0" baseline="-25000" dirty="0" err="1">
                    <a:solidFill>
                      <a:srgbClr val="1A1A1A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</a:t>
                </a:r>
                <a:r>
                  <a:rPr lang="ru-RU" sz="1200" b="0" i="0" dirty="0">
                    <a:solidFill>
                      <a:srgbClr val="1A1A1A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(j = 1, …, m);</a:t>
                </a:r>
              </a:p>
              <a:p>
                <a:pPr algn="just">
                  <a:lnSpc>
                    <a:spcPct val="100000"/>
                  </a:lnSpc>
                  <a:spcAft>
                    <a:spcPts val="200"/>
                  </a:spcAft>
                </a:pPr>
                <a:r>
                  <a:rPr lang="ru-RU" sz="1200" b="0" i="0" dirty="0">
                    <a:solidFill>
                      <a:srgbClr val="1A1A1A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•  вероятности поражения </a:t>
                </a:r>
                <a:r>
                  <a:rPr lang="ru-RU" sz="1200" b="0" i="0" dirty="0" err="1">
                    <a:solidFill>
                      <a:srgbClr val="1A1A1A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ru-RU" sz="1200" b="0" i="0" baseline="-25000" dirty="0" err="1">
                    <a:solidFill>
                      <a:srgbClr val="1A1A1A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ij</a:t>
                </a:r>
                <a:r>
                  <a:rPr lang="ru-RU" sz="1200" b="0" i="0" dirty="0">
                    <a:solidFill>
                      <a:srgbClr val="1A1A1A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P(</a:t>
                </a:r>
                <a:r>
                  <a:rPr lang="ru-RU" sz="1200" b="0" i="0" dirty="0" err="1">
                    <a:solidFill>
                      <a:srgbClr val="1A1A1A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ru-RU" sz="1200" b="0" i="0" baseline="-25000" dirty="0" err="1">
                    <a:solidFill>
                      <a:srgbClr val="1A1A1A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ru-RU" sz="1200" b="0" i="0" dirty="0">
                    <a:solidFill>
                      <a:srgbClr val="1A1A1A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0 | </a:t>
                </a:r>
                <a:r>
                  <a:rPr lang="ru-RU" sz="1200" b="0" i="0" dirty="0" err="1">
                    <a:solidFill>
                      <a:srgbClr val="1A1A1A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ru-RU" sz="1200" b="0" i="0" baseline="-25000" dirty="0" err="1">
                    <a:solidFill>
                      <a:srgbClr val="1A1A1A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</a:t>
                </a:r>
                <a:r>
                  <a:rPr lang="ru-RU" sz="1200" b="0" i="0" dirty="0">
                    <a:solidFill>
                      <a:srgbClr val="1A1A1A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);</a:t>
                </a:r>
              </a:p>
              <a:p>
                <a:pPr algn="just">
                  <a:lnSpc>
                    <a:spcPct val="100000"/>
                  </a:lnSpc>
                  <a:spcAft>
                    <a:spcPts val="500"/>
                  </a:spcAft>
                </a:pPr>
                <a:r>
                  <a:rPr lang="ru-RU" sz="1200" b="0" i="0" dirty="0">
                    <a:solidFill>
                      <a:srgbClr val="1A1A1A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•  период оценивания T.</a:t>
                </a:r>
              </a:p>
              <a:p>
                <a:pPr>
                  <a:lnSpc>
                    <a:spcPct val="100000"/>
                  </a:lnSpc>
                  <a:spcAft>
                    <a:spcPts val="200"/>
                  </a:spcAft>
                </a:pPr>
                <a:r>
                  <a:rPr lang="ru-RU" sz="1200" b="1" i="0" dirty="0">
                    <a:solidFill>
                      <a:srgbClr val="1A1A1A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Найти:</a:t>
                </a:r>
                <a:r>
                  <a:rPr lang="ru-RU" sz="1200" b="0" i="0" dirty="0">
                    <a:solidFill>
                      <a:srgbClr val="1A1A1A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r>
                  <a:rPr lang="ru-RU" sz="1200" b="0" i="0" dirty="0" err="1">
                    <a:solidFill>
                      <a:srgbClr val="1A1A1A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</a:t>
                </a:r>
                <a:r>
                  <a:rPr lang="ru-RU" sz="1200" b="0" i="0" baseline="-25000" dirty="0" err="1">
                    <a:solidFill>
                      <a:srgbClr val="1A1A1A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ru-RU" sz="1200" b="0" i="0" dirty="0">
                    <a:solidFill>
                      <a:srgbClr val="1A1A1A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P(</a:t>
                </a:r>
                <a:r>
                  <a:rPr lang="ru-RU" sz="1200" b="0" i="0" dirty="0" err="1">
                    <a:solidFill>
                      <a:srgbClr val="1A1A1A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ru-RU" sz="1200" b="0" i="0" baseline="-25000" dirty="0" err="1">
                    <a:solidFill>
                      <a:srgbClr val="1A1A1A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ru-RU" sz="1200" b="0" i="0" dirty="0">
                    <a:solidFill>
                      <a:srgbClr val="1A1A1A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(T) = 1) - вероятность сохранения работоспособности узла за время T:</a:t>
                </a:r>
              </a:p>
              <a:p>
                <a:pPr>
                  <a:lnSpc>
                    <a:spcPct val="100000"/>
                  </a:lnSpc>
                  <a:spcAft>
                    <a:spcPts val="200"/>
                  </a:spcAft>
                </a:pPr>
                <a:endParaRPr lang="ru-RU" sz="1000" b="0" i="0" dirty="0">
                  <a:solidFill>
                    <a:srgbClr val="1A1A1A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Прямоугольник: скругленные углы 1">
                <a:extLst>
                  <a:ext uri="{FF2B5EF4-FFF2-40B4-BE49-F238E27FC236}">
                    <a16:creationId xmlns:a16="http://schemas.microsoft.com/office/drawing/2014/main" id="{EE855C81-1BB4-4670-98F4-AB05CF1214E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7500" y="1550609"/>
                <a:ext cx="7388225" cy="1927648"/>
              </a:xfrm>
              <a:prstGeom prst="round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ounded Rectangle 54">
            <a:extLst>
              <a:ext uri="{FF2B5EF4-FFF2-40B4-BE49-F238E27FC236}">
                <a16:creationId xmlns:a16="http://schemas.microsoft.com/office/drawing/2014/main" id="{6032A488-A8AA-4231-B170-C98DD8721912}"/>
              </a:ext>
            </a:extLst>
          </p:cNvPr>
          <p:cNvSpPr/>
          <p:nvPr/>
        </p:nvSpPr>
        <p:spPr>
          <a:xfrm>
            <a:off x="815340" y="3673894"/>
            <a:ext cx="2668270" cy="566928"/>
          </a:xfrm>
          <a:prstGeom prst="roundRect">
            <a:avLst>
              <a:gd name="adj" fmla="val 10000"/>
            </a:avLst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endParaRPr sz="1500" b="1" i="0" dirty="0">
              <a:solidFill>
                <a:srgbClr val="1F3A5C"/>
              </a:solidFill>
              <a:latin typeface="Times New Roman"/>
            </a:endParaRP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577313BB-8BFE-411C-BD2A-9360239480AF}"/>
              </a:ext>
            </a:extLst>
          </p:cNvPr>
          <p:cNvSpPr/>
          <p:nvPr/>
        </p:nvSpPr>
        <p:spPr>
          <a:xfrm>
            <a:off x="672252" y="3022600"/>
            <a:ext cx="2286848" cy="406400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1" name="Round Same Side Corner Rectangle 56">
            <a:extLst>
              <a:ext uri="{FF2B5EF4-FFF2-40B4-BE49-F238E27FC236}">
                <a16:creationId xmlns:a16="http://schemas.microsoft.com/office/drawing/2014/main" id="{EBCBD147-0407-48AA-B54D-4AC2FD3EFDAE}"/>
              </a:ext>
            </a:extLst>
          </p:cNvPr>
          <p:cNvSpPr/>
          <p:nvPr/>
        </p:nvSpPr>
        <p:spPr>
          <a:xfrm>
            <a:off x="6435431" y="3671069"/>
            <a:ext cx="3377084" cy="270426"/>
          </a:xfrm>
          <a:prstGeom prst="round2Same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00" b="1" i="1" dirty="0">
                <a:solidFill>
                  <a:schemeClr val="tx1"/>
                </a:solidFill>
                <a:latin typeface="Times New Roman"/>
              </a:rPr>
              <a:t>ЗАДАЧА 2. ОЦЕНКА ЖИВУЧЕСТИ СИСТЕМЫ 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Прямоугольник: скругленные углы 27">
                <a:extLst>
                  <a:ext uri="{FF2B5EF4-FFF2-40B4-BE49-F238E27FC236}">
                    <a16:creationId xmlns:a16="http://schemas.microsoft.com/office/drawing/2014/main" id="{E64AFAAD-0D2E-4D9D-9699-741444DFE023}"/>
                  </a:ext>
                </a:extLst>
              </p:cNvPr>
              <p:cNvSpPr/>
              <p:nvPr/>
            </p:nvSpPr>
            <p:spPr>
              <a:xfrm>
                <a:off x="4727501" y="4072797"/>
                <a:ext cx="7334166" cy="1927648"/>
              </a:xfrm>
              <a:prstGeom prst="roundRect">
                <a:avLst/>
              </a:prstGeom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just">
                  <a:lnSpc>
                    <a:spcPct val="100000"/>
                  </a:lnSpc>
                  <a:spcAft>
                    <a:spcPts val="200"/>
                  </a:spcAft>
                </a:pPr>
                <a:r>
                  <a:rPr lang="ru-RU" sz="1200" b="1" i="0" dirty="0">
                    <a:solidFill>
                      <a:srgbClr val="1A1A1A"/>
                    </a:solidFill>
                    <a:latin typeface="Times New Roman"/>
                  </a:rPr>
                  <a:t>Дано:</a:t>
                </a:r>
              </a:p>
              <a:p>
                <a:pPr>
                  <a:lnSpc>
                    <a:spcPct val="100000"/>
                  </a:lnSpc>
                  <a:spcAft>
                    <a:spcPts val="200"/>
                  </a:spcAft>
                </a:pPr>
                <a:r>
                  <a:rPr lang="ru-RU" sz="1200" b="0" i="0" dirty="0">
                    <a:solidFill>
                      <a:srgbClr val="1A1A1A"/>
                    </a:solidFill>
                    <a:latin typeface="Times New Roman"/>
                  </a:rPr>
                  <a:t>•  структура S = ⟨E, L, F⟩ и живучести узлов </a:t>
                </a:r>
                <a:r>
                  <a:rPr lang="ru-RU" sz="1200" b="0" i="0" dirty="0" err="1">
                    <a:solidFill>
                      <a:srgbClr val="1A1A1A"/>
                    </a:solidFill>
                    <a:latin typeface="Times New Roman"/>
                  </a:rPr>
                  <a:t>Q</a:t>
                </a:r>
                <a:r>
                  <a:rPr lang="ru-RU" sz="1200" b="0" i="0" baseline="-25000" dirty="0" err="1">
                    <a:solidFill>
                      <a:srgbClr val="1A1A1A"/>
                    </a:solidFill>
                    <a:latin typeface="Times New Roman"/>
                  </a:rPr>
                  <a:t>i</a:t>
                </a:r>
                <a:r>
                  <a:rPr lang="ru-RU" sz="1200" b="0" i="0" dirty="0">
                    <a:solidFill>
                      <a:srgbClr val="1A1A1A"/>
                    </a:solidFill>
                    <a:latin typeface="Times New Roman"/>
                  </a:rPr>
                  <a:t>  (i = 1, …, n);</a:t>
                </a:r>
              </a:p>
              <a:p>
                <a:pPr>
                  <a:lnSpc>
                    <a:spcPct val="100000"/>
                  </a:lnSpc>
                  <a:spcAft>
                    <a:spcPts val="200"/>
                  </a:spcAft>
                </a:pPr>
                <a:r>
                  <a:rPr lang="ru-RU" sz="1200" b="0" i="0" dirty="0">
                    <a:solidFill>
                      <a:srgbClr val="1A1A1A"/>
                    </a:solidFill>
                    <a:latin typeface="Times New Roman"/>
                  </a:rPr>
                  <a:t>•  функция эффективности W(X) ∈ [0, 1] - доля выполнения целевой функции;</a:t>
                </a:r>
              </a:p>
              <a:p>
                <a:pPr algn="just">
                  <a:lnSpc>
                    <a:spcPct val="100000"/>
                  </a:lnSpc>
                  <a:spcAft>
                    <a:spcPts val="500"/>
                  </a:spcAft>
                </a:pPr>
                <a:r>
                  <a:rPr lang="ru-RU" sz="1200" b="0" i="0" dirty="0">
                    <a:solidFill>
                      <a:srgbClr val="1A1A1A"/>
                    </a:solidFill>
                    <a:latin typeface="Times New Roman"/>
                  </a:rPr>
                  <a:t>•  допустимый порог деградации </a:t>
                </a:r>
                <a:r>
                  <a:rPr lang="ru-RU" sz="1200" b="0" i="0" dirty="0" err="1">
                    <a:solidFill>
                      <a:srgbClr val="1A1A1A"/>
                    </a:solidFill>
                    <a:latin typeface="Times New Roman"/>
                  </a:rPr>
                  <a:t>W</a:t>
                </a:r>
                <a:r>
                  <a:rPr lang="ru-RU" sz="1200" b="0" i="0" baseline="-25000" dirty="0" err="1">
                    <a:solidFill>
                      <a:srgbClr val="1A1A1A"/>
                    </a:solidFill>
                    <a:latin typeface="Times New Roman"/>
                  </a:rPr>
                  <a:t>доп</a:t>
                </a:r>
                <a:r>
                  <a:rPr lang="ru-RU" sz="1200" b="0" i="0" dirty="0">
                    <a:solidFill>
                      <a:srgbClr val="1A1A1A"/>
                    </a:solidFill>
                    <a:latin typeface="Times New Roman"/>
                  </a:rPr>
                  <a:t>.</a:t>
                </a:r>
              </a:p>
              <a:p>
                <a:pPr>
                  <a:lnSpc>
                    <a:spcPct val="100000"/>
                  </a:lnSpc>
                  <a:spcAft>
                    <a:spcPts val="200"/>
                  </a:spcAft>
                </a:pPr>
                <a:r>
                  <a:rPr lang="ru-RU" sz="1200" b="1" i="0" dirty="0">
                    <a:solidFill>
                      <a:srgbClr val="1A1A1A"/>
                    </a:solidFill>
                    <a:latin typeface="Times New Roman"/>
                  </a:rPr>
                  <a:t>Найти:</a:t>
                </a:r>
                <a:r>
                  <a:rPr lang="ru-RU" sz="1200" b="0" i="0" dirty="0">
                    <a:solidFill>
                      <a:srgbClr val="1A1A1A"/>
                    </a:solidFill>
                    <a:latin typeface="Times New Roman"/>
                  </a:rPr>
                  <a:t>  Q(S) = P( W(X) ≥ </a:t>
                </a:r>
                <a:r>
                  <a:rPr lang="ru-RU" sz="1200" b="0" i="0" dirty="0" err="1">
                    <a:solidFill>
                      <a:srgbClr val="1A1A1A"/>
                    </a:solidFill>
                    <a:latin typeface="Times New Roman"/>
                  </a:rPr>
                  <a:t>W</a:t>
                </a:r>
                <a:r>
                  <a:rPr lang="ru-RU" sz="1200" b="0" i="0" baseline="-25000" dirty="0" err="1">
                    <a:solidFill>
                      <a:srgbClr val="1A1A1A"/>
                    </a:solidFill>
                    <a:latin typeface="Times New Roman"/>
                  </a:rPr>
                  <a:t>доп</a:t>
                </a:r>
                <a:r>
                  <a:rPr lang="ru-RU" sz="1200" b="0" i="0" dirty="0">
                    <a:solidFill>
                      <a:srgbClr val="1A1A1A"/>
                    </a:solidFill>
                    <a:latin typeface="Times New Roman"/>
                  </a:rPr>
                  <a:t> ) - вероятность выполнения целевой функции не ниже допустимого уровня:</a:t>
                </a:r>
              </a:p>
              <a:p>
                <a:pPr algn="l">
                  <a:lnSpc>
                    <a:spcPct val="100000"/>
                  </a:lnSpc>
                  <a:spcAft>
                    <a:spcPts val="200"/>
                  </a:spcAft>
                </a:pPr>
                <a:endParaRPr lang="ru-RU" sz="1200" dirty="0">
                  <a:solidFill>
                    <a:srgbClr val="1A1A1A"/>
                  </a:solidFill>
                  <a:latin typeface="Times New Roman"/>
                </a:endParaRPr>
              </a:p>
              <a:p>
                <a:pPr algn="r">
                  <a:lnSpc>
                    <a:spcPct val="100000"/>
                  </a:lnSpc>
                  <a:spcAft>
                    <a:spcPts val="100"/>
                  </a:spcAft>
                </a:pPr>
                <a14:m>
                  <m:oMath xmlns:m="http://schemas.openxmlformats.org/officeDocument/2006/math">
                    <m:r>
                      <a:rPr lang="en-US" sz="1200" b="1" i="1" baseline="300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</a:t>
                </a:r>
                <a:endParaRPr lang="en-US" sz="1200" b="1" baseline="30000" dirty="0">
                  <a:solidFill>
                    <a:schemeClr val="tx1"/>
                  </a:solidFill>
                  <a:latin typeface="Times New Roman"/>
                </a:endParaRPr>
              </a:p>
            </p:txBody>
          </p:sp>
        </mc:Choice>
        <mc:Fallback xmlns="">
          <p:sp>
            <p:nvSpPr>
              <p:cNvPr id="28" name="Прямоугольник: скругленные углы 27">
                <a:extLst>
                  <a:ext uri="{FF2B5EF4-FFF2-40B4-BE49-F238E27FC236}">
                    <a16:creationId xmlns:a16="http://schemas.microsoft.com/office/drawing/2014/main" id="{E64AFAAD-0D2E-4D9D-9699-741444DFE02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7501" y="4072797"/>
                <a:ext cx="7334166" cy="1927648"/>
              </a:xfrm>
              <a:prstGeom prst="round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Rounded Rectangle 59">
            <a:extLst>
              <a:ext uri="{FF2B5EF4-FFF2-40B4-BE49-F238E27FC236}">
                <a16:creationId xmlns:a16="http://schemas.microsoft.com/office/drawing/2014/main" id="{BD7397DF-45C4-4EB8-A863-23B6B8173CA5}"/>
              </a:ext>
            </a:extLst>
          </p:cNvPr>
          <p:cNvSpPr/>
          <p:nvPr/>
        </p:nvSpPr>
        <p:spPr>
          <a:xfrm>
            <a:off x="76275" y="6160375"/>
            <a:ext cx="11946912" cy="566928"/>
          </a:xfrm>
          <a:prstGeom prst="roundRect">
            <a:avLst>
              <a:gd name="adj" fmla="val 10000"/>
            </a:avLst>
          </a:prstGeom>
          <a:solidFill>
            <a:srgbClr val="FDF2E4"/>
          </a:solidFill>
          <a:ln w="15875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1" i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ВЫБОР СПОСОБА ЗАЩИТЫ</a:t>
            </a:r>
            <a:r>
              <a:rPr sz="1400" b="1" i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  </a:t>
            </a:r>
            <a:r>
              <a:rPr sz="1400" i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g* = </a:t>
            </a:r>
            <a:r>
              <a:rPr lang="en-US" sz="1400" i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arg</a:t>
            </a:r>
            <a:r>
              <a:rPr sz="1400" i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i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</a:t>
            </a:r>
            <a:r>
              <a:rPr sz="1400" i="0" baseline="-25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sz="1400" b="0" i="0" baseline="-25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∈G</a:t>
            </a:r>
            <a:r>
              <a:rPr sz="1400" b="1" i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i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sz="1400" i="0" baseline="-25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sz="1400" i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(S)   </a:t>
            </a:r>
            <a:r>
              <a:rPr lang="ru-RU" sz="1400" b="0" i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</a:t>
            </a:r>
            <a:r>
              <a:rPr sz="1400" b="0" i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C(g) ≤ </a:t>
            </a:r>
            <a:r>
              <a:rPr sz="1400" b="0" i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sz="1400" b="0" i="0" baseline="-25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доп</a:t>
            </a:r>
            <a:r>
              <a:rPr sz="1400" b="0" i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ru-RU" sz="1200" b="0" i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sz="1200" b="0" i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ru-RU" sz="1200" b="0" i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каждый вариант защиты </a:t>
            </a:r>
            <a:r>
              <a:rPr sz="1200" b="0" i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 </a:t>
            </a:r>
            <a:r>
              <a:rPr lang="ru-RU" sz="1200" b="0" i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оценивается прогонам на</a:t>
            </a:r>
            <a:r>
              <a:rPr sz="1200" b="0" i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200" b="0" i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цифровом двойнике</a:t>
            </a:r>
            <a:endParaRPr sz="1200" b="0" i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463E4C2-D773-42E2-B082-8BD3008FD974}"/>
              </a:ext>
            </a:extLst>
          </p:cNvPr>
          <p:cNvSpPr txBox="1"/>
          <p:nvPr/>
        </p:nvSpPr>
        <p:spPr>
          <a:xfrm>
            <a:off x="184736" y="1346380"/>
            <a:ext cx="4315411" cy="426680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200" b="0" i="0" dirty="0">
                <a:latin typeface="Times New Roman"/>
              </a:rPr>
              <a:t>S </a:t>
            </a:r>
            <a:r>
              <a:rPr lang="en-US" sz="1200" b="0" i="0" dirty="0">
                <a:latin typeface="Times New Roman"/>
              </a:rPr>
              <a:t>-</a:t>
            </a:r>
            <a:r>
              <a:rPr sz="1200" b="0" i="0" dirty="0">
                <a:latin typeface="Times New Roman"/>
              </a:rPr>
              <a:t> </a:t>
            </a:r>
            <a:r>
              <a:rPr lang="ru-RU" sz="1200" b="0" i="0" dirty="0">
                <a:latin typeface="Times New Roman"/>
              </a:rPr>
              <a:t>система обеспечения </a:t>
            </a:r>
            <a:r>
              <a:rPr sz="1200" b="0" i="0" dirty="0">
                <a:latin typeface="Times New Roman"/>
              </a:rPr>
              <a:t>НГГМ </a:t>
            </a:r>
            <a:r>
              <a:rPr lang="ru-RU" sz="1200" b="0" i="0" dirty="0">
                <a:latin typeface="Times New Roman"/>
              </a:rPr>
              <a:t>данными</a:t>
            </a:r>
            <a:r>
              <a:rPr sz="1200" b="0" i="0" dirty="0">
                <a:latin typeface="Times New Roman"/>
              </a:rPr>
              <a:t>;  </a:t>
            </a:r>
            <a:endParaRPr lang="ru-RU" sz="1200" b="0" i="0" dirty="0">
              <a:latin typeface="Times New Roman"/>
            </a:endParaRP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200" b="0" i="0" dirty="0">
                <a:latin typeface="Times New Roman"/>
              </a:rPr>
              <a:t>E = {</a:t>
            </a:r>
            <a:r>
              <a:rPr sz="1200" b="0" i="0" dirty="0" err="1">
                <a:latin typeface="Times New Roman"/>
              </a:rPr>
              <a:t>e</a:t>
            </a:r>
            <a:r>
              <a:rPr sz="1200" b="0" i="0" baseline="-25000" dirty="0" err="1">
                <a:latin typeface="Times New Roman"/>
              </a:rPr>
              <a:t>i</a:t>
            </a:r>
            <a:r>
              <a:rPr sz="1200" b="0" i="0" dirty="0">
                <a:latin typeface="Times New Roman"/>
              </a:rPr>
              <a:t>} </a:t>
            </a:r>
            <a:r>
              <a:rPr lang="ru-RU" sz="1200" b="0" i="0" dirty="0">
                <a:latin typeface="Times New Roman"/>
              </a:rPr>
              <a:t>-</a:t>
            </a:r>
            <a:r>
              <a:rPr sz="1200" b="0" i="0" dirty="0">
                <a:latin typeface="Times New Roman"/>
              </a:rPr>
              <a:t> </a:t>
            </a:r>
            <a:r>
              <a:rPr lang="ru-RU" sz="1200" b="0" i="0" dirty="0">
                <a:latin typeface="Times New Roman"/>
              </a:rPr>
              <a:t>элементы</a:t>
            </a:r>
            <a:r>
              <a:rPr sz="1200" b="0" i="0" dirty="0">
                <a:latin typeface="Times New Roman"/>
              </a:rPr>
              <a:t> (</a:t>
            </a:r>
            <a:r>
              <a:rPr lang="ru-RU" sz="1200" b="0" i="0" dirty="0">
                <a:latin typeface="Times New Roman"/>
              </a:rPr>
              <a:t>узлы</a:t>
            </a:r>
            <a:r>
              <a:rPr sz="1200" b="0" i="0" dirty="0">
                <a:latin typeface="Times New Roman"/>
              </a:rPr>
              <a:t>), </a:t>
            </a:r>
            <a:endParaRPr lang="ru-RU" sz="1200" b="0" i="0" dirty="0">
              <a:latin typeface="Times New Roman"/>
            </a:endParaRP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200" b="0" i="0" dirty="0">
                <a:latin typeface="Times New Roman"/>
              </a:rPr>
              <a:t>n </a:t>
            </a:r>
            <a:r>
              <a:rPr lang="ru-RU" sz="1200" b="0" i="0" dirty="0">
                <a:latin typeface="Times New Roman"/>
              </a:rPr>
              <a:t>–</a:t>
            </a:r>
            <a:r>
              <a:rPr sz="1200" b="0" i="0" dirty="0">
                <a:latin typeface="Times New Roman"/>
              </a:rPr>
              <a:t> </a:t>
            </a:r>
            <a:r>
              <a:rPr lang="ru-RU" sz="1200" b="0" i="0" dirty="0">
                <a:latin typeface="Times New Roman"/>
              </a:rPr>
              <a:t>их число</a:t>
            </a:r>
            <a:r>
              <a:rPr sz="1200" b="0" i="0" dirty="0">
                <a:latin typeface="Times New Roman"/>
              </a:rPr>
              <a:t>;  </a:t>
            </a:r>
            <a:endParaRPr lang="ru-RU" sz="1200" b="0" i="0" dirty="0">
              <a:latin typeface="Times New Roman"/>
            </a:endParaRP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200" b="0" i="0" dirty="0">
                <a:latin typeface="Times New Roman"/>
              </a:rPr>
              <a:t>L </a:t>
            </a:r>
            <a:r>
              <a:rPr lang="ru-RU" sz="1200" b="0" i="0" dirty="0">
                <a:latin typeface="Times New Roman"/>
              </a:rPr>
              <a:t>-</a:t>
            </a:r>
            <a:r>
              <a:rPr sz="1200" b="0" i="0" dirty="0">
                <a:latin typeface="Times New Roman"/>
              </a:rPr>
              <a:t> </a:t>
            </a:r>
            <a:r>
              <a:rPr lang="ru-RU" sz="1200" b="0" i="0" dirty="0">
                <a:latin typeface="Times New Roman"/>
              </a:rPr>
              <a:t>связи</a:t>
            </a:r>
            <a:r>
              <a:rPr sz="1200" b="0" i="0" dirty="0">
                <a:latin typeface="Times New Roman"/>
              </a:rPr>
              <a:t>;  </a:t>
            </a:r>
            <a:endParaRPr lang="ru-RU" sz="1200" b="0" i="0" dirty="0">
              <a:latin typeface="Times New Roman"/>
            </a:endParaRP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200" b="0" i="0" dirty="0">
                <a:latin typeface="Times New Roman"/>
              </a:rPr>
              <a:t>F </a:t>
            </a:r>
            <a:r>
              <a:rPr lang="ru-RU" sz="1200" b="0" i="0" dirty="0">
                <a:latin typeface="Times New Roman"/>
              </a:rPr>
              <a:t>–</a:t>
            </a:r>
            <a:r>
              <a:rPr sz="1200" b="0" i="0" dirty="0">
                <a:latin typeface="Times New Roman"/>
              </a:rPr>
              <a:t> </a:t>
            </a:r>
            <a:r>
              <a:rPr lang="ru-RU" sz="1200" b="0" i="0" dirty="0">
                <a:latin typeface="Times New Roman"/>
              </a:rPr>
              <a:t>целевая функция</a:t>
            </a:r>
            <a:r>
              <a:rPr sz="1200" b="0" i="0" dirty="0">
                <a:latin typeface="Times New Roman"/>
              </a:rPr>
              <a:t>;  </a:t>
            </a:r>
            <a:endParaRPr lang="ru-RU" sz="1200" b="0" i="0" dirty="0">
              <a:latin typeface="Times New Roman"/>
            </a:endParaRP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200" b="0" i="0" dirty="0">
                <a:latin typeface="Times New Roman"/>
              </a:rPr>
              <a:t>D = {</a:t>
            </a:r>
            <a:r>
              <a:rPr sz="1200" b="0" i="0" dirty="0" err="1">
                <a:latin typeface="Times New Roman"/>
              </a:rPr>
              <a:t>d</a:t>
            </a:r>
            <a:r>
              <a:rPr sz="1200" b="0" i="0" baseline="-25000" dirty="0" err="1">
                <a:latin typeface="Times New Roman"/>
              </a:rPr>
              <a:t>j</a:t>
            </a:r>
            <a:r>
              <a:rPr sz="1200" b="0" i="0" dirty="0">
                <a:latin typeface="Times New Roman"/>
              </a:rPr>
              <a:t>} </a:t>
            </a:r>
            <a:r>
              <a:rPr lang="ru-RU" sz="1200" b="0" i="0" dirty="0">
                <a:latin typeface="Times New Roman"/>
              </a:rPr>
              <a:t>–</a:t>
            </a:r>
            <a:r>
              <a:rPr sz="1200" b="0" i="0" dirty="0">
                <a:latin typeface="Times New Roman"/>
              </a:rPr>
              <a:t> </a:t>
            </a:r>
            <a:r>
              <a:rPr lang="ru-RU" sz="1200" b="0" i="0" dirty="0">
                <a:latin typeface="Times New Roman"/>
              </a:rPr>
              <a:t>деструктивные воздействия </a:t>
            </a:r>
            <a:r>
              <a:rPr sz="1200" b="0" i="0" dirty="0">
                <a:latin typeface="Times New Roman"/>
              </a:rPr>
              <a:t>(</a:t>
            </a:r>
            <a:r>
              <a:rPr lang="ru-RU" sz="1200" b="0" i="0" dirty="0">
                <a:latin typeface="Times New Roman"/>
              </a:rPr>
              <a:t>отказы</a:t>
            </a:r>
            <a:r>
              <a:rPr sz="1200" b="0" i="0" dirty="0">
                <a:latin typeface="Times New Roman"/>
              </a:rPr>
              <a:t>, </a:t>
            </a:r>
            <a:r>
              <a:rPr sz="1200" b="0" i="0" dirty="0" err="1">
                <a:latin typeface="Times New Roman"/>
              </a:rPr>
              <a:t>атаки</a:t>
            </a:r>
            <a:r>
              <a:rPr sz="1200" b="0" i="0" dirty="0">
                <a:latin typeface="Times New Roman"/>
              </a:rPr>
              <a:t>), </a:t>
            </a:r>
            <a:endParaRPr lang="ru-RU" sz="1200" b="0" i="0" dirty="0">
              <a:latin typeface="Times New Roman"/>
            </a:endParaRP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200" b="0" i="0" dirty="0">
                <a:latin typeface="Times New Roman"/>
              </a:rPr>
              <a:t>m </a:t>
            </a:r>
            <a:r>
              <a:rPr lang="ru-RU" sz="1200" b="0" i="0" dirty="0">
                <a:latin typeface="Times New Roman"/>
              </a:rPr>
              <a:t>–</a:t>
            </a:r>
            <a:r>
              <a:rPr sz="1200" b="0" i="0" dirty="0">
                <a:latin typeface="Times New Roman"/>
              </a:rPr>
              <a:t> </a:t>
            </a:r>
            <a:r>
              <a:rPr lang="ru-RU" sz="1200" b="0" i="0" dirty="0">
                <a:latin typeface="Times New Roman"/>
              </a:rPr>
              <a:t>их число</a:t>
            </a:r>
            <a:r>
              <a:rPr sz="1200" b="0" i="0" dirty="0">
                <a:latin typeface="Times New Roman"/>
              </a:rPr>
              <a:t>; </a:t>
            </a:r>
            <a:endParaRPr lang="ru-RU" sz="1200" b="0" i="0" dirty="0">
              <a:latin typeface="Times New Roman"/>
            </a:endParaRP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200" b="0" i="0" dirty="0">
                <a:latin typeface="Times New Roman"/>
              </a:rPr>
              <a:t> </a:t>
            </a:r>
            <a:r>
              <a:rPr sz="1200" b="0" i="0" dirty="0" err="1">
                <a:latin typeface="Times New Roman"/>
              </a:rPr>
              <a:t>λ</a:t>
            </a:r>
            <a:r>
              <a:rPr sz="1200" b="0" i="0" baseline="-25000" dirty="0" err="1">
                <a:latin typeface="Times New Roman"/>
              </a:rPr>
              <a:t>j</a:t>
            </a:r>
            <a:r>
              <a:rPr sz="1200" b="0" i="0" dirty="0">
                <a:latin typeface="Times New Roman"/>
              </a:rPr>
              <a:t> </a:t>
            </a:r>
            <a:r>
              <a:rPr lang="ru-RU" sz="1200" b="0" i="0" dirty="0">
                <a:latin typeface="Times New Roman"/>
              </a:rPr>
              <a:t>–</a:t>
            </a:r>
            <a:r>
              <a:rPr sz="1200" b="0" i="0" dirty="0">
                <a:latin typeface="Times New Roman"/>
              </a:rPr>
              <a:t> </a:t>
            </a:r>
            <a:r>
              <a:rPr lang="ru-RU" sz="1200" b="0" i="0" dirty="0">
                <a:latin typeface="Times New Roman"/>
              </a:rPr>
              <a:t>интенсивность воздействия </a:t>
            </a:r>
            <a:r>
              <a:rPr sz="1200" b="0" i="0" dirty="0" err="1">
                <a:latin typeface="Times New Roman"/>
              </a:rPr>
              <a:t>d</a:t>
            </a:r>
            <a:r>
              <a:rPr sz="1200" b="0" i="0" baseline="-25000" dirty="0" err="1">
                <a:latin typeface="Times New Roman"/>
              </a:rPr>
              <a:t>j</a:t>
            </a:r>
            <a:r>
              <a:rPr sz="1200" b="0" i="0" dirty="0">
                <a:latin typeface="Times New Roman"/>
              </a:rPr>
              <a:t>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lang="ru-RU" sz="1200" b="0" i="0" dirty="0">
                <a:latin typeface="Times New Roman"/>
              </a:rPr>
              <a:t> </a:t>
            </a:r>
            <a:r>
              <a:rPr sz="1200" b="0" i="0" dirty="0" err="1">
                <a:latin typeface="Times New Roman"/>
              </a:rPr>
              <a:t>λ</a:t>
            </a:r>
            <a:r>
              <a:rPr sz="1200" b="0" i="0" baseline="-25000" dirty="0" err="1">
                <a:latin typeface="Times New Roman"/>
              </a:rPr>
              <a:t>i</a:t>
            </a:r>
            <a:r>
              <a:rPr sz="1200" b="0" i="0" baseline="30000" dirty="0">
                <a:latin typeface="Times New Roman"/>
              </a:rPr>
              <a:t>(0)</a:t>
            </a:r>
            <a:r>
              <a:rPr sz="1200" b="0" i="0" dirty="0">
                <a:latin typeface="Times New Roman"/>
              </a:rPr>
              <a:t> </a:t>
            </a:r>
            <a:r>
              <a:rPr lang="ru-RU" sz="1200" b="0" i="0" dirty="0">
                <a:latin typeface="Times New Roman"/>
              </a:rPr>
              <a:t>интенсивность собственных отказов </a:t>
            </a:r>
            <a:r>
              <a:rPr sz="1200" b="0" i="0" dirty="0" err="1">
                <a:latin typeface="Times New Roman"/>
              </a:rPr>
              <a:t>e</a:t>
            </a:r>
            <a:r>
              <a:rPr sz="1200" b="0" i="0" baseline="-25000" dirty="0" err="1">
                <a:latin typeface="Times New Roman"/>
              </a:rPr>
              <a:t>i</a:t>
            </a:r>
            <a:r>
              <a:rPr sz="1200" b="0" i="0" dirty="0">
                <a:latin typeface="Times New Roman"/>
              </a:rPr>
              <a:t>; </a:t>
            </a:r>
            <a:endParaRPr lang="ru-RU" sz="1200" b="0" i="0" dirty="0">
              <a:latin typeface="Times New Roman"/>
            </a:endParaRP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200" b="0" i="0" dirty="0">
                <a:latin typeface="Times New Roman"/>
              </a:rPr>
              <a:t> </a:t>
            </a:r>
            <a:r>
              <a:rPr sz="1200" b="0" i="0" dirty="0" err="1">
                <a:latin typeface="Times New Roman"/>
              </a:rPr>
              <a:t>p</a:t>
            </a:r>
            <a:r>
              <a:rPr sz="1200" b="0" i="0" baseline="-25000" dirty="0" err="1">
                <a:latin typeface="Times New Roman"/>
              </a:rPr>
              <a:t>ij</a:t>
            </a:r>
            <a:r>
              <a:rPr sz="1200" b="0" i="0" dirty="0">
                <a:latin typeface="Times New Roman"/>
              </a:rPr>
              <a:t> </a:t>
            </a:r>
            <a:r>
              <a:rPr lang="ru-RU" sz="1200" b="0" i="0" dirty="0">
                <a:latin typeface="Times New Roman"/>
              </a:rPr>
              <a:t>–</a:t>
            </a:r>
            <a:r>
              <a:rPr sz="1200" b="0" i="0" dirty="0">
                <a:latin typeface="Times New Roman"/>
              </a:rPr>
              <a:t> </a:t>
            </a:r>
            <a:r>
              <a:rPr lang="ru-RU" sz="1200" b="0" i="0" dirty="0">
                <a:latin typeface="Times New Roman"/>
              </a:rPr>
              <a:t>вероятность поражения</a:t>
            </a:r>
            <a:r>
              <a:rPr sz="1200" b="0" i="0" dirty="0" err="1">
                <a:latin typeface="Times New Roman"/>
              </a:rPr>
              <a:t>e</a:t>
            </a:r>
            <a:r>
              <a:rPr sz="1200" b="0" i="0" baseline="-25000" dirty="0" err="1">
                <a:latin typeface="Times New Roman"/>
              </a:rPr>
              <a:t>i</a:t>
            </a:r>
            <a:r>
              <a:rPr sz="1200" b="0" i="0" dirty="0">
                <a:latin typeface="Times New Roman"/>
              </a:rPr>
              <a:t> </a:t>
            </a:r>
            <a:r>
              <a:rPr lang="ru-RU" sz="1200" b="0" i="0" dirty="0">
                <a:latin typeface="Times New Roman"/>
              </a:rPr>
              <a:t>воздействия</a:t>
            </a:r>
            <a:r>
              <a:rPr sz="1200" b="0" i="0" dirty="0">
                <a:latin typeface="Times New Roman"/>
              </a:rPr>
              <a:t> </a:t>
            </a:r>
            <a:r>
              <a:rPr sz="1200" b="0" i="0" dirty="0" err="1">
                <a:latin typeface="Times New Roman"/>
              </a:rPr>
              <a:t>d</a:t>
            </a:r>
            <a:r>
              <a:rPr sz="1200" b="0" i="0" baseline="-25000" dirty="0" err="1">
                <a:latin typeface="Times New Roman"/>
              </a:rPr>
              <a:t>j</a:t>
            </a:r>
            <a:r>
              <a:rPr sz="1200" b="0" i="0" dirty="0">
                <a:latin typeface="Times New Roman"/>
              </a:rPr>
              <a:t>;  </a:t>
            </a:r>
            <a:endParaRPr lang="ru-RU" sz="1200" b="0" i="0" dirty="0">
              <a:latin typeface="Times New Roman"/>
            </a:endParaRP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200" b="0" i="0" dirty="0">
                <a:latin typeface="Times New Roman"/>
              </a:rPr>
              <a:t>T </a:t>
            </a:r>
            <a:r>
              <a:rPr lang="ru-RU" sz="1200" b="0" i="0" dirty="0">
                <a:latin typeface="Times New Roman"/>
              </a:rPr>
              <a:t>–</a:t>
            </a:r>
            <a:r>
              <a:rPr sz="1200" b="0" i="0" dirty="0">
                <a:latin typeface="Times New Roman"/>
              </a:rPr>
              <a:t> </a:t>
            </a:r>
            <a:r>
              <a:rPr lang="ru-RU" sz="1200" b="0" i="0" dirty="0">
                <a:latin typeface="Times New Roman"/>
              </a:rPr>
              <a:t>период оценивания</a:t>
            </a:r>
            <a:r>
              <a:rPr sz="1200" b="0" i="0" dirty="0">
                <a:latin typeface="Times New Roman"/>
              </a:rPr>
              <a:t>;  </a:t>
            </a:r>
            <a:endParaRPr lang="ru-RU" sz="1200" b="0" i="0" dirty="0">
              <a:latin typeface="Times New Roman"/>
            </a:endParaRP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200" b="0" i="0" dirty="0">
                <a:latin typeface="Times New Roman"/>
              </a:rPr>
              <a:t>x</a:t>
            </a:r>
            <a:r>
              <a:rPr sz="1200" b="0" i="0" baseline="-25000" dirty="0">
                <a:latin typeface="Times New Roman"/>
              </a:rPr>
              <a:t>i</a:t>
            </a:r>
            <a:r>
              <a:rPr sz="1200" b="0" i="0" dirty="0">
                <a:latin typeface="Times New Roman"/>
              </a:rPr>
              <a:t> ∈ {0,1} </a:t>
            </a:r>
            <a:r>
              <a:rPr lang="ru-RU" sz="1200" b="0" i="0" dirty="0">
                <a:latin typeface="Times New Roman"/>
              </a:rPr>
              <a:t>-</a:t>
            </a:r>
            <a:r>
              <a:rPr sz="1200" b="0" i="0" dirty="0">
                <a:latin typeface="Times New Roman"/>
              </a:rPr>
              <a:t> </a:t>
            </a:r>
            <a:r>
              <a:rPr lang="ru-RU" sz="1200" b="0" i="0" dirty="0">
                <a:latin typeface="Times New Roman"/>
              </a:rPr>
              <a:t>состояние</a:t>
            </a:r>
            <a:r>
              <a:rPr sz="1200" b="0" i="0" dirty="0">
                <a:latin typeface="Times New Roman"/>
              </a:rPr>
              <a:t> </a:t>
            </a:r>
            <a:r>
              <a:rPr sz="1200" b="0" i="0" dirty="0" err="1">
                <a:latin typeface="Times New Roman"/>
              </a:rPr>
              <a:t>e</a:t>
            </a:r>
            <a:r>
              <a:rPr sz="1200" b="0" i="0" baseline="-25000" dirty="0" err="1">
                <a:latin typeface="Times New Roman"/>
              </a:rPr>
              <a:t>i</a:t>
            </a:r>
            <a:r>
              <a:rPr sz="1200" b="0" i="0" dirty="0">
                <a:latin typeface="Times New Roman"/>
              </a:rPr>
              <a:t>;  </a:t>
            </a:r>
            <a:endParaRPr lang="ru-RU" sz="1200" b="0" i="0" dirty="0">
              <a:latin typeface="Times New Roman"/>
            </a:endParaRP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200" b="0" i="0" dirty="0">
                <a:latin typeface="Times New Roman"/>
              </a:rPr>
              <a:t>Ω </a:t>
            </a:r>
            <a:r>
              <a:rPr lang="ru-RU" sz="1200" b="0" i="0" dirty="0">
                <a:latin typeface="Times New Roman"/>
              </a:rPr>
              <a:t>–</a:t>
            </a:r>
            <a:r>
              <a:rPr sz="1200" b="0" i="0" dirty="0">
                <a:latin typeface="Times New Roman"/>
              </a:rPr>
              <a:t> </a:t>
            </a:r>
            <a:r>
              <a:rPr lang="ru-RU" sz="1200" b="0" i="0" dirty="0">
                <a:latin typeface="Times New Roman"/>
              </a:rPr>
              <a:t>пространство состояний</a:t>
            </a:r>
            <a:r>
              <a:rPr sz="1200" b="0" i="0" dirty="0">
                <a:latin typeface="Times New Roman"/>
              </a:rPr>
              <a:t>; </a:t>
            </a:r>
            <a:endParaRPr lang="ru-RU" sz="1200" b="0" i="0" dirty="0">
              <a:latin typeface="Times New Roman"/>
            </a:endParaRP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200" b="0" i="0" dirty="0">
                <a:latin typeface="Times New Roman"/>
              </a:rPr>
              <a:t> Ω* </a:t>
            </a:r>
            <a:r>
              <a:rPr lang="ru-RU" sz="1200" b="0" i="0" dirty="0">
                <a:latin typeface="Times New Roman"/>
              </a:rPr>
              <a:t>-</a:t>
            </a:r>
            <a:r>
              <a:rPr sz="1200" b="0" i="0" dirty="0">
                <a:latin typeface="Times New Roman"/>
              </a:rPr>
              <a:t> </a:t>
            </a:r>
            <a:r>
              <a:rPr lang="ru-RU" sz="1200" b="0" i="0" dirty="0">
                <a:latin typeface="Times New Roman"/>
              </a:rPr>
              <a:t>допустимые состояния</a:t>
            </a:r>
            <a:r>
              <a:rPr sz="1200" b="0" i="0" dirty="0">
                <a:latin typeface="Times New Roman"/>
              </a:rPr>
              <a:t>;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 i="0" dirty="0">
                <a:latin typeface="Times New Roman"/>
              </a:rPr>
              <a:t>Q</a:t>
            </a:r>
            <a:r>
              <a:rPr sz="1200" b="0" i="0" baseline="-25000" dirty="0">
                <a:latin typeface="Times New Roman"/>
              </a:rPr>
              <a:t>i</a:t>
            </a:r>
            <a:r>
              <a:rPr sz="1200" b="0" i="0" dirty="0">
                <a:latin typeface="Times New Roman"/>
              </a:rPr>
              <a:t> </a:t>
            </a:r>
            <a:r>
              <a:rPr lang="ru-RU" sz="1200" b="0" i="0" dirty="0">
                <a:latin typeface="Times New Roman"/>
              </a:rPr>
              <a:t>–</a:t>
            </a:r>
            <a:r>
              <a:rPr sz="1200" b="0" i="0" dirty="0">
                <a:latin typeface="Times New Roman"/>
              </a:rPr>
              <a:t> </a:t>
            </a:r>
            <a:r>
              <a:rPr lang="ru-RU" sz="1200" b="0" i="0" dirty="0">
                <a:latin typeface="Times New Roman"/>
              </a:rPr>
              <a:t>живучесть узла</a:t>
            </a:r>
            <a:r>
              <a:rPr sz="1200" b="0" i="0" dirty="0" err="1">
                <a:latin typeface="Times New Roman"/>
              </a:rPr>
              <a:t>e</a:t>
            </a:r>
            <a:r>
              <a:rPr sz="1200" b="0" i="0" baseline="-25000" dirty="0" err="1">
                <a:latin typeface="Times New Roman"/>
              </a:rPr>
              <a:t>i</a:t>
            </a:r>
            <a:r>
              <a:rPr sz="1200" b="0" i="0" dirty="0">
                <a:latin typeface="Times New Roman"/>
              </a:rPr>
              <a:t>;  </a:t>
            </a:r>
            <a:endParaRPr lang="ru-RU" sz="1200" b="0" i="0" dirty="0">
              <a:latin typeface="Times New Roman"/>
            </a:endParaRP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 i="0" dirty="0">
                <a:latin typeface="Times New Roman"/>
              </a:rPr>
              <a:t>Q(S) </a:t>
            </a:r>
            <a:r>
              <a:rPr lang="ru-RU" sz="1200" b="0" i="0" dirty="0">
                <a:latin typeface="Times New Roman"/>
              </a:rPr>
              <a:t>–</a:t>
            </a:r>
            <a:r>
              <a:rPr sz="1200" b="0" i="0" dirty="0">
                <a:latin typeface="Times New Roman"/>
              </a:rPr>
              <a:t> </a:t>
            </a:r>
            <a:r>
              <a:rPr lang="ru-RU" sz="1200" b="0" i="0" dirty="0">
                <a:latin typeface="Times New Roman"/>
              </a:rPr>
              <a:t>живучесть системы</a:t>
            </a:r>
            <a:r>
              <a:rPr sz="1200" b="0" i="0" dirty="0">
                <a:latin typeface="Times New Roman"/>
              </a:rPr>
              <a:t>;  </a:t>
            </a:r>
            <a:endParaRPr lang="ru-RU" sz="1200" b="0" i="0" dirty="0">
              <a:latin typeface="Times New Roman"/>
            </a:endParaRP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 i="0" dirty="0">
                <a:latin typeface="Times New Roman"/>
              </a:rPr>
              <a:t>W(X) </a:t>
            </a:r>
            <a:r>
              <a:rPr lang="ru-RU" sz="1200" b="0" i="0" dirty="0">
                <a:latin typeface="Times New Roman"/>
              </a:rPr>
              <a:t>–</a:t>
            </a:r>
            <a:r>
              <a:rPr sz="1200" b="0" i="0" dirty="0">
                <a:latin typeface="Times New Roman"/>
              </a:rPr>
              <a:t> </a:t>
            </a:r>
            <a:r>
              <a:rPr lang="ru-RU" sz="1200" b="0" i="0" dirty="0">
                <a:latin typeface="Times New Roman"/>
              </a:rPr>
              <a:t>эффективность функционирования</a:t>
            </a:r>
            <a:r>
              <a:rPr sz="1200" b="0" i="0" dirty="0">
                <a:latin typeface="Times New Roman"/>
              </a:rPr>
              <a:t>; </a:t>
            </a:r>
            <a:endParaRPr lang="ru-RU" sz="1200" b="0" i="0" dirty="0">
              <a:latin typeface="Times New Roman"/>
            </a:endParaRP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 i="0" dirty="0">
                <a:latin typeface="Times New Roman"/>
              </a:rPr>
              <a:t> </a:t>
            </a:r>
            <a:r>
              <a:rPr sz="1200" b="0" i="0" dirty="0" err="1">
                <a:latin typeface="Times New Roman"/>
              </a:rPr>
              <a:t>W</a:t>
            </a:r>
            <a:r>
              <a:rPr sz="1200" b="0" i="0" baseline="-25000" dirty="0" err="1">
                <a:latin typeface="Times New Roman"/>
              </a:rPr>
              <a:t>доп</a:t>
            </a:r>
            <a:r>
              <a:rPr sz="1200" b="0" i="0" dirty="0">
                <a:latin typeface="Times New Roman"/>
              </a:rPr>
              <a:t> </a:t>
            </a:r>
            <a:r>
              <a:rPr lang="ru-RU" sz="1200" b="0" i="0" dirty="0">
                <a:latin typeface="Times New Roman"/>
              </a:rPr>
              <a:t>–</a:t>
            </a:r>
            <a:r>
              <a:rPr sz="1200" b="0" i="0" dirty="0">
                <a:latin typeface="Times New Roman"/>
              </a:rPr>
              <a:t> </a:t>
            </a:r>
            <a:r>
              <a:rPr lang="ru-RU" sz="1200" b="0" i="0" dirty="0">
                <a:latin typeface="Times New Roman"/>
              </a:rPr>
              <a:t>допустимый порог</a:t>
            </a:r>
            <a:r>
              <a:rPr sz="1200" b="0" i="0" dirty="0">
                <a:latin typeface="Times New Roman"/>
              </a:rPr>
              <a:t>;  </a:t>
            </a:r>
            <a:endParaRPr lang="ru-RU" sz="1200" b="0" i="0" dirty="0">
              <a:latin typeface="Times New Roman"/>
            </a:endParaRP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 i="0" dirty="0">
                <a:latin typeface="Times New Roman"/>
              </a:rPr>
              <a:t>N, N* </a:t>
            </a:r>
            <a:r>
              <a:rPr lang="ru-RU" sz="1200" b="0" i="0" dirty="0">
                <a:latin typeface="Times New Roman"/>
              </a:rPr>
              <a:t>-</a:t>
            </a:r>
            <a:r>
              <a:rPr sz="1200" b="0" i="0" dirty="0">
                <a:latin typeface="Times New Roman"/>
              </a:rPr>
              <a:t> </a:t>
            </a:r>
            <a:r>
              <a:rPr lang="ru-RU" sz="1200" b="0" i="0" dirty="0">
                <a:latin typeface="Times New Roman"/>
              </a:rPr>
              <a:t>число прогонов </a:t>
            </a:r>
            <a:r>
              <a:rPr sz="1200" b="0" i="0" dirty="0" err="1">
                <a:latin typeface="Times New Roman"/>
              </a:rPr>
              <a:t>на</a:t>
            </a:r>
            <a:r>
              <a:rPr sz="1200" b="0" i="0" dirty="0">
                <a:latin typeface="Times New Roman"/>
              </a:rPr>
              <a:t> ЦД </a:t>
            </a:r>
            <a:r>
              <a:rPr lang="ru-RU" sz="1200" b="0" i="0" dirty="0">
                <a:latin typeface="Times New Roman"/>
              </a:rPr>
              <a:t>(успешных)</a:t>
            </a:r>
            <a:r>
              <a:rPr sz="1200" b="0" i="0" dirty="0">
                <a:latin typeface="Times New Roman"/>
              </a:rPr>
              <a:t>;  </a:t>
            </a:r>
            <a:endParaRPr lang="ru-RU" sz="1200" b="0" i="0" dirty="0">
              <a:latin typeface="Times New Roman"/>
            </a:endParaRP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 i="0" dirty="0">
                <a:latin typeface="Times New Roman"/>
              </a:rPr>
              <a:t>G</a:t>
            </a:r>
            <a:r>
              <a:rPr lang="ru-RU" sz="1200" b="0" i="0" dirty="0">
                <a:latin typeface="Times New Roman"/>
              </a:rPr>
              <a:t> – множество способов защиты</a:t>
            </a:r>
            <a:r>
              <a:rPr sz="1200" b="0" i="0" dirty="0">
                <a:latin typeface="Times New Roman"/>
              </a:rPr>
              <a:t>;  </a:t>
            </a:r>
            <a:endParaRPr lang="ru-RU" sz="1200" b="0" i="0" dirty="0">
              <a:latin typeface="Times New Roman"/>
            </a:endParaRP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 i="0" dirty="0">
                <a:latin typeface="Times New Roman"/>
              </a:rPr>
              <a:t>C(g) </a:t>
            </a:r>
            <a:r>
              <a:rPr lang="ru-RU" sz="1200" b="0" i="0" dirty="0">
                <a:latin typeface="Times New Roman"/>
              </a:rPr>
              <a:t>–</a:t>
            </a:r>
            <a:r>
              <a:rPr sz="1200" b="0" i="0" dirty="0">
                <a:latin typeface="Times New Roman"/>
              </a:rPr>
              <a:t> </a:t>
            </a:r>
            <a:r>
              <a:rPr lang="ru-RU" sz="1200" b="0" i="0" dirty="0">
                <a:latin typeface="Times New Roman"/>
              </a:rPr>
              <a:t>затраты на способ </a:t>
            </a:r>
            <a:r>
              <a:rPr sz="1200" b="0" i="0" dirty="0">
                <a:latin typeface="Times New Roman"/>
              </a:rPr>
              <a:t>g.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Таблица 6">
                <a:extLst>
                  <a:ext uri="{FF2B5EF4-FFF2-40B4-BE49-F238E27FC236}">
                    <a16:creationId xmlns:a16="http://schemas.microsoft.com/office/drawing/2014/main" id="{DD7C9A0E-325E-48C0-9311-5C4C266699B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04793137"/>
                  </p:ext>
                </p:extLst>
              </p:nvPr>
            </p:nvGraphicFramePr>
            <p:xfrm>
              <a:off x="5467350" y="3078574"/>
              <a:ext cx="6052398" cy="304800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5597092">
                      <a:extLst>
                        <a:ext uri="{9D8B030D-6E8A-4147-A177-3AD203B41FA5}">
                          <a16:colId xmlns:a16="http://schemas.microsoft.com/office/drawing/2014/main" val="2343513683"/>
                        </a:ext>
                      </a:extLst>
                    </a:gridCol>
                    <a:gridCol w="455306">
                      <a:extLst>
                        <a:ext uri="{9D8B030D-6E8A-4147-A177-3AD203B41FA5}">
                          <a16:colId xmlns:a16="http://schemas.microsoft.com/office/drawing/2014/main" val="1370947259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ru-RU" sz="1200" i="1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  <m:sub>
                                  <m:r>
                                    <a:rPr lang="en-US" sz="12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ru-RU" sz="12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  </m:t>
                                  </m:r>
                                </m:sub>
                              </m:sSub>
                              <m:r>
                                <a:rPr lang="ru-RU" sz="12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= </m:t>
                              </m:r>
                              <m:r>
                                <m:rPr>
                                  <m:sty m:val="p"/>
                                </m:rPr>
                                <a:rPr lang="en-US" sz="12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  <m:r>
                                <a:rPr lang="ru-RU" sz="12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(−</m:t>
                              </m:r>
                            </m:oMath>
                          </a14:m>
                          <a:r>
                            <a:rPr lang="ru-RU" sz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ru-RU" sz="12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ru-RU" sz="1200" b="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sz="1200" b="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oMath>
                          </a14:m>
                          <a:r>
                            <a:rPr lang="ru-RU" sz="12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(0) </a:t>
                          </a:r>
                          <a:r>
                            <a:rPr lang="ru-RU" sz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ru-RU" sz="12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2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ru-RU" sz="12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Σ</m:t>
                                  </m:r>
                                </m:e>
                                <m:sub>
                                  <m:r>
                                    <a:rPr lang="en-US" sz="1200" baseline="-250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ru-RU" sz="12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l-GR" sz="12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sz="1200" baseline="-250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ru-RU" sz="12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∙</m:t>
                              </m:r>
                              <m:sSub>
                                <m:sSubPr>
                                  <m:ctrlPr>
                                    <a:rPr lang="ru-RU" sz="12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1200" baseline="-250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  <m:r>
                                <a:rPr lang="ru-RU" sz="12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)∙ </m:t>
                              </m:r>
                              <m:r>
                                <a:rPr lang="en-US" sz="12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ru-RU" sz="12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ru-RU" sz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ru-RU" sz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</a:t>
                          </a:r>
                          <a:r>
                            <a:rPr lang="ru-RU" sz="12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8686487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Таблица 6">
                <a:extLst>
                  <a:ext uri="{FF2B5EF4-FFF2-40B4-BE49-F238E27FC236}">
                    <a16:creationId xmlns:a16="http://schemas.microsoft.com/office/drawing/2014/main" id="{DD7C9A0E-325E-48C0-9311-5C4C266699B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04793137"/>
                  </p:ext>
                </p:extLst>
              </p:nvPr>
            </p:nvGraphicFramePr>
            <p:xfrm>
              <a:off x="5467350" y="3078574"/>
              <a:ext cx="6052398" cy="304800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5597092">
                      <a:extLst>
                        <a:ext uri="{9D8B030D-6E8A-4147-A177-3AD203B41FA5}">
                          <a16:colId xmlns:a16="http://schemas.microsoft.com/office/drawing/2014/main" val="2343513683"/>
                        </a:ext>
                      </a:extLst>
                    </a:gridCol>
                    <a:gridCol w="455306">
                      <a:extLst>
                        <a:ext uri="{9D8B030D-6E8A-4147-A177-3AD203B41FA5}">
                          <a16:colId xmlns:a16="http://schemas.microsoft.com/office/drawing/2014/main" val="1370947259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 anchor="ctr">
                        <a:blipFill>
                          <a:blip r:embed="rId11"/>
                          <a:stretch>
                            <a:fillRect l="-109" t="-3922" r="-8596" b="-98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</a:t>
                          </a:r>
                          <a:r>
                            <a:rPr lang="ru-RU" sz="12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8686487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Таблица 7">
                <a:extLst>
                  <a:ext uri="{FF2B5EF4-FFF2-40B4-BE49-F238E27FC236}">
                    <a16:creationId xmlns:a16="http://schemas.microsoft.com/office/drawing/2014/main" id="{2464D633-172E-4941-B3F0-9A980A5C32B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84304861"/>
                  </p:ext>
                </p:extLst>
              </p:nvPr>
            </p:nvGraphicFramePr>
            <p:xfrm>
              <a:off x="5662612" y="5618004"/>
              <a:ext cx="5934075" cy="271780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5487670">
                      <a:extLst>
                        <a:ext uri="{9D8B030D-6E8A-4147-A177-3AD203B41FA5}">
                          <a16:colId xmlns:a16="http://schemas.microsoft.com/office/drawing/2014/main" val="3780560567"/>
                        </a:ext>
                      </a:extLst>
                    </a:gridCol>
                    <a:gridCol w="446405">
                      <a:extLst>
                        <a:ext uri="{9D8B030D-6E8A-4147-A177-3AD203B41FA5}">
                          <a16:colId xmlns:a16="http://schemas.microsoft.com/office/drawing/2014/main" val="3642158260"/>
                        </a:ext>
                      </a:extLst>
                    </a:gridCol>
                  </a:tblGrid>
                  <a:tr h="27178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Q(S) = </a:t>
                          </a:r>
                          <a14:m>
                            <m:oMath xmlns:m="http://schemas.openxmlformats.org/officeDocument/2006/math"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ru-RU" sz="1200" b="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nor/>
                                    </m:rPr>
                                    <a:rPr lang="en-US" sz="1200" b="0" baseline="-250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X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1200" b="0" baseline="-250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∈</m:t>
                                  </m:r>
                                  <m:r>
                                    <m:rPr>
                                      <m:nor/>
                                    </m:rPr>
                                    <a:rPr lang="el-GR" sz="1200" b="0" baseline="-250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Ω</m:t>
                                  </m:r>
                                  <m:r>
                                    <m:rPr>
                                      <m:nor/>
                                    </m:rPr>
                                    <a:rPr lang="el-GR" sz="1200" b="0" baseline="-250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∗</m:t>
                                  </m:r>
                                </m:sub>
                                <m:sup/>
                                <m:e>
                                  <m:r>
                                    <m:rPr>
                                      <m:nor/>
                                    </m:rPr>
                                    <a:rPr lang="en-US" sz="1200" b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P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1200" b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(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1200" b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X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1200" b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)</m:t>
                                  </m:r>
                                </m:e>
                              </m:nary>
                            </m:oMath>
                          </a14:m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,   P(X) = </a:t>
                          </a:r>
                          <a14:m>
                            <m:oMath xmlns:m="http://schemas.openxmlformats.org/officeDocument/2006/math">
                              <m:nary>
                                <m:naryPr>
                                  <m:chr m:val="∏"/>
                                  <m:supHide m:val="on"/>
                                  <m:ctrlPr>
                                    <a:rPr lang="ru-RU" sz="1200" b="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nor/>
                                    </m:rPr>
                                    <a:rPr lang="en-US" sz="1200" b="0" baseline="-250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i</m:t>
                                  </m:r>
                                </m:sub>
                                <m:sup/>
                                <m:e>
                                  <m:sSubSup>
                                    <m:sSubSupPr>
                                      <m:ctrlPr>
                                        <a:rPr lang="ru-RU" sz="1200" b="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en-US" sz="1200" b="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Q</m:t>
                                      </m:r>
                                    </m:e>
                                    <m:sub>
                                      <m:r>
                                        <m:rPr>
                                          <m:nor/>
                                        </m:rPr>
                                        <a:rPr lang="en-US" sz="1200" b="0" baseline="-2500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i</m:t>
                                      </m:r>
                                    </m:sub>
                                    <m:sup>
                                      <m:r>
                                        <m:rPr>
                                          <m:nor/>
                                        </m:rPr>
                                        <a:rPr lang="en-US" sz="1200" b="0" baseline="3000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x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sz="1200" b="0" baseline="3000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ᵢ</m:t>
                                      </m:r>
                                    </m:sup>
                                  </m:sSubSup>
                                </m:e>
                              </m:nary>
                            </m:oMath>
                          </a14:m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ru-RU" sz="1200" b="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nor/>
                                    </m:rPr>
                                    <a:rPr lang="en-US" sz="1200" b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(1−</m:t>
                                  </m:r>
                                  <m:sSub>
                                    <m:sSubPr>
                                      <m:ctrlPr>
                                        <a:rPr lang="ru-RU" sz="1200" b="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en-US" sz="1200" b="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Q</m:t>
                                      </m:r>
                                    </m:e>
                                    <m:sub>
                                      <m:r>
                                        <m:rPr>
                                          <m:nor/>
                                        </m:rPr>
                                        <a:rPr lang="en-US" sz="1200" b="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i</m:t>
                                      </m:r>
                                    </m:sub>
                                  </m:sSub>
                                  <m:r>
                                    <m:rPr>
                                      <m:nor/>
                                    </m:rPr>
                                    <a:rPr lang="en-US" sz="1200" b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m:rPr>
                                      <m:nor/>
                                    </m:rPr>
                                    <a:rPr lang="en-US" sz="1200" b="0" baseline="300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(1−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1200" b="0" baseline="300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x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1200" b="0" baseline="300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ᵢ)</m:t>
                                  </m:r>
                                </m:sup>
                              </m:sSup>
                            </m:oMath>
                          </a14:m>
                          <a:endParaRPr lang="ru-RU" sz="12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(2)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8614827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Таблица 7">
                <a:extLst>
                  <a:ext uri="{FF2B5EF4-FFF2-40B4-BE49-F238E27FC236}">
                    <a16:creationId xmlns:a16="http://schemas.microsoft.com/office/drawing/2014/main" id="{2464D633-172E-4941-B3F0-9A980A5C32B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84304861"/>
                  </p:ext>
                </p:extLst>
              </p:nvPr>
            </p:nvGraphicFramePr>
            <p:xfrm>
              <a:off x="5662612" y="5618004"/>
              <a:ext cx="5934075" cy="271780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5487670">
                      <a:extLst>
                        <a:ext uri="{9D8B030D-6E8A-4147-A177-3AD203B41FA5}">
                          <a16:colId xmlns:a16="http://schemas.microsoft.com/office/drawing/2014/main" val="3780560567"/>
                        </a:ext>
                      </a:extLst>
                    </a:gridCol>
                    <a:gridCol w="446405">
                      <a:extLst>
                        <a:ext uri="{9D8B030D-6E8A-4147-A177-3AD203B41FA5}">
                          <a16:colId xmlns:a16="http://schemas.microsoft.com/office/drawing/2014/main" val="3642158260"/>
                        </a:ext>
                      </a:extLst>
                    </a:gridCol>
                  </a:tblGrid>
                  <a:tr h="271780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 anchor="ctr">
                        <a:blipFill>
                          <a:blip r:embed="rId12"/>
                          <a:stretch>
                            <a:fillRect l="-111" t="-95652" r="-8537" b="-1565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(2)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8614827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8812553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DF6C7A-C19D-C1F9-D852-4CBF178A3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4A6C41C5-6848-4D82-80B9-2B8ADCA7E02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117"/>
          <a:stretch/>
        </p:blipFill>
        <p:spPr>
          <a:xfrm>
            <a:off x="568" y="446000"/>
            <a:ext cx="12175557" cy="6438481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28D886DD-5B7B-921A-023C-2FA90336901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2415"/>
                    </a14:imgEffect>
                    <a14:imgEffect>
                      <a14:saturation sat="4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030" b="80536"/>
          <a:stretch/>
        </p:blipFill>
        <p:spPr>
          <a:xfrm>
            <a:off x="0" y="-18660"/>
            <a:ext cx="12192000" cy="929320"/>
          </a:xfrm>
          <a:prstGeom prst="rect">
            <a:avLst/>
          </a:prstGeom>
          <a:noFill/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5C82EDC-D2BD-0840-A97B-15BA845C7EA3}"/>
              </a:ext>
            </a:extLst>
          </p:cNvPr>
          <p:cNvSpPr txBox="1"/>
          <p:nvPr/>
        </p:nvSpPr>
        <p:spPr>
          <a:xfrm>
            <a:off x="10632899" y="165503"/>
            <a:ext cx="8183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6AEBAD-6C8F-4C62-A860-CF8412FC108D}" type="slidenum">
              <a:rPr kumimoji="0" lang="ru-RU" sz="2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attle Sans [RUS by me]" panose="00000400000000000000" pitchFamily="2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attle Sans [RUS by me]" panose="00000400000000000000" pitchFamily="2" charset="0"/>
                <a:ea typeface="+mn-ea"/>
                <a:cs typeface="+mn-cs"/>
              </a:rPr>
              <a:t>/11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5DDED968-447D-41A7-9142-A5DF252B48A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557955" y="80130"/>
            <a:ext cx="897541" cy="632410"/>
          </a:xfrm>
          <a:prstGeom prst="rect">
            <a:avLst/>
          </a:prstGeom>
          <a:effectLst>
            <a:glow rad="152400">
              <a:schemeClr val="accent1">
                <a:alpha val="21000"/>
              </a:schemeClr>
            </a:glow>
          </a:effectLst>
        </p:spPr>
      </p:pic>
      <p:pic>
        <p:nvPicPr>
          <p:cNvPr id="48" name="Рисунок 47">
            <a:extLst>
              <a:ext uri="{FF2B5EF4-FFF2-40B4-BE49-F238E27FC236}">
                <a16:creationId xmlns:a16="http://schemas.microsoft.com/office/drawing/2014/main" id="{E738B820-1A74-96EA-4BB5-740BA7EDEC88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6925" y="-59177"/>
            <a:ext cx="916371" cy="916371"/>
          </a:xfrm>
          <a:prstGeom prst="rect">
            <a:avLst/>
          </a:prstGeom>
          <a:effectLst>
            <a:glow rad="38100">
              <a:schemeClr val="accent1">
                <a:alpha val="40000"/>
              </a:schemeClr>
            </a:glow>
          </a:effectLst>
        </p:spPr>
      </p:pic>
      <p:pic>
        <p:nvPicPr>
          <p:cNvPr id="49" name="Picture 2" descr="M:\Эмбдема КВВУ из вектора.tif">
            <a:extLst>
              <a:ext uri="{FF2B5EF4-FFF2-40B4-BE49-F238E27FC236}">
                <a16:creationId xmlns:a16="http://schemas.microsoft.com/office/drawing/2014/main" id="{B64B0DA3-5BF3-3806-CDD5-8545131940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00550" y="-39658"/>
            <a:ext cx="775931" cy="9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utoShape 2" descr="https://2.bp.blogspot.com/-r5byV_OS0W0/XLwdZMJSjSI/AAAAAAABHgs/RzaI5rtrTg0JULGfOz1PusXeOIUMM8kkwCEwYBhgL/s1600/3601877618.jpg">
            <a:extLst>
              <a:ext uri="{FF2B5EF4-FFF2-40B4-BE49-F238E27FC236}">
                <a16:creationId xmlns:a16="http://schemas.microsoft.com/office/drawing/2014/main" id="{DA195FD3-AB9A-7EFB-A9FD-2BE9E4215BA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AutoShape 4" descr="https://2.bp.blogspot.com/-r5byV_OS0W0/XLwdZMJSjSI/AAAAAAABHgs/RzaI5rtrTg0JULGfOz1PusXeOIUMM8kkwCEwYBhgL/s1600/3601877618.jpg">
            <a:extLst>
              <a:ext uri="{FF2B5EF4-FFF2-40B4-BE49-F238E27FC236}">
                <a16:creationId xmlns:a16="http://schemas.microsoft.com/office/drawing/2014/main" id="{FF8DFC95-B0D5-2354-54C0-EA065F13DFB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CE77C4C-78E9-3A60-5552-A9016C95611C}"/>
              </a:ext>
            </a:extLst>
          </p:cNvPr>
          <p:cNvSpPr txBox="1"/>
          <p:nvPr/>
        </p:nvSpPr>
        <p:spPr>
          <a:xfrm>
            <a:off x="2132773" y="227058"/>
            <a:ext cx="757062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ru-RU" sz="1600" b="1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ПЛАНИРУЕМЫЕ РЕЗУЛЬТАТЫ ИССЛЕДОВАНИЯ</a:t>
            </a: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1A2788EB-8A84-4DA3-8850-99DCAE12A814}"/>
              </a:ext>
            </a:extLst>
          </p:cNvPr>
          <p:cNvSpPr/>
          <p:nvPr/>
        </p:nvSpPr>
        <p:spPr>
          <a:xfrm>
            <a:off x="47407" y="983736"/>
            <a:ext cx="12049125" cy="751636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ЧНЗ №1. Модель деструктивных воздействий 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элементы системы: множество поврежденных событий (отказов и атак), их интенсивность и последствия</a:t>
            </a:r>
            <a:r>
              <a:rPr lang="ru-RU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24F0BDC4-2660-4504-B50F-64E0249ED11D}"/>
              </a:ext>
            </a:extLst>
          </p:cNvPr>
          <p:cNvSpPr/>
          <p:nvPr/>
        </p:nvSpPr>
        <p:spPr>
          <a:xfrm>
            <a:off x="47407" y="1935958"/>
            <a:ext cx="12049125" cy="751636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ЧНЗ №2. Модель функционирования системы в условиях воздействий: 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резервирование, деградация и восстановление системы.</a:t>
            </a:r>
          </a:p>
        </p:txBody>
      </p:sp>
      <p:sp>
        <p:nvSpPr>
          <p:cNvPr id="22" name="Прямоугольник: скругленные углы 21">
            <a:extLst>
              <a:ext uri="{FF2B5EF4-FFF2-40B4-BE49-F238E27FC236}">
                <a16:creationId xmlns:a16="http://schemas.microsoft.com/office/drawing/2014/main" id="{26B0922D-2BF5-4074-AE42-9D74297DBC02}"/>
              </a:ext>
            </a:extLst>
          </p:cNvPr>
          <p:cNvSpPr/>
          <p:nvPr/>
        </p:nvSpPr>
        <p:spPr>
          <a:xfrm>
            <a:off x="71437" y="2949030"/>
            <a:ext cx="12049125" cy="751636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ЧНЗ №3. Методика оценки живучести 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основе имитационного эксперимента с цифровым двойником.</a:t>
            </a:r>
            <a:endParaRPr lang="ru-RU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Прямоугольник: скругленные углы 22">
            <a:extLst>
              <a:ext uri="{FF2B5EF4-FFF2-40B4-BE49-F238E27FC236}">
                <a16:creationId xmlns:a16="http://schemas.microsoft.com/office/drawing/2014/main" id="{5C65C04E-8A43-4110-A0A4-E70AA692BD54}"/>
              </a:ext>
            </a:extLst>
          </p:cNvPr>
          <p:cNvSpPr/>
          <p:nvPr/>
        </p:nvSpPr>
        <p:spPr>
          <a:xfrm>
            <a:off x="71437" y="3953200"/>
            <a:ext cx="12049125" cy="751636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ЧНЗ №4. Методика выбора способа защиты 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системы на основе сравнительной оценки альтернативных вариантов по показателям живучести с учетом ограничений на затраты:</a:t>
            </a:r>
            <a:r>
              <a:rPr lang="en-US" sz="1200" i="0" dirty="0">
                <a:solidFill>
                  <a:srgbClr val="1A1A1A"/>
                </a:solidFill>
                <a:latin typeface="Times New Roman"/>
              </a:rPr>
              <a:t>  g* = </a:t>
            </a:r>
            <a:r>
              <a:rPr lang="en-US" sz="1200" i="0" dirty="0" err="1">
                <a:solidFill>
                  <a:srgbClr val="1A1A1A"/>
                </a:solidFill>
                <a:latin typeface="Times New Roman"/>
              </a:rPr>
              <a:t>arg</a:t>
            </a:r>
            <a:r>
              <a:rPr lang="en-US" sz="1200" i="0" dirty="0">
                <a:solidFill>
                  <a:srgbClr val="1A1A1A"/>
                </a:solidFill>
                <a:latin typeface="Times New Roman"/>
              </a:rPr>
              <a:t> </a:t>
            </a:r>
            <a:r>
              <a:rPr lang="en-US" sz="1200" i="0" dirty="0" err="1">
                <a:solidFill>
                  <a:srgbClr val="1A1A1A"/>
                </a:solidFill>
                <a:latin typeface="Times New Roman"/>
              </a:rPr>
              <a:t>max</a:t>
            </a:r>
            <a:r>
              <a:rPr lang="en-US" sz="1200" i="0" baseline="-25000" dirty="0" err="1">
                <a:solidFill>
                  <a:srgbClr val="1A1A1A"/>
                </a:solidFill>
                <a:latin typeface="Times New Roman"/>
              </a:rPr>
              <a:t>g∈G</a:t>
            </a:r>
            <a:r>
              <a:rPr lang="en-US" sz="1200" i="0" dirty="0">
                <a:solidFill>
                  <a:srgbClr val="1A1A1A"/>
                </a:solidFill>
                <a:latin typeface="Times New Roman"/>
              </a:rPr>
              <a:t> </a:t>
            </a:r>
            <a:r>
              <a:rPr lang="en-US" sz="1200" i="0" dirty="0" err="1">
                <a:solidFill>
                  <a:srgbClr val="1A1A1A"/>
                </a:solidFill>
                <a:latin typeface="Times New Roman"/>
              </a:rPr>
              <a:t>Q</a:t>
            </a:r>
            <a:r>
              <a:rPr lang="en-US" sz="1200" i="0" baseline="-25000" dirty="0" err="1">
                <a:solidFill>
                  <a:srgbClr val="1A1A1A"/>
                </a:solidFill>
                <a:latin typeface="Times New Roman"/>
              </a:rPr>
              <a:t>g</a:t>
            </a:r>
            <a:r>
              <a:rPr lang="en-US" sz="1200" i="0" dirty="0">
                <a:solidFill>
                  <a:srgbClr val="1A1A1A"/>
                </a:solidFill>
                <a:latin typeface="Times New Roman"/>
              </a:rPr>
              <a:t>(S)  </a:t>
            </a:r>
            <a:r>
              <a:rPr lang="ru-RU" sz="1200" i="0" dirty="0">
                <a:solidFill>
                  <a:srgbClr val="1A1A1A"/>
                </a:solidFill>
                <a:latin typeface="Times New Roman"/>
              </a:rPr>
              <a:t>при  </a:t>
            </a:r>
            <a:r>
              <a:rPr lang="en-US" sz="1200" i="0" dirty="0">
                <a:solidFill>
                  <a:srgbClr val="1A1A1A"/>
                </a:solidFill>
                <a:latin typeface="Times New Roman"/>
              </a:rPr>
              <a:t>C(g) ≤ C</a:t>
            </a:r>
            <a:r>
              <a:rPr lang="ru-RU" sz="1200" i="0" baseline="-25000" dirty="0">
                <a:solidFill>
                  <a:srgbClr val="1A1A1A"/>
                </a:solidFill>
                <a:latin typeface="Times New Roman"/>
              </a:rPr>
              <a:t>доп</a:t>
            </a:r>
            <a:r>
              <a:rPr lang="ru-RU" sz="1200" i="0" dirty="0">
                <a:solidFill>
                  <a:srgbClr val="1A1A1A"/>
                </a:solidFill>
                <a:latin typeface="Times New Roman"/>
              </a:rPr>
              <a:t>.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id="{B3D4AA4D-FEF8-4B47-AC3F-AA73177F6FEF}"/>
              </a:ext>
            </a:extLst>
          </p:cNvPr>
          <p:cNvSpPr/>
          <p:nvPr/>
        </p:nvSpPr>
        <p:spPr>
          <a:xfrm>
            <a:off x="71436" y="4911847"/>
            <a:ext cx="12049125" cy="751636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ЧНЗ №5. Цифровой двойник системы обеспечения НГГМ  данными и результаты имитационных экспериментов, подтверждающие работоспособность разработанных моделей и методик на типовых сценариях деструктивных воздействий.</a:t>
            </a:r>
            <a:endParaRPr lang="ru-RU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Прямоугольник: скругленные углы 24">
            <a:extLst>
              <a:ext uri="{FF2B5EF4-FFF2-40B4-BE49-F238E27FC236}">
                <a16:creationId xmlns:a16="http://schemas.microsoft.com/office/drawing/2014/main" id="{311D3DB8-8626-4AED-8F86-E5299C6B8600}"/>
              </a:ext>
            </a:extLst>
          </p:cNvPr>
          <p:cNvSpPr/>
          <p:nvPr/>
        </p:nvSpPr>
        <p:spPr>
          <a:xfrm>
            <a:off x="63783" y="5916017"/>
            <a:ext cx="12049125" cy="751636"/>
          </a:xfrm>
          <a:prstGeom prst="round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Основной результат: </a:t>
            </a:r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комплекс взаимосвязанных моделей и методик оценки живучести системы обеспечения ВМФ НГГМ данными в условиях деструктивных – выявление уязвимых элементов и обоснованный выбор способа защиты. </a:t>
            </a:r>
            <a:endParaRPr lang="ru-RU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7140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DF6C7A-C19D-C1F9-D852-4CBF178A3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4A6C41C5-6848-4D82-80B9-2B8ADCA7E02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117"/>
          <a:stretch/>
        </p:blipFill>
        <p:spPr>
          <a:xfrm>
            <a:off x="568" y="446000"/>
            <a:ext cx="12175557" cy="6438481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28D886DD-5B7B-921A-023C-2FA90336901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2415"/>
                    </a14:imgEffect>
                    <a14:imgEffect>
                      <a14:saturation sat="4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030" b="80536"/>
          <a:stretch/>
        </p:blipFill>
        <p:spPr>
          <a:xfrm>
            <a:off x="0" y="-18660"/>
            <a:ext cx="12192000" cy="929320"/>
          </a:xfrm>
          <a:prstGeom prst="rect">
            <a:avLst/>
          </a:prstGeom>
          <a:noFill/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5C82EDC-D2BD-0840-A97B-15BA845C7EA3}"/>
              </a:ext>
            </a:extLst>
          </p:cNvPr>
          <p:cNvSpPr txBox="1"/>
          <p:nvPr/>
        </p:nvSpPr>
        <p:spPr>
          <a:xfrm>
            <a:off x="10370372" y="165503"/>
            <a:ext cx="10808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attle Sans [RUS by me]" panose="00000400000000000000" pitchFamily="2" charset="0"/>
                <a:ea typeface="+mn-ea"/>
                <a:cs typeface="+mn-cs"/>
              </a:rPr>
              <a:t>10/11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5DDED968-447D-41A7-9142-A5DF252B48A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376526" y="94137"/>
            <a:ext cx="980562" cy="632410"/>
          </a:xfrm>
          <a:prstGeom prst="rect">
            <a:avLst/>
          </a:prstGeom>
          <a:effectLst>
            <a:glow rad="152400">
              <a:schemeClr val="accent1">
                <a:alpha val="21000"/>
              </a:schemeClr>
            </a:glow>
          </a:effectLst>
        </p:spPr>
      </p:pic>
      <p:pic>
        <p:nvPicPr>
          <p:cNvPr id="48" name="Рисунок 47">
            <a:extLst>
              <a:ext uri="{FF2B5EF4-FFF2-40B4-BE49-F238E27FC236}">
                <a16:creationId xmlns:a16="http://schemas.microsoft.com/office/drawing/2014/main" id="{E738B820-1A74-96EA-4BB5-740BA7EDEC88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6925" y="-59177"/>
            <a:ext cx="916371" cy="916371"/>
          </a:xfrm>
          <a:prstGeom prst="rect">
            <a:avLst/>
          </a:prstGeom>
          <a:effectLst>
            <a:glow rad="38100">
              <a:schemeClr val="accent1">
                <a:alpha val="40000"/>
              </a:schemeClr>
            </a:glow>
          </a:effectLst>
        </p:spPr>
      </p:pic>
      <p:pic>
        <p:nvPicPr>
          <p:cNvPr id="49" name="Picture 2" descr="M:\Эмбдема КВВУ из вектора.tif">
            <a:extLst>
              <a:ext uri="{FF2B5EF4-FFF2-40B4-BE49-F238E27FC236}">
                <a16:creationId xmlns:a16="http://schemas.microsoft.com/office/drawing/2014/main" id="{B64B0DA3-5BF3-3806-CDD5-8545131940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00550" y="-39658"/>
            <a:ext cx="775931" cy="9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utoShape 2" descr="https://2.bp.blogspot.com/-r5byV_OS0W0/XLwdZMJSjSI/AAAAAAABHgs/RzaI5rtrTg0JULGfOz1PusXeOIUMM8kkwCEwYBhgL/s1600/3601877618.jpg">
            <a:extLst>
              <a:ext uri="{FF2B5EF4-FFF2-40B4-BE49-F238E27FC236}">
                <a16:creationId xmlns:a16="http://schemas.microsoft.com/office/drawing/2014/main" id="{DA195FD3-AB9A-7EFB-A9FD-2BE9E4215BA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AutoShape 4" descr="https://2.bp.blogspot.com/-r5byV_OS0W0/XLwdZMJSjSI/AAAAAAABHgs/RzaI5rtrTg0JULGfOz1PusXeOIUMM8kkwCEwYBhgL/s1600/3601877618.jpg">
            <a:extLst>
              <a:ext uri="{FF2B5EF4-FFF2-40B4-BE49-F238E27FC236}">
                <a16:creationId xmlns:a16="http://schemas.microsoft.com/office/drawing/2014/main" id="{FF8DFC95-B0D5-2354-54C0-EA065F13DFB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57FA05D-3192-40EA-91A3-8856307A76D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9565" y="928026"/>
            <a:ext cx="6873934" cy="5832155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7BAF458-3C8D-48A5-BB47-62AEE9445A2A}"/>
              </a:ext>
            </a:extLst>
          </p:cNvPr>
          <p:cNvSpPr/>
          <p:nvPr/>
        </p:nvSpPr>
        <p:spPr>
          <a:xfrm>
            <a:off x="612775" y="2445761"/>
            <a:ext cx="2908300" cy="2796686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</a:rPr>
              <a:t>Цифровой двойник  </a:t>
            </a:r>
            <a:r>
              <a:rPr lang="ru-RU" sz="16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центра обработки информации </a:t>
            </a:r>
            <a:r>
              <a:rPr lang="ru-RU" sz="16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УНиО</a:t>
            </a:r>
            <a:r>
              <a:rPr lang="ru-RU" sz="16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Министерства Обороны Российской Федерации.</a:t>
            </a:r>
            <a:endParaRPr lang="en-US" sz="16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/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PNETLab</a:t>
            </a:r>
            <a:r>
              <a:rPr lang="ru-RU" sz="16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16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-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виртуальная среда для эмуляции компьютерных сетей и тестирования IT-инфраструктуры.</a:t>
            </a:r>
            <a:endParaRPr lang="en-US" sz="16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/>
            <a:endParaRPr lang="ru-RU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95098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Box 6"/>
          <p:cNvSpPr txBox="1">
            <a:spLocks noChangeArrowheads="1"/>
          </p:cNvSpPr>
          <p:nvPr/>
        </p:nvSpPr>
        <p:spPr bwMode="auto">
          <a:xfrm>
            <a:off x="4981575" y="6149975"/>
            <a:ext cx="394335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МОСКВА 2018 г.</a:t>
            </a:r>
          </a:p>
        </p:txBody>
      </p:sp>
      <p:pic>
        <p:nvPicPr>
          <p:cNvPr id="3076" name="Рисунок 3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30" b="80536"/>
          <a:stretch>
            <a:fillRect/>
          </a:stretch>
        </p:blipFill>
        <p:spPr bwMode="auto">
          <a:xfrm>
            <a:off x="0" y="-19050"/>
            <a:ext cx="12192000" cy="930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7" name="Рисунок 3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6803"/>
          <a:stretch>
            <a:fillRect/>
          </a:stretch>
        </p:blipFill>
        <p:spPr bwMode="auto">
          <a:xfrm>
            <a:off x="0" y="5953125"/>
            <a:ext cx="12192000" cy="90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Рисунок 1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28595" y="-19050"/>
            <a:ext cx="1649591" cy="1169711"/>
          </a:xfrm>
          <a:prstGeom prst="rect">
            <a:avLst/>
          </a:prstGeom>
          <a:effectLst>
            <a:glow rad="50800">
              <a:schemeClr val="bg1">
                <a:alpha val="27000"/>
              </a:schemeClr>
            </a:glow>
          </a:effectLst>
        </p:spPr>
      </p:pic>
      <p:pic>
        <p:nvPicPr>
          <p:cNvPr id="3080" name="Picture 2" descr="M:\Эмбдема КВВУ из вектора.tif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9395" y="1197167"/>
            <a:ext cx="3397250" cy="3940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4705350" y="6264275"/>
            <a:ext cx="2979738" cy="4603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2400" dirty="0">
                <a:solidFill>
                  <a:schemeClr val="accent1">
                    <a:lumMod val="20000"/>
                    <a:lumOff val="80000"/>
                  </a:schemeClr>
                </a:solidFill>
                <a:latin typeface="Seattle Sans [RUS by me]" panose="020B0604020202020204" charset="0"/>
              </a:rPr>
              <a:t>КРАСНОДАР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9961" y="0"/>
            <a:ext cx="7024687" cy="7080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2000" dirty="0">
                <a:solidFill>
                  <a:schemeClr val="accent1">
                    <a:lumMod val="20000"/>
                    <a:lumOff val="80000"/>
                  </a:schemeClr>
                </a:solidFill>
                <a:latin typeface="Seattle Sans [RUS by me]" panose="020B0604020202020204" charset="0"/>
              </a:rPr>
              <a:t>ВОЕННАЯ АКАДЕМИЯ ЗАЩИТЫ ИНФОРМАЦИИ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2000" dirty="0">
                <a:solidFill>
                  <a:schemeClr val="accent1">
                    <a:lumMod val="20000"/>
                    <a:lumOff val="80000"/>
                  </a:schemeClr>
                </a:solidFill>
                <a:latin typeface="Seattle Sans [RUS by me]" panose="020B0604020202020204" charset="0"/>
              </a:rPr>
              <a:t>ИМЕНИ ГЕНЕРАЛА АРМИИ С.М.ШТЕМЕНКО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2E5C88B-F9A7-4DC6-B7D5-DA2426A9E6C6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2220" y="0"/>
            <a:ext cx="911225" cy="91122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EB7DC698-2ACB-4C51-B527-DC5379F16BC2}"/>
              </a:ext>
            </a:extLst>
          </p:cNvPr>
          <p:cNvSpPr txBox="1"/>
          <p:nvPr/>
        </p:nvSpPr>
        <p:spPr>
          <a:xfrm>
            <a:off x="1277468" y="3069520"/>
            <a:ext cx="625557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354"/>
            <a:r>
              <a:rPr lang="ru-RU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263754573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35790</TotalTime>
  <Words>3884</Words>
  <Application>Microsoft Office PowerPoint</Application>
  <PresentationFormat>Широкоэкранный</PresentationFormat>
  <Paragraphs>368</Paragraphs>
  <Slides>11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20" baseType="lpstr">
      <vt:lpstr>Calibri</vt:lpstr>
      <vt:lpstr>Cambria Math</vt:lpstr>
      <vt:lpstr>-apple-system</vt:lpstr>
      <vt:lpstr>Calibri Light</vt:lpstr>
      <vt:lpstr>Times New Roman</vt:lpstr>
      <vt:lpstr>Arial</vt:lpstr>
      <vt:lpstr>Google Sans</vt:lpstr>
      <vt:lpstr>Seattle Sans [RUS by me]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SoFT46</dc:creator>
  <cp:lastModifiedBy>Medved</cp:lastModifiedBy>
  <cp:revision>1208</cp:revision>
  <cp:lastPrinted>2026-09-21T10:34:03Z</cp:lastPrinted>
  <dcterms:created xsi:type="dcterms:W3CDTF">2018-10-13T17:15:53Z</dcterms:created>
  <dcterms:modified xsi:type="dcterms:W3CDTF">2026-09-28T10:34:44Z</dcterms:modified>
</cp:coreProperties>
</file>